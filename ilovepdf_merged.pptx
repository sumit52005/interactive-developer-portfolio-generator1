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84" r:id="rId8"/>
    <p:sldId id="262" r:id="rId9"/>
    <p:sldId id="263" r:id="rId10"/>
    <p:sldId id="264" r:id="rId11"/>
    <p:sldId id="285" r:id="rId12"/>
    <p:sldId id="265" r:id="rId13"/>
    <p:sldId id="266" r:id="rId14"/>
    <p:sldId id="267" r:id="rId15"/>
    <p:sldId id="287" r:id="rId16"/>
    <p:sldId id="291" r:id="rId17"/>
    <p:sldId id="268" r:id="rId18"/>
    <p:sldId id="269" r:id="rId19"/>
    <p:sldId id="270" r:id="rId20"/>
    <p:sldId id="293" r:id="rId21"/>
    <p:sldId id="294" r:id="rId22"/>
    <p:sldId id="271" r:id="rId23"/>
    <p:sldId id="272" r:id="rId24"/>
    <p:sldId id="273" r:id="rId25"/>
    <p:sldId id="295" r:id="rId26"/>
    <p:sldId id="274" r:id="rId27"/>
    <p:sldId id="275" r:id="rId28"/>
    <p:sldId id="296" r:id="rId29"/>
    <p:sldId id="276" r:id="rId30"/>
    <p:sldId id="277" r:id="rId31"/>
    <p:sldId id="297" r:id="rId32"/>
    <p:sldId id="298" r:id="rId33"/>
    <p:sldId id="306" r:id="rId34"/>
    <p:sldId id="299" r:id="rId35"/>
    <p:sldId id="278" r:id="rId36"/>
    <p:sldId id="279" r:id="rId37"/>
    <p:sldId id="300" r:id="rId38"/>
    <p:sldId id="301" r:id="rId39"/>
    <p:sldId id="307" r:id="rId40"/>
    <p:sldId id="280" r:id="rId41"/>
    <p:sldId id="281" r:id="rId42"/>
    <p:sldId id="302" r:id="rId43"/>
    <p:sldId id="303" r:id="rId44"/>
    <p:sldId id="308" r:id="rId45"/>
    <p:sldId id="282" r:id="rId46"/>
    <p:sldId id="283" r:id="rId47"/>
    <p:sldId id="304" r:id="rId48"/>
    <p:sldId id="305" r:id="rId49"/>
  </p:sldIdLst>
  <p:sldSz cx="7569200" cy="10699750"/>
  <p:notesSz cx="7569200" cy="10699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2458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690" y="3316922"/>
            <a:ext cx="6433820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5380" y="5991860"/>
            <a:ext cx="5298440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460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8138" y="2460942"/>
            <a:ext cx="3292602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6" y="144779"/>
            <a:ext cx="7524750" cy="321310"/>
          </a:xfrm>
          <a:custGeom>
            <a:avLst/>
            <a:gdLst/>
            <a:ahLst/>
            <a:cxnLst/>
            <a:rect l="l" t="t" r="r" b="b"/>
            <a:pathLst>
              <a:path w="7524750" h="321309">
                <a:moveTo>
                  <a:pt x="7524750" y="0"/>
                </a:moveTo>
                <a:lnTo>
                  <a:pt x="0" y="0"/>
                </a:lnTo>
                <a:lnTo>
                  <a:pt x="0" y="321309"/>
                </a:lnTo>
                <a:lnTo>
                  <a:pt x="7524750" y="321309"/>
                </a:lnTo>
                <a:lnTo>
                  <a:pt x="7524750" y="0"/>
                </a:lnTo>
                <a:close/>
              </a:path>
            </a:pathLst>
          </a:custGeom>
          <a:solidFill>
            <a:srgbClr val="6E2E9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78025" y="2055621"/>
            <a:ext cx="4611370" cy="80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3612" y="2819145"/>
            <a:ext cx="6386195" cy="3780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3528" y="9950768"/>
            <a:ext cx="2422144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460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9824" y="9950768"/>
            <a:ext cx="1740916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ython-math-function-copysign/" TargetMode="External"/><Relationship Id="rId2" Type="http://schemas.openxmlformats.org/officeDocument/2006/relationships/hyperlink" Target="https://www.geeksforgeeks.org/python-math-ceil-function/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geeksforgeeks.org/python-math-floor-function/" TargetMode="External"/><Relationship Id="rId5" Type="http://schemas.openxmlformats.org/officeDocument/2006/relationships/hyperlink" Target="https://www.geeksforgeeks.org/python-math-factorial-function/" TargetMode="External"/><Relationship Id="rId4" Type="http://schemas.openxmlformats.org/officeDocument/2006/relationships/hyperlink" Target="https://www.geeksforgeeks.org/python-math-fabs-function/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anaconda.com/products/distribution" TargetMode="Externa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ve.ics.uci.edu/ml/datasets/iris" TargetMode="Externa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jp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78025" y="2055621"/>
            <a:ext cx="4611370" cy="80327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577975" marR="5080" indent="-1565910">
              <a:lnSpc>
                <a:spcPts val="3000"/>
              </a:lnSpc>
              <a:spcBef>
                <a:spcPts val="300"/>
              </a:spcBef>
            </a:pPr>
            <a:r>
              <a:rPr dirty="0"/>
              <a:t>MIT</a:t>
            </a:r>
            <a:r>
              <a:rPr spc="-55" dirty="0"/>
              <a:t> </a:t>
            </a:r>
            <a:r>
              <a:rPr dirty="0"/>
              <a:t>Art</a:t>
            </a:r>
            <a:r>
              <a:rPr spc="-60" dirty="0"/>
              <a:t> </a:t>
            </a:r>
            <a:r>
              <a:rPr dirty="0"/>
              <a:t>Design</a:t>
            </a:r>
            <a:r>
              <a:rPr spc="-7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spc="-10" dirty="0"/>
              <a:t>Technology University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087751" y="6911720"/>
            <a:ext cx="1600835" cy="13500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Times New Roman"/>
                <a:cs typeface="Times New Roman"/>
              </a:rPr>
              <a:t>Team</a:t>
            </a:r>
            <a:r>
              <a:rPr sz="1600" b="1" spc="-7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Members</a:t>
            </a:r>
            <a:endParaRPr sz="1600">
              <a:latin typeface="Times New Roman"/>
              <a:cs typeface="Times New Roman"/>
            </a:endParaRPr>
          </a:p>
          <a:p>
            <a:pPr marL="62865" marR="5080">
              <a:lnSpc>
                <a:spcPct val="88700"/>
              </a:lnSpc>
              <a:spcBef>
                <a:spcPts val="1475"/>
              </a:spcBef>
            </a:pPr>
            <a:r>
              <a:rPr sz="1200" dirty="0">
                <a:latin typeface="Times New Roman"/>
                <a:cs typeface="Times New Roman"/>
              </a:rPr>
              <a:t>Prof.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Suvarna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Pawar </a:t>
            </a:r>
            <a:r>
              <a:rPr sz="1200" dirty="0">
                <a:latin typeface="Times New Roman"/>
                <a:cs typeface="Times New Roman"/>
              </a:rPr>
              <a:t>Prof.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Dr.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Rajendra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Pawar </a:t>
            </a:r>
            <a:r>
              <a:rPr sz="1200" dirty="0">
                <a:latin typeface="Times New Roman"/>
                <a:cs typeface="Times New Roman"/>
              </a:rPr>
              <a:t>Prof.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Shilpa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Dhopate</a:t>
            </a:r>
            <a:endParaRPr sz="1200">
              <a:latin typeface="Times New Roman"/>
              <a:cs typeface="Times New Roman"/>
            </a:endParaRPr>
          </a:p>
          <a:p>
            <a:pPr marL="157480">
              <a:lnSpc>
                <a:spcPct val="100000"/>
              </a:lnSpc>
              <a:spcBef>
                <a:spcPts val="1280"/>
              </a:spcBef>
            </a:pPr>
            <a:r>
              <a:rPr sz="1600" b="1" dirty="0">
                <a:latin typeface="Times New Roman"/>
                <a:cs typeface="Times New Roman"/>
              </a:rPr>
              <a:t>A.Y</a:t>
            </a:r>
            <a:r>
              <a:rPr sz="1600" b="1" spc="-6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2025-</a:t>
            </a:r>
            <a:r>
              <a:rPr sz="1600" b="1" spc="-25" dirty="0">
                <a:latin typeface="Times New Roman"/>
                <a:cs typeface="Times New Roman"/>
              </a:rPr>
              <a:t>26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92375" y="864107"/>
            <a:ext cx="2567178" cy="91262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33525" y="3722877"/>
            <a:ext cx="4497705" cy="698500"/>
            <a:chOff x="1533525" y="3722877"/>
            <a:chExt cx="4497705" cy="698500"/>
          </a:xfrm>
        </p:grpSpPr>
        <p:sp>
          <p:nvSpPr>
            <p:cNvPr id="7" name="object 7"/>
            <p:cNvSpPr/>
            <p:nvPr/>
          </p:nvSpPr>
          <p:spPr>
            <a:xfrm>
              <a:off x="1539620" y="3732021"/>
              <a:ext cx="4485640" cy="683260"/>
            </a:xfrm>
            <a:custGeom>
              <a:avLst/>
              <a:gdLst/>
              <a:ahLst/>
              <a:cxnLst/>
              <a:rect l="l" t="t" r="r" b="b"/>
              <a:pathLst>
                <a:path w="4485640" h="683260">
                  <a:moveTo>
                    <a:pt x="4485386" y="0"/>
                  </a:moveTo>
                  <a:lnTo>
                    <a:pt x="0" y="0"/>
                  </a:lnTo>
                  <a:lnTo>
                    <a:pt x="0" y="682752"/>
                  </a:lnTo>
                  <a:lnTo>
                    <a:pt x="4485386" y="682752"/>
                  </a:lnTo>
                  <a:lnTo>
                    <a:pt x="44853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3525" y="3722877"/>
              <a:ext cx="4491990" cy="15240"/>
            </a:xfrm>
            <a:custGeom>
              <a:avLst/>
              <a:gdLst/>
              <a:ahLst/>
              <a:cxnLst/>
              <a:rect l="l" t="t" r="r" b="b"/>
              <a:pathLst>
                <a:path w="4491990" h="15239">
                  <a:moveTo>
                    <a:pt x="4491482" y="0"/>
                  </a:moveTo>
                  <a:lnTo>
                    <a:pt x="0" y="0"/>
                  </a:lnTo>
                  <a:lnTo>
                    <a:pt x="0" y="6350"/>
                  </a:lnTo>
                  <a:lnTo>
                    <a:pt x="0" y="15240"/>
                  </a:lnTo>
                  <a:lnTo>
                    <a:pt x="6096" y="15240"/>
                  </a:lnTo>
                  <a:lnTo>
                    <a:pt x="6096" y="6350"/>
                  </a:lnTo>
                  <a:lnTo>
                    <a:pt x="4491482" y="6350"/>
                  </a:lnTo>
                  <a:lnTo>
                    <a:pt x="44914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9620" y="3728973"/>
              <a:ext cx="4485640" cy="9525"/>
            </a:xfrm>
            <a:custGeom>
              <a:avLst/>
              <a:gdLst/>
              <a:ahLst/>
              <a:cxnLst/>
              <a:rect l="l" t="t" r="r" b="b"/>
              <a:pathLst>
                <a:path w="4485640" h="9525">
                  <a:moveTo>
                    <a:pt x="4485386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485386" y="9144"/>
                  </a:lnTo>
                  <a:lnTo>
                    <a:pt x="448538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25007" y="3722877"/>
              <a:ext cx="6350" cy="15240"/>
            </a:xfrm>
            <a:custGeom>
              <a:avLst/>
              <a:gdLst/>
              <a:ahLst/>
              <a:cxnLst/>
              <a:rect l="l" t="t" r="r" b="b"/>
              <a:pathLst>
                <a:path w="6350" h="15239">
                  <a:moveTo>
                    <a:pt x="6095" y="0"/>
                  </a:moveTo>
                  <a:lnTo>
                    <a:pt x="0" y="0"/>
                  </a:lnTo>
                  <a:lnTo>
                    <a:pt x="0" y="15239"/>
                  </a:lnTo>
                  <a:lnTo>
                    <a:pt x="6095" y="15239"/>
                  </a:lnTo>
                  <a:lnTo>
                    <a:pt x="609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6572" y="4405629"/>
              <a:ext cx="4491990" cy="9525"/>
            </a:xfrm>
            <a:custGeom>
              <a:avLst/>
              <a:gdLst/>
              <a:ahLst/>
              <a:cxnLst/>
              <a:rect l="l" t="t" r="r" b="b"/>
              <a:pathLst>
                <a:path w="4491990" h="9525">
                  <a:moveTo>
                    <a:pt x="4491482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4491482" y="9144"/>
                  </a:lnTo>
                  <a:lnTo>
                    <a:pt x="4491482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3525" y="3738117"/>
              <a:ext cx="4497705" cy="683260"/>
            </a:xfrm>
            <a:custGeom>
              <a:avLst/>
              <a:gdLst/>
              <a:ahLst/>
              <a:cxnLst/>
              <a:rect l="l" t="t" r="r" b="b"/>
              <a:pathLst>
                <a:path w="4497705" h="683260">
                  <a:moveTo>
                    <a:pt x="4497578" y="0"/>
                  </a:moveTo>
                  <a:lnTo>
                    <a:pt x="4491482" y="0"/>
                  </a:lnTo>
                  <a:lnTo>
                    <a:pt x="4491482" y="676910"/>
                  </a:lnTo>
                  <a:lnTo>
                    <a:pt x="6096" y="676910"/>
                  </a:lnTo>
                  <a:lnTo>
                    <a:pt x="6096" y="0"/>
                  </a:lnTo>
                  <a:lnTo>
                    <a:pt x="0" y="0"/>
                  </a:lnTo>
                  <a:lnTo>
                    <a:pt x="0" y="676910"/>
                  </a:lnTo>
                  <a:lnTo>
                    <a:pt x="0" y="683260"/>
                  </a:lnTo>
                  <a:lnTo>
                    <a:pt x="4497578" y="683260"/>
                  </a:lnTo>
                  <a:lnTo>
                    <a:pt x="4497578" y="676910"/>
                  </a:lnTo>
                  <a:lnTo>
                    <a:pt x="4497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13612" y="2819145"/>
            <a:ext cx="6386195" cy="378079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1136650">
              <a:lnSpc>
                <a:spcPts val="2760"/>
              </a:lnSpc>
              <a:spcBef>
                <a:spcPts val="290"/>
              </a:spcBef>
            </a:pPr>
            <a:r>
              <a:rPr sz="2400" b="1" spc="-10" dirty="0">
                <a:latin typeface="Times New Roman"/>
                <a:cs typeface="Times New Roman"/>
              </a:rPr>
              <a:t>MIT</a:t>
            </a:r>
            <a:r>
              <a:rPr sz="2400" b="1" spc="-114" dirty="0">
                <a:latin typeface="Times New Roman"/>
                <a:cs typeface="Times New Roman"/>
              </a:rPr>
              <a:t> </a:t>
            </a:r>
            <a:r>
              <a:rPr sz="2400" b="1" spc="-45" dirty="0">
                <a:latin typeface="Times New Roman"/>
                <a:cs typeface="Times New Roman"/>
              </a:rPr>
              <a:t>School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of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spc="-55" dirty="0">
                <a:latin typeface="Times New Roman"/>
                <a:cs typeface="Times New Roman"/>
              </a:rPr>
              <a:t>Computing,</a:t>
            </a:r>
            <a:r>
              <a:rPr sz="2400" b="1" spc="-95" dirty="0">
                <a:latin typeface="Times New Roman"/>
                <a:cs typeface="Times New Roman"/>
              </a:rPr>
              <a:t> </a:t>
            </a:r>
            <a:r>
              <a:rPr sz="2400" b="1" spc="-20" dirty="0">
                <a:latin typeface="Times New Roman"/>
                <a:cs typeface="Times New Roman"/>
              </a:rPr>
              <a:t>Pune </a:t>
            </a:r>
            <a:r>
              <a:rPr sz="2400" b="1" spc="-60" dirty="0">
                <a:latin typeface="Times New Roman"/>
                <a:cs typeface="Times New Roman"/>
              </a:rPr>
              <a:t>Department</a:t>
            </a:r>
            <a:r>
              <a:rPr sz="2400" b="1" spc="-10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60" dirty="0">
                <a:latin typeface="Times New Roman"/>
                <a:cs typeface="Times New Roman"/>
              </a:rPr>
              <a:t>Computer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Science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50" dirty="0">
                <a:latin typeface="Times New Roman"/>
                <a:cs typeface="Times New Roman"/>
              </a:rPr>
              <a:t>and</a:t>
            </a:r>
            <a:r>
              <a:rPr sz="2400" b="1" spc="-10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Engineering</a:t>
            </a:r>
            <a:endParaRPr sz="2400">
              <a:latin typeface="Times New Roman"/>
              <a:cs typeface="Times New Roman"/>
            </a:endParaRPr>
          </a:p>
          <a:p>
            <a:pPr marR="456565" algn="ctr">
              <a:lnSpc>
                <a:spcPct val="100000"/>
              </a:lnSpc>
              <a:spcBef>
                <a:spcPts val="1230"/>
              </a:spcBef>
            </a:pPr>
            <a:r>
              <a:rPr sz="3200" b="1" dirty="0">
                <a:latin typeface="Times New Roman"/>
                <a:cs typeface="Times New Roman"/>
              </a:rPr>
              <a:t>Lab</a:t>
            </a:r>
            <a:r>
              <a:rPr sz="3200" b="1" spc="-55" dirty="0">
                <a:latin typeface="Times New Roman"/>
                <a:cs typeface="Times New Roman"/>
              </a:rPr>
              <a:t> </a:t>
            </a:r>
            <a:r>
              <a:rPr sz="3200" b="1" spc="-10" dirty="0">
                <a:latin typeface="Times New Roman"/>
                <a:cs typeface="Times New Roman"/>
              </a:rPr>
              <a:t>Manual</a:t>
            </a:r>
            <a:endParaRPr sz="3200">
              <a:latin typeface="Times New Roman"/>
              <a:cs typeface="Times New Roman"/>
            </a:endParaRPr>
          </a:p>
          <a:p>
            <a:pPr marL="186055" marR="633095" algn="ctr">
              <a:lnSpc>
                <a:spcPct val="110500"/>
              </a:lnSpc>
              <a:spcBef>
                <a:spcPts val="2510"/>
              </a:spcBef>
            </a:pPr>
            <a:r>
              <a:rPr sz="2000" b="1" dirty="0">
                <a:latin typeface="Times New Roman"/>
                <a:cs typeface="Times New Roman"/>
              </a:rPr>
              <a:t>Subject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Artificial</a:t>
            </a:r>
            <a:r>
              <a:rPr sz="2000" spc="-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Intelligence</a:t>
            </a:r>
            <a:r>
              <a:rPr sz="2000" spc="-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sz="2000" spc="-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CC"/>
                </a:solidFill>
                <a:latin typeface="Times New Roman"/>
                <a:cs typeface="Times New Roman"/>
              </a:rPr>
              <a:t>Machine</a:t>
            </a:r>
            <a:r>
              <a:rPr sz="2000" spc="-3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CC"/>
                </a:solidFill>
                <a:latin typeface="Times New Roman"/>
                <a:cs typeface="Times New Roman"/>
              </a:rPr>
              <a:t>Learning </a:t>
            </a:r>
            <a:r>
              <a:rPr sz="2000" spc="-25" dirty="0">
                <a:solidFill>
                  <a:srgbClr val="0000CC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  <a:p>
            <a:pPr marR="441325" algn="ctr">
              <a:lnSpc>
                <a:spcPct val="100000"/>
              </a:lnSpc>
              <a:spcBef>
                <a:spcPts val="1475"/>
              </a:spcBef>
            </a:pPr>
            <a:r>
              <a:rPr sz="2100" b="1" dirty="0">
                <a:latin typeface="Times New Roman"/>
                <a:cs typeface="Times New Roman"/>
              </a:rPr>
              <a:t>Class</a:t>
            </a:r>
            <a:r>
              <a:rPr sz="2100" b="1" spc="-5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-</a:t>
            </a:r>
            <a:r>
              <a:rPr sz="2100" b="1" spc="-45" dirty="0">
                <a:latin typeface="Times New Roman"/>
                <a:cs typeface="Times New Roman"/>
              </a:rPr>
              <a:t> </a:t>
            </a:r>
            <a:r>
              <a:rPr sz="2100" b="1" dirty="0">
                <a:latin typeface="Times New Roman"/>
                <a:cs typeface="Times New Roman"/>
              </a:rPr>
              <a:t>T.Y.</a:t>
            </a:r>
            <a:r>
              <a:rPr sz="2100" b="1" spc="-20" dirty="0">
                <a:latin typeface="Times New Roman"/>
                <a:cs typeface="Times New Roman"/>
              </a:rPr>
              <a:t> </a:t>
            </a:r>
            <a:r>
              <a:rPr sz="2100" b="1" spc="-10" dirty="0">
                <a:latin typeface="Times New Roman"/>
                <a:cs typeface="Times New Roman"/>
              </a:rPr>
              <a:t>(SEM-</a:t>
            </a:r>
            <a:r>
              <a:rPr sz="2100" b="1" dirty="0">
                <a:latin typeface="Times New Roman"/>
                <a:cs typeface="Times New Roman"/>
              </a:rPr>
              <a:t>I),</a:t>
            </a:r>
            <a:r>
              <a:rPr sz="2100" b="1" spc="-10" dirty="0">
                <a:latin typeface="Times New Roman"/>
                <a:cs typeface="Times New Roman"/>
              </a:rPr>
              <a:t> </a:t>
            </a:r>
            <a:r>
              <a:rPr sz="2100" b="1" spc="-20" dirty="0">
                <a:latin typeface="Times New Roman"/>
                <a:cs typeface="Times New Roman"/>
              </a:rPr>
              <a:t>Core</a:t>
            </a:r>
            <a:endParaRPr sz="2100">
              <a:latin typeface="Times New Roman"/>
              <a:cs typeface="Times New Roman"/>
            </a:endParaRPr>
          </a:p>
          <a:p>
            <a:pPr marL="1461770" marR="1901825" algn="ctr">
              <a:lnSpc>
                <a:spcPct val="169400"/>
              </a:lnSpc>
              <a:spcBef>
                <a:spcPts val="65"/>
              </a:spcBef>
            </a:pPr>
            <a:r>
              <a:rPr sz="1700" b="1" dirty="0">
                <a:latin typeface="Times New Roman"/>
                <a:cs typeface="Times New Roman"/>
              </a:rPr>
              <a:t>Name</a:t>
            </a:r>
            <a:r>
              <a:rPr sz="1700" b="1" spc="-7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</a:t>
            </a:r>
            <a:r>
              <a:rPr sz="1700" b="1" spc="-60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the</a:t>
            </a:r>
            <a:r>
              <a:rPr sz="1700" b="1" spc="-4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Course</a:t>
            </a:r>
            <a:r>
              <a:rPr sz="1700" b="1" spc="-60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Coordinator </a:t>
            </a:r>
            <a:r>
              <a:rPr sz="1700" b="1" dirty="0">
                <a:solidFill>
                  <a:srgbClr val="0000CC"/>
                </a:solidFill>
                <a:latin typeface="Times New Roman"/>
                <a:cs typeface="Times New Roman"/>
              </a:rPr>
              <a:t>Prof.</a:t>
            </a:r>
            <a:r>
              <a:rPr sz="1700" b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700" b="1" dirty="0">
                <a:solidFill>
                  <a:srgbClr val="0000CC"/>
                </a:solidFill>
                <a:latin typeface="Times New Roman"/>
                <a:cs typeface="Times New Roman"/>
              </a:rPr>
              <a:t>Swati</a:t>
            </a:r>
            <a:r>
              <a:rPr sz="1700" b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700" b="1" spc="-20" dirty="0">
                <a:solidFill>
                  <a:srgbClr val="0000CC"/>
                </a:solidFill>
                <a:latin typeface="Times New Roman"/>
                <a:cs typeface="Times New Roman"/>
              </a:rPr>
              <a:t>Powar</a:t>
            </a:r>
            <a:endParaRPr sz="17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47648" y="1307845"/>
          <a:ext cx="6051549" cy="7256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36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1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6235">
                <a:tc gridSpan="4">
                  <a:txBody>
                    <a:bodyPr/>
                    <a:lstStyle/>
                    <a:p>
                      <a:pPr marL="2484120" marR="2468880" indent="-5080" algn="ctr">
                        <a:lnSpc>
                          <a:spcPts val="1370"/>
                        </a:lnSpc>
                      </a:pPr>
                      <a:r>
                        <a:rPr sz="1200" b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200" b="1" spc="-2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1200" b="1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Lab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SEMESTER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995">
                <a:tc>
                  <a:txBody>
                    <a:bodyPr/>
                    <a:lstStyle/>
                    <a:p>
                      <a:pPr marL="7620" algn="ctr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Code: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Credits: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355"/>
                        </a:lnSpc>
                      </a:pP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319405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Teaching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Hours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Week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(L: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T: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P):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0:0:2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7680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Marks: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690">
                <a:tc>
                  <a:txBody>
                    <a:bodyPr/>
                    <a:lstStyle/>
                    <a:p>
                      <a:pPr marL="73025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Teaching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Hours: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ts val="1355"/>
                        </a:lnSpc>
                      </a:pP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END-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SEM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Marks: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935">
                <a:tc gridSpan="4"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Prerequisites:</a:t>
                      </a:r>
                      <a:r>
                        <a:rPr sz="1200" spc="-2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programming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0665">
                <a:tc gridSpan="4">
                  <a:txBody>
                    <a:bodyPr/>
                    <a:lstStyle/>
                    <a:p>
                      <a:pPr marL="73025">
                        <a:lnSpc>
                          <a:spcPts val="1345"/>
                        </a:lnSpc>
                      </a:pPr>
                      <a:r>
                        <a:rPr sz="1200" spc="-1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Companion</a:t>
                      </a:r>
                      <a:r>
                        <a:rPr sz="1200" spc="-55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Course:</a:t>
                      </a:r>
                      <a:r>
                        <a:rPr sz="1200" spc="25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Python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68450">
                <a:tc gridSpan="4">
                  <a:txBody>
                    <a:bodyPr/>
                    <a:lstStyle/>
                    <a:p>
                      <a:pPr marL="73025">
                        <a:lnSpc>
                          <a:spcPts val="1295"/>
                        </a:lnSpc>
                      </a:pPr>
                      <a:r>
                        <a:rPr sz="120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200" spc="-4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Objectives: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58825" marR="479425" indent="158115">
                        <a:lnSpc>
                          <a:spcPts val="1380"/>
                        </a:lnSpc>
                        <a:spcBef>
                          <a:spcPts val="50"/>
                        </a:spcBef>
                        <a:buAutoNum type="arabicPeriod"/>
                        <a:tabLst>
                          <a:tab pos="916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Understand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core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algorithms,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problem-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solving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techniques.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6940" indent="-158115">
                        <a:lnSpc>
                          <a:spcPts val="1295"/>
                        </a:lnSpc>
                        <a:buAutoNum type="arabicPeriod"/>
                        <a:tabLst>
                          <a:tab pos="916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Learn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representation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reasoning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intelligent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58825" marR="257175" indent="158115">
                        <a:lnSpc>
                          <a:spcPts val="1370"/>
                        </a:lnSpc>
                        <a:spcBef>
                          <a:spcPts val="70"/>
                        </a:spcBef>
                        <a:buAutoNum type="arabicPeriod"/>
                        <a:tabLst>
                          <a:tab pos="916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Grasp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supervised,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unsupervised,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reinforcement learning.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6940" indent="-158115">
                        <a:lnSpc>
                          <a:spcPts val="1295"/>
                        </a:lnSpc>
                        <a:buAutoNum type="arabicPeriod"/>
                        <a:tabLst>
                          <a:tab pos="916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programming,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analysis,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validation.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58825" marR="281305" indent="158115">
                        <a:lnSpc>
                          <a:spcPts val="1380"/>
                        </a:lnSpc>
                        <a:buAutoNum type="arabicPeriod"/>
                        <a:tabLst>
                          <a:tab pos="916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Al/ML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techniques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problems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hands-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project-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2305">
                <a:tc gridSpan="4">
                  <a:txBody>
                    <a:bodyPr/>
                    <a:lstStyle/>
                    <a:p>
                      <a:pPr marL="73025">
                        <a:lnSpc>
                          <a:spcPts val="1320"/>
                        </a:lnSpc>
                      </a:pPr>
                      <a:r>
                        <a:rPr sz="120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r>
                        <a:rPr sz="1200" spc="-3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solidFill>
                            <a:srgbClr val="006EC0"/>
                          </a:solidFill>
                          <a:latin typeface="Times New Roman"/>
                          <a:cs typeface="Times New Roman"/>
                        </a:rPr>
                        <a:t>Outcomes: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9590" indent="-227965">
                        <a:lnSpc>
                          <a:spcPts val="1390"/>
                        </a:lnSpc>
                        <a:buAutoNum type="arabicPeriod"/>
                        <a:tabLst>
                          <a:tab pos="5295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completing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course,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students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should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9590" indent="-227965">
                        <a:lnSpc>
                          <a:spcPts val="1395"/>
                        </a:lnSpc>
                        <a:buAutoNum type="arabicPeriod"/>
                        <a:tabLst>
                          <a:tab pos="5295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Understand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concepts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Artificial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Intelligence,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9590" indent="-227965">
                        <a:lnSpc>
                          <a:spcPts val="1395"/>
                        </a:lnSpc>
                        <a:buAutoNum type="arabicPeriod"/>
                        <a:tabLst>
                          <a:tab pos="5295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game-playing.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9590" indent="-227965">
                        <a:lnSpc>
                          <a:spcPts val="1400"/>
                        </a:lnSpc>
                        <a:buAutoNum type="arabicPeriod"/>
                        <a:tabLst>
                          <a:tab pos="5295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representation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reasoning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techniques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30225" marR="568960" indent="-228600">
                        <a:lnSpc>
                          <a:spcPts val="1380"/>
                        </a:lnSpc>
                        <a:spcBef>
                          <a:spcPts val="75"/>
                        </a:spcBef>
                        <a:buAutoNum type="arabicPeriod"/>
                        <a:tabLst>
                          <a:tab pos="5302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Explain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fundamentals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techniques.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30225" marR="167005" indent="-228600">
                        <a:lnSpc>
                          <a:spcPts val="1380"/>
                        </a:lnSpc>
                        <a:spcBef>
                          <a:spcPts val="15"/>
                        </a:spcBef>
                        <a:buAutoNum type="arabicPeriod"/>
                        <a:tabLst>
                          <a:tab pos="53022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regression,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decision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trees,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SVMs,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deep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9590" indent="-227965">
                        <a:lnSpc>
                          <a:spcPts val="1355"/>
                        </a:lnSpc>
                        <a:buAutoNum type="arabicPeriod"/>
                        <a:tabLst>
                          <a:tab pos="52959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solve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problems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practical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tools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datasets.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665">
                <a:tc gridSpan="4">
                  <a:txBody>
                    <a:bodyPr/>
                    <a:lstStyle/>
                    <a:p>
                      <a:pPr marL="2540" algn="ctr">
                        <a:lnSpc>
                          <a:spcPts val="134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Resources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5325">
                <a:tc gridSpan="4">
                  <a:txBody>
                    <a:bodyPr/>
                    <a:lstStyle/>
                    <a:p>
                      <a:pPr marL="73025">
                        <a:lnSpc>
                          <a:spcPts val="1310"/>
                        </a:lnSpc>
                      </a:pPr>
                      <a:r>
                        <a:rPr sz="1200" b="1" dirty="0">
                          <a:solidFill>
                            <a:srgbClr val="0985B0"/>
                          </a:solidFill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1200" b="1" spc="-30" dirty="0">
                          <a:solidFill>
                            <a:srgbClr val="0985B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0985B0"/>
                          </a:solidFill>
                          <a:latin typeface="Times New Roman"/>
                          <a:cs typeface="Times New Roman"/>
                        </a:rPr>
                        <a:t>Books: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58825" indent="-228600">
                        <a:lnSpc>
                          <a:spcPts val="1350"/>
                        </a:lnSpc>
                        <a:buSzPct val="114285"/>
                        <a:buAutoNum type="arabicPeriod"/>
                        <a:tabLst>
                          <a:tab pos="758825" algn="l"/>
                        </a:tabLst>
                      </a:pP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050" spc="-6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Learning"</a:t>
                      </a:r>
                      <a:r>
                        <a:rPr sz="1050" spc="-3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050" spc="-2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Sebastian</a:t>
                      </a:r>
                      <a:r>
                        <a:rPr sz="1050" spc="-5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Raschka,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58825" indent="-228600">
                        <a:lnSpc>
                          <a:spcPts val="1315"/>
                        </a:lnSpc>
                        <a:buSzPct val="114285"/>
                        <a:buAutoNum type="arabicPeriod"/>
                        <a:tabLst>
                          <a:tab pos="758825" algn="l"/>
                        </a:tabLst>
                      </a:pP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Hands-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050" spc="-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050" spc="-3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050" spc="-4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Scikit-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Learn,</a:t>
                      </a:r>
                      <a:r>
                        <a:rPr sz="1050" spc="-2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Keras,</a:t>
                      </a:r>
                      <a:r>
                        <a:rPr sz="1050" spc="-2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TensorFlow"</a:t>
                      </a:r>
                      <a:r>
                        <a:rPr sz="1050" spc="-2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050" spc="-4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Aurélien</a:t>
                      </a:r>
                      <a:r>
                        <a:rPr sz="1050" spc="-4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Géron,</a:t>
                      </a:r>
                      <a:r>
                        <a:rPr sz="1050" spc="-2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58825" indent="-228600">
                        <a:lnSpc>
                          <a:spcPts val="1355"/>
                        </a:lnSpc>
                        <a:buSzPct val="114285"/>
                        <a:buAutoNum type="arabicPeriod"/>
                        <a:tabLst>
                          <a:tab pos="758825" algn="l"/>
                        </a:tabLst>
                      </a:pP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050" spc="-6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050" spc="-4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050" spc="-5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Python"</a:t>
                      </a:r>
                      <a:r>
                        <a:rPr sz="1050" spc="-3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050" spc="-3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François</a:t>
                      </a:r>
                      <a:r>
                        <a:rPr sz="1050" spc="-4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Chollet.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90600">
                <a:tc gridSpan="4">
                  <a:txBody>
                    <a:bodyPr/>
                    <a:lstStyle/>
                    <a:p>
                      <a:pPr marL="73025">
                        <a:lnSpc>
                          <a:spcPts val="1355"/>
                        </a:lnSpc>
                      </a:pPr>
                      <a:r>
                        <a:rPr sz="1200" b="1" spc="-10" dirty="0">
                          <a:solidFill>
                            <a:srgbClr val="0985B0"/>
                          </a:solidFill>
                          <a:latin typeface="Times New Roman"/>
                          <a:cs typeface="Times New Roman"/>
                        </a:rPr>
                        <a:t>Reference Books: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58825" indent="-228600">
                        <a:lnSpc>
                          <a:spcPts val="1400"/>
                        </a:lnSpc>
                        <a:spcBef>
                          <a:spcPts val="1330"/>
                        </a:spcBef>
                        <a:buSzPct val="114285"/>
                        <a:buAutoNum type="arabicPeriod"/>
                        <a:tabLst>
                          <a:tab pos="758825" algn="l"/>
                        </a:tabLst>
                      </a:pP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"Python</a:t>
                      </a:r>
                      <a:r>
                        <a:rPr sz="1050" spc="-6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050" spc="-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Learning"</a:t>
                      </a:r>
                      <a:r>
                        <a:rPr sz="1050" spc="-3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050" spc="-3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Sebastian</a:t>
                      </a:r>
                      <a:r>
                        <a:rPr sz="1050" spc="-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Raschka</a:t>
                      </a:r>
                      <a:r>
                        <a:rPr sz="1050" spc="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050" spc="-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Vahid</a:t>
                      </a:r>
                      <a:r>
                        <a:rPr sz="1050" spc="-3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Mirjalil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758825" indent="-228600">
                        <a:lnSpc>
                          <a:spcPts val="1220"/>
                        </a:lnSpc>
                        <a:buAutoNum type="arabicPeriod"/>
                        <a:tabLst>
                          <a:tab pos="758825" algn="l"/>
                        </a:tabLst>
                      </a:pP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sz="1050" spc="-7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Deep</a:t>
                      </a:r>
                      <a:r>
                        <a:rPr sz="1050" spc="-3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050" spc="-2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050" spc="-1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TensorFlow</a:t>
                      </a:r>
                      <a:r>
                        <a:rPr sz="1050" spc="-3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2and</a:t>
                      </a:r>
                      <a:r>
                        <a:rPr sz="1050" spc="-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Keras"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050" spc="-25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Rowel</a:t>
                      </a:r>
                      <a:r>
                        <a:rPr sz="1050" spc="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solidFill>
                            <a:srgbClr val="000009"/>
                          </a:solidFill>
                          <a:latin typeface="Times New Roman"/>
                          <a:cs typeface="Times New Roman"/>
                        </a:rPr>
                        <a:t>Atienza: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14704" y="1245361"/>
          <a:ext cx="5815330" cy="5454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4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884">
                <a:tc>
                  <a:txBody>
                    <a:bodyPr/>
                    <a:lstStyle/>
                    <a:p>
                      <a:pPr marL="151765">
                        <a:lnSpc>
                          <a:spcPts val="1645"/>
                        </a:lnSpc>
                        <a:spcBef>
                          <a:spcPts val="170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ts val="1645"/>
                        </a:lnSpc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215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7280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Times New Roman"/>
                          <a:cs typeface="Times New Roman"/>
                        </a:rPr>
                        <a:t>Experiment/Assignment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985"/>
                        </a:spcBef>
                      </a:pP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CO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12509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17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Program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Breadth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marR="122555" indent="-18415">
                        <a:lnSpc>
                          <a:spcPts val="1380"/>
                        </a:lnSpc>
                        <a:spcBef>
                          <a:spcPts val="645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CO1,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marR="122555" indent="-18415">
                        <a:lnSpc>
                          <a:spcPts val="1380"/>
                        </a:lnSpc>
                        <a:spcBef>
                          <a:spcPts val="259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CO1,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301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7302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Tic-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Tac-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4940" marR="111125" indent="-15240">
                        <a:lnSpc>
                          <a:spcPts val="1210"/>
                        </a:lnSpc>
                        <a:spcBef>
                          <a:spcPts val="50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CO1,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7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89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8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libraries</a:t>
                      </a:r>
                      <a:r>
                        <a:rPr sz="1200" spc="1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such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0840" indent="-227965">
                        <a:lnSpc>
                          <a:spcPct val="100000"/>
                        </a:lnSpc>
                        <a:spcBef>
                          <a:spcPts val="25"/>
                        </a:spcBef>
                        <a:buAutoNum type="alphaLcPeriod"/>
                        <a:tabLst>
                          <a:tab pos="3708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Math,</a:t>
                      </a:r>
                      <a:r>
                        <a:rPr sz="1200" spc="1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NumPy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Scipy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1475" indent="-228600">
                        <a:lnSpc>
                          <a:spcPts val="1410"/>
                        </a:lnSpc>
                        <a:spcBef>
                          <a:spcPts val="15"/>
                        </a:spcBef>
                        <a:buAutoNum type="alphaLcPeriod"/>
                        <a:tabLst>
                          <a:tab pos="3714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Pandas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Matplotlib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dataset.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8910" marR="100330" indent="-18415">
                        <a:lnSpc>
                          <a:spcPts val="1380"/>
                        </a:lnSpc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CO1,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09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2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3500" algn="just">
                        <a:lnSpc>
                          <a:spcPts val="14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Jupiter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notebook,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Arithmetic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calculations(Mean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median,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deviation)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6680" marR="162560" indent="-18415">
                        <a:lnSpc>
                          <a:spcPts val="1380"/>
                        </a:lnSpc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CO1,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64135">
                        <a:lnSpc>
                          <a:spcPts val="138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Download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repositories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basic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encoding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marR="122555" indent="-18415">
                        <a:lnSpc>
                          <a:spcPts val="1380"/>
                        </a:lnSpc>
                        <a:spcBef>
                          <a:spcPts val="755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CO4,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58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229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 marR="254635" algn="just">
                        <a:lnSpc>
                          <a:spcPct val="963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breast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cancer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sklearn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regression.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7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marR="122555" indent="-18415">
                        <a:lnSpc>
                          <a:spcPts val="1390"/>
                        </a:lnSpc>
                        <a:spcBef>
                          <a:spcPts val="745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CO4,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946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1020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390525" algn="just">
                        <a:lnSpc>
                          <a:spcPct val="959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Bayesian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Confsion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Matrix,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7320" marR="122555" indent="-18415">
                        <a:lnSpc>
                          <a:spcPts val="1380"/>
                        </a:lnSpc>
                        <a:spcBef>
                          <a:spcPts val="345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CO4,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38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784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720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13589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 means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multidimensional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analyse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3520" marR="53975" indent="-26034">
                        <a:lnSpc>
                          <a:spcPts val="1380"/>
                        </a:lnSpc>
                        <a:spcBef>
                          <a:spcPts val="705"/>
                        </a:spcBef>
                      </a:pP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CO4,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95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39115">
                <a:tc>
                  <a:txBody>
                    <a:bodyPr/>
                    <a:lstStyle/>
                    <a:p>
                      <a:pPr algn="ctr">
                        <a:lnSpc>
                          <a:spcPts val="141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 marR="6985">
                        <a:lnSpc>
                          <a:spcPct val="958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Wine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2D,</a:t>
                      </a:r>
                      <a:r>
                        <a:rPr sz="1200" spc="5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visualize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preserved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 marR="51435" indent="-17145">
                        <a:lnSpc>
                          <a:spcPts val="2060"/>
                        </a:lnSpc>
                        <a:spcBef>
                          <a:spcPts val="25"/>
                        </a:spcBef>
                      </a:pP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CO4,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CO5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016507"/>
          <a:ext cx="6483350" cy="874255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marL="69850">
                        <a:lnSpc>
                          <a:spcPts val="12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r>
                        <a:rPr sz="12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Breadth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345">
                <a:tc gridSpan="2"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Program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Breadth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62495">
                <a:tc gridSpan="2"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9845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A)</a:t>
                      </a:r>
                      <a:r>
                        <a:rPr sz="1200" b="1" spc="40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What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Breadth-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Search?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marR="113664" algn="just">
                        <a:lnSpc>
                          <a:spcPct val="97400"/>
                        </a:lnSpc>
                        <a:spcBef>
                          <a:spcPts val="60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Breadth-First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traversing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satisfy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property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tree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structure.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belongs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uninformed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blind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AI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algorithms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operates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solely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connectivity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doesn't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prioritize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particular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another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heuristic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knowledge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domain-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information.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doesn't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incorporate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additional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information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beyond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space.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optimal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unweighted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particularly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suitable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actions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cost.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Due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systematic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strategy,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explore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even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infinite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spaces.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follows: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AI-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marR="121920" algn="just">
                        <a:lnSpc>
                          <a:spcPts val="1400"/>
                        </a:lnSpc>
                        <a:spcBef>
                          <a:spcPts val="4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Originally it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root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node,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expands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successors,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systematically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explores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neighbouring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moving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nodes.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shown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image,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root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expands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successors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B)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algn="just">
                        <a:lnSpc>
                          <a:spcPts val="135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extending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root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node’s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immediate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neighbours,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their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neighbours,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marR="121920" algn="just">
                        <a:lnSpc>
                          <a:spcPts val="140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lasts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specific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condition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met.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above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image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 observe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 after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visiting the node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 it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moves 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C. when 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completed,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further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moves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i.e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explore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D.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systematically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visiting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terminate.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420"/>
                        </a:lnSpc>
                        <a:spcBef>
                          <a:spcPts val="13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BFS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93675">
                        <a:lnSpc>
                          <a:spcPts val="1380"/>
                        </a:lnSpc>
                        <a:spcBef>
                          <a:spcPts val="8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Level-by-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Level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Exploration:</a:t>
                      </a:r>
                      <a:r>
                        <a:rPr sz="12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explores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same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depth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proceeding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deeper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levels.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Optimality: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guarantees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shortest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unweighted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lies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shallowest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level.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1275"/>
                        </a:lnSpc>
                        <a:spcBef>
                          <a:spcPts val="116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Completeness: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exists,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it.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65" y="4305934"/>
            <a:ext cx="3496055" cy="2477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914399"/>
          <a:ext cx="6482079" cy="8876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138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7005" marR="775335">
                        <a:lnSpc>
                          <a:spcPts val="128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Complexity:</a:t>
                      </a:r>
                      <a:r>
                        <a:rPr sz="1100" spc="3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nodes,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leading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potentially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complexity,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especially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wide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graphs.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ts val="1300"/>
                        </a:lnSpc>
                        <a:spcBef>
                          <a:spcPts val="121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Time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Complexity: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O(V+E),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where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67005" marR="5184140">
                        <a:lnSpc>
                          <a:spcPts val="1310"/>
                        </a:lnSpc>
                        <a:spcBef>
                          <a:spcPts val="40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1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of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vertices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 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edges.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03505" marR="629285">
                        <a:lnSpc>
                          <a:spcPts val="128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right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side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i.e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 then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exploring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G.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 nodes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visited.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It will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terminate.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270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 gridSpan="5">
                  <a:txBody>
                    <a:bodyPr/>
                    <a:lstStyle/>
                    <a:p>
                      <a:pPr marL="69850">
                        <a:lnSpc>
                          <a:spcPts val="125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0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3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32510" indent="66675">
                        <a:lnSpc>
                          <a:spcPts val="126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Objectives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Representation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BFS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Input/Output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7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75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2045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analysis: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Steps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Algorithm: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Initialization: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visited.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Mark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visited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enqueue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Queue: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0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empty: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74775" lvl="2" indent="-228600">
                        <a:lnSpc>
                          <a:spcPts val="1385"/>
                        </a:lnSpc>
                        <a:buAutoNum type="arabicPeriod"/>
                        <a:tabLst>
                          <a:tab pos="13747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Dequeue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node).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74775" lvl="2" indent="-228600">
                        <a:lnSpc>
                          <a:spcPts val="1385"/>
                        </a:lnSpc>
                        <a:buAutoNum type="arabicPeriod"/>
                        <a:tabLst>
                          <a:tab pos="13747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(for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example,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store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it).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74775" lvl="2" indent="-228600">
                        <a:lnSpc>
                          <a:spcPts val="1385"/>
                        </a:lnSpc>
                        <a:buAutoNum type="arabicPeriod"/>
                        <a:tabLst>
                          <a:tab pos="13747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unvisited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node: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831975" lvl="3" indent="-228600">
                        <a:lnSpc>
                          <a:spcPts val="1385"/>
                        </a:lnSpc>
                        <a:buSzPct val="83333"/>
                        <a:buFont typeface="Wingdings"/>
                        <a:buChar char=""/>
                        <a:tabLst>
                          <a:tab pos="18319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Mark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visited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enqueue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0"/>
                        </a:lnSpc>
                        <a:buAutoNum type="arabicPeriod" startAt="3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Termination: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marR="404495" lvl="1" indent="-228600">
                        <a:lnSpc>
                          <a:spcPts val="1390"/>
                        </a:lnSpc>
                        <a:spcBef>
                          <a:spcPts val="55"/>
                        </a:spcBef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terminates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reachable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been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visited.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1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BFS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Pseudocode: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22250" marR="5020310" indent="-153035">
                        <a:lnSpc>
                          <a:spcPct val="963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BFS(graph,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queue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Q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visited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enqueue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Q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mark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4650" marR="4479925" indent="-152400">
                        <a:lnSpc>
                          <a:spcPct val="963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empty: current_node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 dequeue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Q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current_node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7050" marR="3976370" indent="-152400">
                        <a:lnSpc>
                          <a:spcPts val="139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current_node: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visited: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79450">
                        <a:lnSpc>
                          <a:spcPts val="130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enqueue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Q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495" y="917447"/>
            <a:ext cx="6483350" cy="317055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0">
              <a:lnSpc>
                <a:spcPts val="1360"/>
              </a:lnSpc>
            </a:pPr>
            <a:r>
              <a:rPr sz="1200" dirty="0">
                <a:latin typeface="Times New Roman"/>
                <a:cs typeface="Times New Roman"/>
              </a:rPr>
              <a:t>mark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neighbor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visited</a:t>
            </a:r>
            <a:endParaRPr sz="1200">
              <a:latin typeface="Times New Roman"/>
              <a:cs typeface="Times New Roman"/>
            </a:endParaRPr>
          </a:p>
          <a:p>
            <a:pPr marL="69850">
              <a:lnSpc>
                <a:spcPts val="1385"/>
              </a:lnSpc>
            </a:pP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Complexity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Analysis: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Vertices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(V):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vertices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V.</a:t>
            </a:r>
            <a:endParaRPr sz="1200">
              <a:latin typeface="Times New Roman"/>
              <a:cs typeface="Times New Roman"/>
            </a:endParaRPr>
          </a:p>
          <a:p>
            <a:pPr marL="69850" marR="2731135" indent="390525">
              <a:lnSpc>
                <a:spcPts val="1390"/>
              </a:lnSpc>
              <a:spcBef>
                <a:spcPts val="55"/>
              </a:spcBef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Edges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(E):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edges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</a:t>
            </a:r>
            <a:r>
              <a:rPr sz="1200" spc="-25" dirty="0">
                <a:latin typeface="Times New Roman"/>
                <a:cs typeface="Times New Roman"/>
              </a:rPr>
              <a:t> E</a:t>
            </a:r>
            <a:r>
              <a:rPr sz="1200" b="1" spc="-25" dirty="0">
                <a:latin typeface="Times New Roman"/>
                <a:cs typeface="Times New Roman"/>
              </a:rPr>
              <a:t>. </a:t>
            </a:r>
            <a:r>
              <a:rPr sz="1200" b="1" dirty="0">
                <a:latin typeface="Times New Roman"/>
                <a:cs typeface="Times New Roman"/>
              </a:rPr>
              <a:t>BFS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performs</a:t>
            </a:r>
            <a:r>
              <a:rPr sz="1200" b="1" spc="-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following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operations: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32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spc="-10" dirty="0">
                <a:latin typeface="Times New Roman"/>
                <a:cs typeface="Times New Roman"/>
              </a:rPr>
              <a:t>Enqueue/Dequeue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Operations: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enqueued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dequeued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exactly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takes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O(1)</a:t>
            </a:r>
            <a:endParaRPr sz="1200">
              <a:latin typeface="Times New Roman"/>
              <a:cs typeface="Times New Roman"/>
            </a:endParaRPr>
          </a:p>
          <a:p>
            <a:pPr marL="460375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operation.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Thus,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vertices,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contributes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O(V).</a:t>
            </a:r>
            <a:endParaRPr sz="1200">
              <a:latin typeface="Times New Roman"/>
              <a:cs typeface="Times New Roman"/>
            </a:endParaRPr>
          </a:p>
          <a:p>
            <a:pPr marL="460375" marR="443230" indent="-228600">
              <a:lnSpc>
                <a:spcPts val="1380"/>
              </a:lnSpc>
              <a:spcBef>
                <a:spcPts val="65"/>
              </a:spcBef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Edges: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BFS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neighbours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(edges).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edge</a:t>
            </a:r>
            <a:r>
              <a:rPr sz="1200" spc="-25" dirty="0">
                <a:latin typeface="Times New Roman"/>
                <a:cs typeface="Times New Roman"/>
              </a:rPr>
              <a:t> is </a:t>
            </a:r>
            <a:r>
              <a:rPr sz="1200" dirty="0">
                <a:latin typeface="Times New Roman"/>
                <a:cs typeface="Times New Roman"/>
              </a:rPr>
              <a:t>examined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exactly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contributes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O(E))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time.</a:t>
            </a:r>
            <a:endParaRPr sz="1200">
              <a:latin typeface="Times New Roman"/>
              <a:cs typeface="Times New Roman"/>
            </a:endParaRPr>
          </a:p>
          <a:p>
            <a:pPr marL="69850">
              <a:lnSpc>
                <a:spcPts val="1315"/>
              </a:lnSpc>
            </a:pPr>
            <a:r>
              <a:rPr sz="1200" b="1" dirty="0">
                <a:latin typeface="Times New Roman"/>
                <a:cs typeface="Times New Roman"/>
              </a:rPr>
              <a:t>Thus,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overall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complexity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BFS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is: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O(V+E)</a:t>
            </a:r>
            <a:endParaRPr sz="1200">
              <a:latin typeface="Times New Roman"/>
              <a:cs typeface="Times New Roman"/>
            </a:endParaRPr>
          </a:p>
          <a:p>
            <a:pPr marL="69850" marR="1635125">
              <a:lnSpc>
                <a:spcPts val="1390"/>
              </a:lnSpc>
              <a:spcBef>
                <a:spcPts val="6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because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once,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edge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once</a:t>
            </a:r>
            <a:r>
              <a:rPr sz="1200" b="1" spc="-10" dirty="0">
                <a:latin typeface="Times New Roman"/>
                <a:cs typeface="Times New Roman"/>
              </a:rPr>
              <a:t>. </a:t>
            </a:r>
            <a:r>
              <a:rPr sz="1200" b="1" dirty="0">
                <a:latin typeface="Times New Roman"/>
                <a:cs typeface="Times New Roman"/>
              </a:rPr>
              <a:t>Space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Complexity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Analysis:</a:t>
            </a:r>
            <a:endParaRPr sz="1200">
              <a:latin typeface="Times New Roman"/>
              <a:cs typeface="Times New Roman"/>
            </a:endParaRPr>
          </a:p>
          <a:p>
            <a:pPr marL="69850">
              <a:lnSpc>
                <a:spcPts val="1320"/>
              </a:lnSpc>
            </a:pP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space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complexity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BFS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determined</a:t>
            </a:r>
            <a:r>
              <a:rPr sz="1200" b="1" spc="-25" dirty="0">
                <a:latin typeface="Times New Roman"/>
                <a:cs typeface="Times New Roman"/>
              </a:rPr>
              <a:t> by:</a:t>
            </a:r>
            <a:endParaRPr sz="1200">
              <a:latin typeface="Times New Roman"/>
              <a:cs typeface="Times New Roman"/>
            </a:endParaRPr>
          </a:p>
          <a:p>
            <a:pPr marL="460375" marR="130175" indent="-228600">
              <a:lnSpc>
                <a:spcPts val="1380"/>
              </a:lnSpc>
              <a:spcBef>
                <a:spcPts val="75"/>
              </a:spcBef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Queue: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queue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hold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vertices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particular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level.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</a:t>
            </a:r>
            <a:r>
              <a:rPr sz="1200" spc="-20" dirty="0">
                <a:latin typeface="Times New Roman"/>
                <a:cs typeface="Times New Roman"/>
              </a:rPr>
              <a:t> with </a:t>
            </a:r>
            <a:r>
              <a:rPr sz="1200" dirty="0">
                <a:latin typeface="Times New Roman"/>
                <a:cs typeface="Times New Roman"/>
              </a:rPr>
              <a:t>V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vertices,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would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require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O(V)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space.</a:t>
            </a:r>
            <a:endParaRPr sz="1200">
              <a:latin typeface="Times New Roman"/>
              <a:cs typeface="Times New Roman"/>
            </a:endParaRPr>
          </a:p>
          <a:p>
            <a:pPr marL="460375" marR="323215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Visited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about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visited.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requires </a:t>
            </a:r>
            <a:r>
              <a:rPr sz="1200" dirty="0">
                <a:latin typeface="Times New Roman"/>
                <a:cs typeface="Times New Roman"/>
              </a:rPr>
              <a:t>O(V)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space.</a:t>
            </a:r>
            <a:endParaRPr sz="1200">
              <a:latin typeface="Times New Roman"/>
              <a:cs typeface="Times New Roman"/>
            </a:endParaRPr>
          </a:p>
          <a:p>
            <a:pPr marL="69850">
              <a:lnSpc>
                <a:spcPts val="1345"/>
              </a:lnSpc>
            </a:pPr>
            <a:r>
              <a:rPr sz="1200" b="1" dirty="0">
                <a:latin typeface="Times New Roman"/>
                <a:cs typeface="Times New Roman"/>
              </a:rPr>
              <a:t>Thus,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the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overall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space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complexity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of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BFS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is:</a:t>
            </a:r>
            <a:r>
              <a:rPr sz="1200" spc="-10" dirty="0">
                <a:latin typeface="Times New Roman"/>
                <a:cs typeface="Times New Roman"/>
              </a:rPr>
              <a:t>O(V)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810"/>
            <a:ext cx="38671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BFS: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704" y="1790445"/>
            <a:ext cx="7191375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192021"/>
          <a:ext cx="6483350" cy="8301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marL="69850">
                        <a:lnSpc>
                          <a:spcPts val="12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Title:</a:t>
                      </a:r>
                      <a:r>
                        <a:rPr sz="1200" b="1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program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 gridSpan="2"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Statement: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28180">
                <a:tc gridSpan="2"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13664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popular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widely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pathfinding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traversal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algorithms,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particularly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artificial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intelligence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robotics.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informed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algorithm,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uses heuristic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information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guide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efficiently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uninformed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Breadth-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First Search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(BFS)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Depth-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(DFS).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especially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powerful because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combines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advantages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Dijkstra's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(which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guarantees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17195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shortest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path)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efficiency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Greedy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Best-First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(which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heuristics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guide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search).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0"/>
                        </a:lnSpc>
                        <a:spcBef>
                          <a:spcPts val="128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Objective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44145">
                        <a:lnSpc>
                          <a:spcPts val="1390"/>
                        </a:lnSpc>
                        <a:spcBef>
                          <a:spcPts val="6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shortest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weighted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graph,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minimizing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total cost.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5"/>
                        </a:lnSpc>
                        <a:spcBef>
                          <a:spcPts val="128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Key</a:t>
                      </a:r>
                      <a:r>
                        <a:rPr sz="1200" b="1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Concepts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main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functions: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g(n):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nnn.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589280" indent="-228600">
                        <a:lnSpc>
                          <a:spcPts val="1380"/>
                        </a:lnSpc>
                        <a:spcBef>
                          <a:spcPts val="70"/>
                        </a:spcBef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h(n):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heuristic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estimated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nnn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goal.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(Must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admissible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—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never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overestimates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cost.)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1800860" indent="-229235">
                        <a:lnSpc>
                          <a:spcPts val="1380"/>
                        </a:lnSpc>
                        <a:buSzPct val="83333"/>
                        <a:buFont typeface="Symbol"/>
                        <a:buChar char=""/>
                        <a:tabLst>
                          <a:tab pos="473709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f(n):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total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estimated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nnn,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defined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as: 	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(n)=g(n)+h(n)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Consider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following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below.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marR="259079" algn="just">
                        <a:lnSpc>
                          <a:spcPct val="959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written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edges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represent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nodes,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numbers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written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represent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heuristic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values.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Let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cost-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effective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 state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Algorithm.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marR="227329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Let’s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A.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Since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node, therefore,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g(x)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zero,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from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graph,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heuristic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11,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therefore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g(x) +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h(x)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f(x)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0+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11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=11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ts val="1390"/>
                        </a:lnSpc>
                        <a:spcBef>
                          <a:spcPts val="9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Thus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A, we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 write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A=11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65" y="6136893"/>
            <a:ext cx="2120265" cy="1391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914399"/>
          <a:ext cx="6482079" cy="8780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3450">
                <a:tc gridSpan="5"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Now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A,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E,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f(x)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them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→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5"/>
                        </a:lnSpc>
                        <a:spcBef>
                          <a:spcPts val="11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 marR="560705">
                        <a:lnSpc>
                          <a:spcPts val="1450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Since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14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less,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f(x)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for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children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 marR="735330">
                        <a:lnSpc>
                          <a:spcPts val="1430"/>
                        </a:lnSpc>
                        <a:spcBef>
                          <a:spcPts val="95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Since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there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G, the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heuristic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infinity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very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high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 (2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1)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99=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102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(2 +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E,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thus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explore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further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(3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6)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 marR="774065">
                        <a:lnSpc>
                          <a:spcPct val="100800"/>
                        </a:lnSpc>
                        <a:spcBef>
                          <a:spcPts val="9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Comparing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got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far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least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forward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path.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compute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f(x)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children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67005">
                        <a:lnSpc>
                          <a:spcPts val="1420"/>
                        </a:lnSpc>
                        <a:spcBef>
                          <a:spcPts val="91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(3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6 +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1)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+0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=10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ts val="14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Now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comparing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lead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goal,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conclude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→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3505">
                        <a:lnSpc>
                          <a:spcPct val="100000"/>
                        </a:lnSpc>
                        <a:spcBef>
                          <a:spcPts val="6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cost-effective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get</a:t>
                      </a:r>
                      <a:r>
                        <a:rPr sz="1200" spc="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1206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6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3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32510" indent="66675">
                        <a:lnSpc>
                          <a:spcPts val="126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Objectives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Representation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Implementation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A*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Input/Output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7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75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235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analysis: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Working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A*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27305" indent="-228600">
                        <a:lnSpc>
                          <a:spcPts val="1390"/>
                        </a:lnSpc>
                        <a:spcBef>
                          <a:spcPts val="60"/>
                        </a:spcBef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Initialize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(priority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queue)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node.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keeps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be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evaluated.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1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Initialize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closed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(visited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nodes).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following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reached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empty: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node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lowest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f(n)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0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goal,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path.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Move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closed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list.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74775" lvl="2" indent="-228600">
                        <a:lnSpc>
                          <a:spcPts val="1385"/>
                        </a:lnSpc>
                        <a:buSzPct val="83333"/>
                        <a:buFont typeface="Wingdings"/>
                        <a:buChar char=""/>
                        <a:tabLst>
                          <a:tab pos="13747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neighbor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closed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skip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74775" marR="74930" lvl="2" indent="-228600">
                        <a:lnSpc>
                          <a:spcPts val="1380"/>
                        </a:lnSpc>
                        <a:buSzPct val="83333"/>
                        <a:buFont typeface="Wingdings"/>
                        <a:buChar char=""/>
                        <a:tabLst>
                          <a:tab pos="13747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it's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list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g(n),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update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parent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897381"/>
            <a:ext cx="5489575" cy="372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16990" indent="-228600">
              <a:lnSpc>
                <a:spcPts val="1415"/>
              </a:lnSpc>
              <a:spcBef>
                <a:spcPts val="100"/>
              </a:spcBef>
              <a:buSzPct val="83333"/>
              <a:buFont typeface="Wingdings"/>
              <a:buChar char=""/>
              <a:tabLst>
                <a:tab pos="1316990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it.</a:t>
            </a:r>
            <a:endParaRPr sz="1200">
              <a:latin typeface="Times New Roman"/>
              <a:cs typeface="Times New Roman"/>
            </a:endParaRPr>
          </a:p>
          <a:p>
            <a:pPr marL="402590" indent="-228600">
              <a:lnSpc>
                <a:spcPts val="1415"/>
              </a:lnSpc>
              <a:buFont typeface="Times New Roman"/>
              <a:buAutoNum type="arabicPeriod" startAt="4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reached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becomes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empty,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exists</a:t>
            </a:r>
            <a:r>
              <a:rPr sz="1200" b="1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5"/>
              </a:lnSpc>
              <a:spcBef>
                <a:spcPts val="1320"/>
              </a:spcBef>
            </a:pPr>
            <a:r>
              <a:rPr sz="1200" b="1" dirty="0">
                <a:latin typeface="Times New Roman"/>
                <a:cs typeface="Times New Roman"/>
              </a:rPr>
              <a:t>Heuristic</a:t>
            </a:r>
            <a:r>
              <a:rPr sz="1200" b="1" spc="-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Function</a:t>
            </a:r>
            <a:endParaRPr sz="1200">
              <a:latin typeface="Times New Roman"/>
              <a:cs typeface="Times New Roman"/>
            </a:endParaRPr>
          </a:p>
          <a:p>
            <a:pPr marL="12700" marR="272415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optimality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A*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depend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heuristic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function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h(n)h(n)h(n). </a:t>
            </a:r>
            <a:r>
              <a:rPr sz="1200" dirty="0">
                <a:latin typeface="Times New Roman"/>
                <a:cs typeface="Times New Roman"/>
              </a:rPr>
              <a:t>Common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heuristics: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2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Manhattan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Distance: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grid-</a:t>
            </a:r>
            <a:r>
              <a:rPr sz="1200" dirty="0">
                <a:latin typeface="Times New Roman"/>
                <a:cs typeface="Times New Roman"/>
              </a:rPr>
              <a:t>based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(no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diagonal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movement).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Euclidean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Distance: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continuous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diagonal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movement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allowed.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Zero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Heuristic: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Makes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A*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behave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Dijkstra’s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Algorithm.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heuristic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admissible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never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overestimates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true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cost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reach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goal.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heuristic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h(n)≤c(n,n′)+h(n′)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every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n→n′.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5"/>
              </a:spcBef>
            </a:pPr>
            <a:r>
              <a:rPr sz="1200" b="1" dirty="0">
                <a:latin typeface="Times New Roman"/>
                <a:cs typeface="Times New Roman"/>
              </a:rPr>
              <a:t>Time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and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Space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Complexity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spc="-20" dirty="0">
                <a:latin typeface="Times New Roman"/>
                <a:cs typeface="Times New Roman"/>
              </a:rPr>
              <a:t>Let: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branching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factor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(average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number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successors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state)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depth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optimal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solution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Time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Complexity:</a:t>
            </a:r>
            <a:endParaRPr sz="1200">
              <a:latin typeface="Times New Roman"/>
              <a:cs typeface="Times New Roman"/>
            </a:endParaRPr>
          </a:p>
          <a:p>
            <a:pPr marL="12700" marR="5080" indent="389890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worst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case,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A*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search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space,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leading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to: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O(b^d) </a:t>
            </a:r>
            <a:r>
              <a:rPr sz="1200" dirty="0">
                <a:latin typeface="Times New Roman"/>
                <a:cs typeface="Times New Roman"/>
              </a:rPr>
              <a:t>But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practice,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good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heuristic,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much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faster.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1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dirty="0">
                <a:latin typeface="Times New Roman"/>
                <a:cs typeface="Times New Roman"/>
              </a:rPr>
              <a:t>Space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Complexity:</a:t>
            </a:r>
            <a:endParaRPr sz="1200">
              <a:latin typeface="Times New Roman"/>
              <a:cs typeface="Times New Roman"/>
            </a:endParaRPr>
          </a:p>
          <a:p>
            <a:pPr marL="40259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A*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all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generated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nodes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memory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(open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closed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lists):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O(b^d)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6448" y="914399"/>
            <a:ext cx="6489065" cy="3881120"/>
          </a:xfrm>
          <a:custGeom>
            <a:avLst/>
            <a:gdLst/>
            <a:ahLst/>
            <a:cxnLst/>
            <a:rect l="l" t="t" r="r" b="b"/>
            <a:pathLst>
              <a:path w="6489065" h="3881120">
                <a:moveTo>
                  <a:pt x="6488938" y="3874655"/>
                </a:moveTo>
                <a:lnTo>
                  <a:pt x="6482842" y="3874655"/>
                </a:lnTo>
                <a:lnTo>
                  <a:pt x="6096" y="3874655"/>
                </a:lnTo>
                <a:lnTo>
                  <a:pt x="0" y="3874655"/>
                </a:lnTo>
                <a:lnTo>
                  <a:pt x="0" y="3880739"/>
                </a:lnTo>
                <a:lnTo>
                  <a:pt x="6096" y="3880739"/>
                </a:lnTo>
                <a:lnTo>
                  <a:pt x="6482842" y="3880739"/>
                </a:lnTo>
                <a:lnTo>
                  <a:pt x="6488938" y="3880739"/>
                </a:lnTo>
                <a:lnTo>
                  <a:pt x="6488938" y="3874655"/>
                </a:lnTo>
                <a:close/>
              </a:path>
              <a:path w="6489065" h="3881120">
                <a:moveTo>
                  <a:pt x="6488938" y="0"/>
                </a:moveTo>
                <a:lnTo>
                  <a:pt x="648284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3874643"/>
                </a:lnTo>
                <a:lnTo>
                  <a:pt x="6096" y="3874643"/>
                </a:lnTo>
                <a:lnTo>
                  <a:pt x="6096" y="6096"/>
                </a:lnTo>
                <a:lnTo>
                  <a:pt x="6482842" y="6096"/>
                </a:lnTo>
                <a:lnTo>
                  <a:pt x="6482842" y="3874643"/>
                </a:lnTo>
                <a:lnTo>
                  <a:pt x="6488938" y="3874643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810"/>
            <a:ext cx="12426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 *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Algorithm: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2254" y="1762505"/>
            <a:ext cx="7035800" cy="52819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192021"/>
          <a:ext cx="6483350" cy="8612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13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9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995">
                <a:tc>
                  <a:txBody>
                    <a:bodyPr/>
                    <a:lstStyle/>
                    <a:p>
                      <a:pPr marL="69850">
                        <a:lnSpc>
                          <a:spcPts val="12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020">
                <a:tc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Title:</a:t>
                      </a:r>
                      <a:r>
                        <a:rPr sz="1200" b="1" spc="4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program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Tic-Tac-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845">
                <a:tc gridSpan="2">
                  <a:txBody>
                    <a:bodyPr/>
                    <a:lstStyle/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Statement:</a:t>
                      </a:r>
                      <a:r>
                        <a:rPr sz="1200" b="1" spc="2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Tic-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Tac-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9965">
                <a:tc gridSpan="2"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6360" marR="441959">
                        <a:lnSpc>
                          <a:spcPct val="97700"/>
                        </a:lnSpc>
                        <a:spcBef>
                          <a:spcPts val="59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Gaming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entertainments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humans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have.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We can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find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1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types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 games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web,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mobile,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desktop,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etc.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one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those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heavy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games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now.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going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CLI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tic-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tac-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toe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game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python.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1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InitializeBoard():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3x3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grid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filled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empty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'-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')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grid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 marR="5068570" indent="-135890">
                        <a:lnSpc>
                          <a:spcPct val="102099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DisplayBoard(Board):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row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Board: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845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row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separated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spaces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ct val="10000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CheckWin(Board,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Player):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rows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row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Board: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71170" marR="4110354" indent="-134620">
                        <a:lnSpc>
                          <a:spcPct val="1024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row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Player: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03835" marR="5204460">
                        <a:lnSpc>
                          <a:spcPct val="1024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columns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2: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71170" marR="3665220" indent="-134620">
                        <a:lnSpc>
                          <a:spcPts val="149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elements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equal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Player: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True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65" y="3272535"/>
            <a:ext cx="4065651" cy="27197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9844" y="1081785"/>
            <a:ext cx="5052695" cy="855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>
              <a:lnSpc>
                <a:spcPts val="1415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//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diagonals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5"/>
              </a:lnSpc>
            </a:pPr>
            <a:r>
              <a:rPr sz="1200" spc="-10" dirty="0">
                <a:latin typeface="Times New Roman"/>
                <a:cs typeface="Times New Roman"/>
              </a:rPr>
              <a:t>If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Board[0][0]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==</a:t>
            </a:r>
            <a:r>
              <a:rPr sz="1200" spc="-10" dirty="0">
                <a:latin typeface="Times New Roman"/>
                <a:cs typeface="Times New Roman"/>
              </a:rPr>
              <a:t> Player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Board[1][1]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==</a:t>
            </a:r>
            <a:r>
              <a:rPr sz="1200" spc="-10" dirty="0">
                <a:latin typeface="Times New Roman"/>
                <a:cs typeface="Times New Roman"/>
              </a:rPr>
              <a:t> Player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Board[2][2]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== </a:t>
            </a:r>
            <a:r>
              <a:rPr sz="1200" spc="-10" dirty="0">
                <a:latin typeface="Times New Roman"/>
                <a:cs typeface="Times New Roman"/>
              </a:rPr>
              <a:t>Player:</a:t>
            </a:r>
            <a:endParaRPr sz="120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  <a:spcBef>
                <a:spcPts val="405"/>
              </a:spcBef>
            </a:pPr>
            <a:r>
              <a:rPr sz="1200" spc="-10" dirty="0">
                <a:latin typeface="Times New Roman"/>
                <a:cs typeface="Times New Roman"/>
              </a:rPr>
              <a:t>Return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True</a:t>
            </a:r>
            <a:endParaRPr sz="1200">
              <a:latin typeface="Times New Roman"/>
              <a:cs typeface="Times New Roman"/>
            </a:endParaRPr>
          </a:p>
          <a:p>
            <a:pPr marL="381635" marR="1184910" indent="-135890">
              <a:lnSpc>
                <a:spcPts val="149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Board[0][2]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== </a:t>
            </a:r>
            <a:r>
              <a:rPr sz="1200" spc="-10" dirty="0">
                <a:latin typeface="Times New Roman"/>
                <a:cs typeface="Times New Roman"/>
              </a:rPr>
              <a:t>Player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 </a:t>
            </a:r>
            <a:r>
              <a:rPr sz="1200" spc="-10" dirty="0">
                <a:latin typeface="Times New Roman"/>
                <a:cs typeface="Times New Roman"/>
              </a:rPr>
              <a:t>Board[1][1] </a:t>
            </a:r>
            <a:r>
              <a:rPr sz="1200" dirty="0">
                <a:latin typeface="Times New Roman"/>
                <a:cs typeface="Times New Roman"/>
              </a:rPr>
              <a:t>== </a:t>
            </a:r>
            <a:r>
              <a:rPr sz="1200" spc="-10" dirty="0">
                <a:latin typeface="Times New Roman"/>
                <a:cs typeface="Times New Roman"/>
              </a:rPr>
              <a:t>Player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Board[2][0]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==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Player: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Return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True</a:t>
            </a:r>
            <a:endParaRPr sz="120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  <a:spcBef>
                <a:spcPts val="1140"/>
              </a:spcBef>
            </a:pPr>
            <a:r>
              <a:rPr sz="1200" dirty="0">
                <a:latin typeface="Times New Roman"/>
                <a:cs typeface="Times New Roman"/>
              </a:rPr>
              <a:t>Return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False</a:t>
            </a: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ts val="1380"/>
              </a:lnSpc>
              <a:spcBef>
                <a:spcPts val="1150"/>
              </a:spcBef>
            </a:pPr>
            <a:r>
              <a:rPr sz="1200" spc="-10" dirty="0">
                <a:latin typeface="Times New Roman"/>
                <a:cs typeface="Times New Roman"/>
              </a:rPr>
              <a:t>CheckDraw(Board):</a:t>
            </a:r>
            <a:endParaRPr sz="1200">
              <a:latin typeface="Times New Roman"/>
              <a:cs typeface="Times New Roman"/>
            </a:endParaRPr>
          </a:p>
          <a:p>
            <a:pPr marL="24765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each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Board:</a:t>
            </a:r>
            <a:endParaRPr sz="1200">
              <a:latin typeface="Times New Roman"/>
              <a:cs typeface="Times New Roman"/>
            </a:endParaRPr>
          </a:p>
          <a:p>
            <a:pPr marL="515620" marR="3534410" indent="-134620">
              <a:lnSpc>
                <a:spcPts val="1460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cell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empty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'-</a:t>
            </a:r>
            <a:r>
              <a:rPr sz="1200" dirty="0">
                <a:latin typeface="Times New Roman"/>
                <a:cs typeface="Times New Roman"/>
              </a:rPr>
              <a:t>'):</a:t>
            </a:r>
            <a:r>
              <a:rPr sz="1200" spc="-10" dirty="0">
                <a:latin typeface="Times New Roman"/>
                <a:cs typeface="Times New Roman"/>
              </a:rPr>
              <a:t> Return</a:t>
            </a:r>
            <a:endParaRPr sz="1200">
              <a:latin typeface="Times New Roman"/>
              <a:cs typeface="Times New Roman"/>
            </a:endParaRPr>
          </a:p>
          <a:p>
            <a:pPr marL="515620">
              <a:lnSpc>
                <a:spcPts val="1420"/>
              </a:lnSpc>
            </a:pPr>
            <a:r>
              <a:rPr sz="1200" spc="-10" dirty="0">
                <a:latin typeface="Times New Roman"/>
                <a:cs typeface="Times New Roman"/>
              </a:rPr>
              <a:t>False</a:t>
            </a:r>
            <a:endParaRPr sz="120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  <a:spcBef>
                <a:spcPts val="50"/>
              </a:spcBef>
            </a:pPr>
            <a:r>
              <a:rPr sz="1200" spc="-10" dirty="0">
                <a:latin typeface="Times New Roman"/>
                <a:cs typeface="Times New Roman"/>
              </a:rPr>
              <a:t>Return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True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200">
              <a:latin typeface="Times New Roman"/>
              <a:cs typeface="Times New Roman"/>
            </a:endParaRPr>
          </a:p>
          <a:p>
            <a:pPr marL="244475" marR="3892550" indent="-133350">
              <a:lnSpc>
                <a:spcPct val="102499"/>
              </a:lnSpc>
              <a:spcBef>
                <a:spcPts val="5"/>
              </a:spcBef>
            </a:pPr>
            <a:r>
              <a:rPr sz="1200" spc="-10" dirty="0">
                <a:latin typeface="Times New Roman"/>
                <a:cs typeface="Times New Roman"/>
              </a:rPr>
              <a:t>PlayerMove(Boa rd,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Player):</a:t>
            </a:r>
            <a:endParaRPr sz="1200">
              <a:latin typeface="Times New Roman"/>
              <a:cs typeface="Times New Roman"/>
            </a:endParaRPr>
          </a:p>
          <a:p>
            <a:pPr marL="244475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True:</a:t>
            </a:r>
            <a:endParaRPr sz="1200">
              <a:latin typeface="Times New Roman"/>
              <a:cs typeface="Times New Roman"/>
            </a:endParaRPr>
          </a:p>
          <a:p>
            <a:pPr marL="381635" marR="2084070">
              <a:lnSpc>
                <a:spcPct val="102499"/>
              </a:lnSpc>
            </a:pPr>
            <a:r>
              <a:rPr sz="1200" spc="-10" dirty="0">
                <a:latin typeface="Times New Roman"/>
                <a:cs typeface="Times New Roman"/>
              </a:rPr>
              <a:t>Print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"Player",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Player,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"enter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your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move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'row,col':"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Input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"1,2")</a:t>
            </a:r>
            <a:endParaRPr sz="120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Parse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row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Move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Times New Roman"/>
              <a:cs typeface="Times New Roman"/>
            </a:endParaRPr>
          </a:p>
          <a:p>
            <a:pPr marL="515620" marR="2170430" indent="-134620">
              <a:lnSpc>
                <a:spcPct val="102499"/>
              </a:lnSpc>
            </a:pPr>
            <a:r>
              <a:rPr sz="1200" spc="-10" dirty="0">
                <a:latin typeface="Times New Roman"/>
                <a:cs typeface="Times New Roman"/>
              </a:rPr>
              <a:t>If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 </a:t>
            </a:r>
            <a:r>
              <a:rPr sz="1200" spc="-10" dirty="0">
                <a:latin typeface="Times New Roman"/>
                <a:cs typeface="Times New Roman"/>
              </a:rPr>
              <a:t>valid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Board[row][col] </a:t>
            </a:r>
            <a:r>
              <a:rPr sz="1200" spc="-25" dirty="0">
                <a:latin typeface="Times New Roman"/>
                <a:cs typeface="Times New Roman"/>
              </a:rPr>
              <a:t>is </a:t>
            </a:r>
            <a:r>
              <a:rPr sz="1200" dirty="0">
                <a:latin typeface="Times New Roman"/>
                <a:cs typeface="Times New Roman"/>
              </a:rPr>
              <a:t>empty: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Board[row][col]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spc="-10" dirty="0">
                <a:latin typeface="Times New Roman"/>
                <a:cs typeface="Times New Roman"/>
              </a:rPr>
              <a:t>Player</a:t>
            </a:r>
            <a:endParaRPr sz="1200">
              <a:latin typeface="Times New Roman"/>
              <a:cs typeface="Times New Roman"/>
            </a:endParaRPr>
          </a:p>
          <a:p>
            <a:pPr marL="515620">
              <a:lnSpc>
                <a:spcPct val="100000"/>
              </a:lnSpc>
              <a:spcBef>
                <a:spcPts val="35"/>
              </a:spcBef>
            </a:pPr>
            <a:r>
              <a:rPr sz="1200" spc="-5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  <a:p>
            <a:pPr marL="381635" marR="4470400">
              <a:lnSpc>
                <a:spcPct val="102200"/>
              </a:lnSpc>
              <a:spcBef>
                <a:spcPts val="5"/>
              </a:spcBef>
            </a:pPr>
            <a:r>
              <a:rPr sz="1200" spc="-25" dirty="0">
                <a:latin typeface="Times New Roman"/>
                <a:cs typeface="Times New Roman"/>
              </a:rPr>
              <a:t>rea </a:t>
            </a:r>
            <a:r>
              <a:rPr sz="1200" spc="-50" dirty="0">
                <a:latin typeface="Times New Roman"/>
                <a:cs typeface="Times New Roman"/>
              </a:rPr>
              <a:t>k </a:t>
            </a:r>
            <a:r>
              <a:rPr sz="1200" spc="-25" dirty="0">
                <a:latin typeface="Times New Roman"/>
                <a:cs typeface="Times New Roman"/>
              </a:rPr>
              <a:t>Els e:</a:t>
            </a:r>
            <a:endParaRPr sz="1200">
              <a:latin typeface="Times New Roman"/>
              <a:cs typeface="Times New Roman"/>
            </a:endParaRPr>
          </a:p>
          <a:p>
            <a:pPr marL="515620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Print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"Invalid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move.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Try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again."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Times New Roman"/>
              <a:cs typeface="Times New Roman"/>
            </a:endParaRPr>
          </a:p>
          <a:p>
            <a:pPr marL="113030">
              <a:lnSpc>
                <a:spcPct val="100000"/>
              </a:lnSpc>
            </a:pPr>
            <a:r>
              <a:rPr sz="1200" spc="-10" dirty="0">
                <a:latin typeface="Times New Roman"/>
                <a:cs typeface="Times New Roman"/>
              </a:rPr>
              <a:t>PlayTicTacToe():</a:t>
            </a:r>
            <a:endParaRPr sz="1200">
              <a:latin typeface="Times New Roman"/>
              <a:cs typeface="Times New Roman"/>
            </a:endParaRPr>
          </a:p>
          <a:p>
            <a:pPr marL="247650" marR="3248025">
              <a:lnSpc>
                <a:spcPct val="102099"/>
              </a:lnSpc>
              <a:spcBef>
                <a:spcPts val="30"/>
              </a:spcBef>
            </a:pPr>
            <a:r>
              <a:rPr sz="1200" dirty="0">
                <a:latin typeface="Times New Roman"/>
                <a:cs typeface="Times New Roman"/>
              </a:rPr>
              <a:t>Board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InitializeBoard() CurrentPlayer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'X'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// </a:t>
            </a:r>
            <a:r>
              <a:rPr sz="1200" dirty="0">
                <a:latin typeface="Times New Roman"/>
                <a:cs typeface="Times New Roman"/>
              </a:rPr>
              <a:t>Player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'X'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starts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200">
              <a:latin typeface="Times New Roman"/>
              <a:cs typeface="Times New Roman"/>
            </a:endParaRPr>
          </a:p>
          <a:p>
            <a:pPr marL="381635" marR="3538220" indent="-137160">
              <a:lnSpc>
                <a:spcPct val="102499"/>
              </a:lnSpc>
            </a:pPr>
            <a:r>
              <a:rPr sz="1200" dirty="0">
                <a:latin typeface="Times New Roman"/>
                <a:cs typeface="Times New Roman"/>
              </a:rPr>
              <a:t>While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True: </a:t>
            </a:r>
            <a:r>
              <a:rPr sz="1200" spc="-20" dirty="0">
                <a:latin typeface="Times New Roman"/>
                <a:cs typeface="Times New Roman"/>
              </a:rPr>
              <a:t>DisplayBoard(Boa </a:t>
            </a:r>
            <a:r>
              <a:rPr sz="1200" spc="-25" dirty="0">
                <a:latin typeface="Times New Roman"/>
                <a:cs typeface="Times New Roman"/>
              </a:rPr>
              <a:t>rd)</a:t>
            </a:r>
            <a:endParaRPr sz="1200">
              <a:latin typeface="Times New Roman"/>
              <a:cs typeface="Times New Roman"/>
            </a:endParaRPr>
          </a:p>
          <a:p>
            <a:pPr marL="381635">
              <a:lnSpc>
                <a:spcPct val="100000"/>
              </a:lnSpc>
              <a:spcBef>
                <a:spcPts val="35"/>
              </a:spcBef>
            </a:pPr>
            <a:r>
              <a:rPr sz="1200" spc="-10" dirty="0">
                <a:latin typeface="Times New Roman"/>
                <a:cs typeface="Times New Roman"/>
              </a:rPr>
              <a:t>PlayerMove(Board,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CurrentPlayer)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200">
              <a:latin typeface="Times New Roman"/>
              <a:cs typeface="Times New Roman"/>
            </a:endParaRPr>
          </a:p>
          <a:p>
            <a:pPr marL="515620" marR="2442845" indent="-134620">
              <a:lnSpc>
                <a:spcPct val="102499"/>
              </a:lnSpc>
            </a:pPr>
            <a:r>
              <a:rPr sz="1200" spc="-10" dirty="0">
                <a:latin typeface="Times New Roman"/>
                <a:cs typeface="Times New Roman"/>
              </a:rPr>
              <a:t>If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CheckWin(Board,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CurrentPlayer): DisplayBoard(Board)</a:t>
            </a:r>
            <a:endParaRPr sz="1200">
              <a:latin typeface="Times New Roman"/>
              <a:cs typeface="Times New Roman"/>
            </a:endParaRPr>
          </a:p>
          <a:p>
            <a:pPr marL="515620" marR="3143250">
              <a:lnSpc>
                <a:spcPts val="1480"/>
              </a:lnSpc>
              <a:spcBef>
                <a:spcPts val="40"/>
              </a:spcBef>
            </a:pPr>
            <a:r>
              <a:rPr sz="1200" spc="-10" dirty="0">
                <a:latin typeface="Times New Roman"/>
                <a:cs typeface="Times New Roman"/>
              </a:rPr>
              <a:t>Print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"Player", CurrentPlayer,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"wins!" Break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6448" y="914399"/>
            <a:ext cx="6489065" cy="8735695"/>
          </a:xfrm>
          <a:custGeom>
            <a:avLst/>
            <a:gdLst/>
            <a:ahLst/>
            <a:cxnLst/>
            <a:rect l="l" t="t" r="r" b="b"/>
            <a:pathLst>
              <a:path w="6489065" h="8735695">
                <a:moveTo>
                  <a:pt x="6488938" y="8729180"/>
                </a:moveTo>
                <a:lnTo>
                  <a:pt x="6482842" y="8729180"/>
                </a:lnTo>
                <a:lnTo>
                  <a:pt x="6096" y="8729180"/>
                </a:lnTo>
                <a:lnTo>
                  <a:pt x="0" y="8729180"/>
                </a:lnTo>
                <a:lnTo>
                  <a:pt x="0" y="8735263"/>
                </a:lnTo>
                <a:lnTo>
                  <a:pt x="6096" y="8735263"/>
                </a:lnTo>
                <a:lnTo>
                  <a:pt x="6482842" y="8735263"/>
                </a:lnTo>
                <a:lnTo>
                  <a:pt x="6488938" y="8735263"/>
                </a:lnTo>
                <a:lnTo>
                  <a:pt x="6488938" y="8729180"/>
                </a:lnTo>
                <a:close/>
              </a:path>
              <a:path w="6489065" h="8735695">
                <a:moveTo>
                  <a:pt x="6488938" y="0"/>
                </a:moveTo>
                <a:lnTo>
                  <a:pt x="6482842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8729167"/>
                </a:lnTo>
                <a:lnTo>
                  <a:pt x="6096" y="8729167"/>
                </a:lnTo>
                <a:lnTo>
                  <a:pt x="6096" y="6096"/>
                </a:lnTo>
                <a:lnTo>
                  <a:pt x="6482842" y="6096"/>
                </a:lnTo>
                <a:lnTo>
                  <a:pt x="6482842" y="8729167"/>
                </a:lnTo>
                <a:lnTo>
                  <a:pt x="6488938" y="8729167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76873" y="6249288"/>
            <a:ext cx="70485" cy="170815"/>
          </a:xfrm>
          <a:custGeom>
            <a:avLst/>
            <a:gdLst/>
            <a:ahLst/>
            <a:cxnLst/>
            <a:rect l="l" t="t" r="r" b="b"/>
            <a:pathLst>
              <a:path w="70485" h="170814">
                <a:moveTo>
                  <a:pt x="70103" y="0"/>
                </a:moveTo>
                <a:lnTo>
                  <a:pt x="0" y="0"/>
                </a:lnTo>
                <a:lnTo>
                  <a:pt x="0" y="170687"/>
                </a:lnTo>
                <a:lnTo>
                  <a:pt x="70103" y="170687"/>
                </a:lnTo>
                <a:lnTo>
                  <a:pt x="70103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27654" y="6595236"/>
            <a:ext cx="264160" cy="161925"/>
          </a:xfrm>
          <a:custGeom>
            <a:avLst/>
            <a:gdLst/>
            <a:ahLst/>
            <a:cxnLst/>
            <a:rect l="l" t="t" r="r" b="b"/>
            <a:pathLst>
              <a:path w="264160" h="161925">
                <a:moveTo>
                  <a:pt x="263651" y="0"/>
                </a:moveTo>
                <a:lnTo>
                  <a:pt x="0" y="0"/>
                </a:lnTo>
                <a:lnTo>
                  <a:pt x="0" y="161544"/>
                </a:lnTo>
                <a:lnTo>
                  <a:pt x="263651" y="161544"/>
                </a:lnTo>
                <a:lnTo>
                  <a:pt x="263651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876290" y="6595236"/>
            <a:ext cx="213360" cy="161925"/>
          </a:xfrm>
          <a:custGeom>
            <a:avLst/>
            <a:gdLst/>
            <a:ahLst/>
            <a:cxnLst/>
            <a:rect l="l" t="t" r="r" b="b"/>
            <a:pathLst>
              <a:path w="213360" h="161925">
                <a:moveTo>
                  <a:pt x="213360" y="0"/>
                </a:moveTo>
                <a:lnTo>
                  <a:pt x="0" y="0"/>
                </a:lnTo>
                <a:lnTo>
                  <a:pt x="0" y="161544"/>
                </a:lnTo>
                <a:lnTo>
                  <a:pt x="213360" y="161544"/>
                </a:lnTo>
                <a:lnTo>
                  <a:pt x="213360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36447" y="914399"/>
          <a:ext cx="6482079" cy="8675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0794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211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If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CheckDraw(Board):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DisplayBoard(Board)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"It's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draw!"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Break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2110" marR="5118100">
                        <a:lnSpc>
                          <a:spcPct val="1016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Switch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player If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CurrentPlayer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609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==</a:t>
                      </a:r>
                      <a:r>
                        <a:rPr sz="12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'X':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6095" marR="4991100">
                        <a:lnSpc>
                          <a:spcPct val="101699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CurrentPlayer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=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'O'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7211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Else: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0609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CurrentPlayer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'X'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3505" marR="5366385">
                        <a:lnSpc>
                          <a:spcPct val="103299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//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game 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PlayTicTacToe()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4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24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0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Statement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&amp;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Objectives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Representation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Input/Output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Requirements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8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complexity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analysis: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33985" marR="658495">
                        <a:lnSpc>
                          <a:spcPts val="1260"/>
                        </a:lnSpc>
                        <a:spcBef>
                          <a:spcPts val="6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now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discuss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code.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algorithm will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help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any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programming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language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choice.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Let’s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see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100" spc="1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it’s</a:t>
                      </a:r>
                      <a:r>
                        <a:rPr sz="1100" spc="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done.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2-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dimensional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array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initialize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element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empty.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spcBef>
                          <a:spcPts val="660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represent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empty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symbol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like.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Here,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going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hyphen.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'-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'.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spcBef>
                          <a:spcPts val="25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filled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not.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00"/>
                        </a:lnSpc>
                        <a:spcBef>
                          <a:spcPts val="10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Iterate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return false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contains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empty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else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return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true.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00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function to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player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won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not.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spcBef>
                          <a:spcPts val="50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possibilities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that we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discussed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previous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section.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spcBef>
                          <a:spcPts val="25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rows,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columns,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 two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diagonals.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marR="762000" indent="-228600">
                        <a:lnSpc>
                          <a:spcPts val="1260"/>
                        </a:lnSpc>
                        <a:spcBef>
                          <a:spcPts val="105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multiple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times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users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while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they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playing.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23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start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game.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0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Select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turn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player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randomly.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spcBef>
                          <a:spcPts val="45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1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infinite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loop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breaks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game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over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(either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win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draw).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ct val="100000"/>
                        </a:lnSpc>
                        <a:spcBef>
                          <a:spcPts val="25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 select</a:t>
                      </a:r>
                      <a:r>
                        <a:rPr sz="11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spot</a:t>
                      </a:r>
                      <a:r>
                        <a:rPr sz="11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1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next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move.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00"/>
                        </a:lnSpc>
                        <a:spcBef>
                          <a:spcPts val="10"/>
                        </a:spcBef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Ask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1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enter</a:t>
                      </a:r>
                      <a:r>
                        <a:rPr sz="11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row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column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number.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28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Update the spot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respective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player</a:t>
                      </a:r>
                      <a:r>
                        <a:rPr sz="11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sign.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28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sz="11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player</a:t>
                      </a:r>
                      <a:r>
                        <a:rPr sz="11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won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game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not.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28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current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player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won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game,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print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winning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break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infinite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loop.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29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Next,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whether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filled</a:t>
                      </a:r>
                      <a:r>
                        <a:rPr sz="11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not.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295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board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filled,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print 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draw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message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break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infinite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loop.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00"/>
                        </a:lnSpc>
                        <a:buSzPct val="90909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Finally,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show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user</a:t>
                      </a:r>
                      <a:r>
                        <a:rPr sz="11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final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board.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810"/>
            <a:ext cx="111569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TIC-</a:t>
            </a:r>
            <a:r>
              <a:rPr sz="16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TAC-</a:t>
            </a:r>
            <a:r>
              <a:rPr sz="16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TOE: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184" y="1763775"/>
            <a:ext cx="6515100" cy="573023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914399"/>
            <a:ext cx="5735751" cy="78327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6900" y="1005585"/>
            <a:ext cx="11582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Assignment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No.</a:t>
            </a:r>
            <a:r>
              <a:rPr sz="1200" b="1" spc="20" dirty="0">
                <a:latin typeface="Times New Roman"/>
                <a:cs typeface="Times New Roman"/>
              </a:rPr>
              <a:t> </a:t>
            </a:r>
            <a:r>
              <a:rPr sz="1200" b="1" spc="-50" dirty="0">
                <a:latin typeface="Times New Roman"/>
                <a:cs typeface="Times New Roman"/>
              </a:rPr>
              <a:t>4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13528" y="984250"/>
            <a:ext cx="11029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Assignment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448" y="1016507"/>
            <a:ext cx="6489065" cy="375285"/>
          </a:xfrm>
          <a:custGeom>
            <a:avLst/>
            <a:gdLst/>
            <a:ahLst/>
            <a:cxnLst/>
            <a:rect l="l" t="t" r="r" b="b"/>
            <a:pathLst>
              <a:path w="6489065" h="375284">
                <a:moveTo>
                  <a:pt x="6482715" y="0"/>
                </a:moveTo>
                <a:lnTo>
                  <a:pt x="4019677" y="0"/>
                </a:lnTo>
                <a:lnTo>
                  <a:pt x="4013581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375158"/>
                </a:lnTo>
                <a:lnTo>
                  <a:pt x="6096" y="375158"/>
                </a:lnTo>
                <a:lnTo>
                  <a:pt x="6096" y="6096"/>
                </a:lnTo>
                <a:lnTo>
                  <a:pt x="4013581" y="6096"/>
                </a:lnTo>
                <a:lnTo>
                  <a:pt x="4013581" y="375158"/>
                </a:lnTo>
                <a:lnTo>
                  <a:pt x="4019677" y="375158"/>
                </a:lnTo>
                <a:lnTo>
                  <a:pt x="4019677" y="6096"/>
                </a:lnTo>
                <a:lnTo>
                  <a:pt x="6482715" y="6096"/>
                </a:lnTo>
                <a:lnTo>
                  <a:pt x="6482715" y="0"/>
                </a:lnTo>
                <a:close/>
              </a:path>
              <a:path w="6489065" h="375284">
                <a:moveTo>
                  <a:pt x="6488938" y="0"/>
                </a:moveTo>
                <a:lnTo>
                  <a:pt x="6482842" y="0"/>
                </a:lnTo>
                <a:lnTo>
                  <a:pt x="6482842" y="6045"/>
                </a:lnTo>
                <a:lnTo>
                  <a:pt x="6482842" y="375158"/>
                </a:lnTo>
                <a:lnTo>
                  <a:pt x="6488938" y="375158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6900" y="1378965"/>
            <a:ext cx="385508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Title: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latin typeface="Times New Roman"/>
                <a:cs typeface="Times New Roman"/>
              </a:rPr>
              <a:t>Demonstrate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313690" indent="-227965">
              <a:lnSpc>
                <a:spcPct val="100000"/>
              </a:lnSpc>
              <a:spcBef>
                <a:spcPts val="10"/>
              </a:spcBef>
              <a:buAutoNum type="alphaLcPeriod"/>
              <a:tabLst>
                <a:tab pos="313690" algn="l"/>
              </a:tabLst>
            </a:pPr>
            <a:r>
              <a:rPr sz="1200" dirty="0">
                <a:latin typeface="Times New Roman"/>
                <a:cs typeface="Times New Roman"/>
              </a:rPr>
              <a:t>Math,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Scipy</a:t>
            </a:r>
            <a:endParaRPr sz="1200">
              <a:latin typeface="Times New Roman"/>
              <a:cs typeface="Times New Roman"/>
            </a:endParaRPr>
          </a:p>
          <a:p>
            <a:pPr marL="314325" indent="-228600">
              <a:lnSpc>
                <a:spcPct val="100000"/>
              </a:lnSpc>
              <a:spcBef>
                <a:spcPts val="10"/>
              </a:spcBef>
              <a:buAutoNum type="alphaLcPeriod"/>
              <a:tabLst>
                <a:tab pos="314325" algn="l"/>
              </a:tabLst>
            </a:pPr>
            <a:r>
              <a:rPr sz="1200" dirty="0">
                <a:latin typeface="Times New Roman"/>
                <a:cs typeface="Times New Roman"/>
              </a:rPr>
              <a:t>Pandas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implementation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10" dirty="0">
                <a:latin typeface="Times New Roman"/>
                <a:cs typeface="Times New Roman"/>
              </a:rPr>
              <a:t> dataset.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13528" y="1359153"/>
            <a:ext cx="10877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Submission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Date: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6448" y="1391665"/>
            <a:ext cx="6489065" cy="1655445"/>
          </a:xfrm>
          <a:custGeom>
            <a:avLst/>
            <a:gdLst/>
            <a:ahLst/>
            <a:cxnLst/>
            <a:rect l="l" t="t" r="r" b="b"/>
            <a:pathLst>
              <a:path w="6489065" h="1655445">
                <a:moveTo>
                  <a:pt x="6482715" y="0"/>
                </a:moveTo>
                <a:lnTo>
                  <a:pt x="4019677" y="0"/>
                </a:lnTo>
                <a:lnTo>
                  <a:pt x="4013581" y="0"/>
                </a:lnTo>
                <a:lnTo>
                  <a:pt x="4013581" y="6096"/>
                </a:lnTo>
                <a:lnTo>
                  <a:pt x="4013581" y="917448"/>
                </a:lnTo>
                <a:lnTo>
                  <a:pt x="6096" y="917448"/>
                </a:lnTo>
                <a:lnTo>
                  <a:pt x="6096" y="6096"/>
                </a:lnTo>
                <a:lnTo>
                  <a:pt x="4013581" y="6096"/>
                </a:lnTo>
                <a:lnTo>
                  <a:pt x="4013581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917448"/>
                </a:lnTo>
                <a:lnTo>
                  <a:pt x="0" y="923544"/>
                </a:lnTo>
                <a:lnTo>
                  <a:pt x="0" y="1655064"/>
                </a:lnTo>
                <a:lnTo>
                  <a:pt x="6096" y="1655064"/>
                </a:lnTo>
                <a:lnTo>
                  <a:pt x="6096" y="923544"/>
                </a:lnTo>
                <a:lnTo>
                  <a:pt x="4013581" y="923544"/>
                </a:lnTo>
                <a:lnTo>
                  <a:pt x="4019677" y="923544"/>
                </a:lnTo>
                <a:lnTo>
                  <a:pt x="6482715" y="923544"/>
                </a:lnTo>
                <a:lnTo>
                  <a:pt x="6482715" y="917448"/>
                </a:lnTo>
                <a:lnTo>
                  <a:pt x="4019677" y="917448"/>
                </a:lnTo>
                <a:lnTo>
                  <a:pt x="4019677" y="6096"/>
                </a:lnTo>
                <a:lnTo>
                  <a:pt x="6482715" y="6096"/>
                </a:lnTo>
                <a:lnTo>
                  <a:pt x="6482715" y="0"/>
                </a:lnTo>
                <a:close/>
              </a:path>
              <a:path w="6489065" h="1655445">
                <a:moveTo>
                  <a:pt x="6488938" y="0"/>
                </a:moveTo>
                <a:lnTo>
                  <a:pt x="6482842" y="0"/>
                </a:lnTo>
                <a:lnTo>
                  <a:pt x="6482842" y="6096"/>
                </a:lnTo>
                <a:lnTo>
                  <a:pt x="6482842" y="917448"/>
                </a:lnTo>
                <a:lnTo>
                  <a:pt x="6482842" y="923544"/>
                </a:lnTo>
                <a:lnTo>
                  <a:pt x="6482842" y="1655064"/>
                </a:lnTo>
                <a:lnTo>
                  <a:pt x="6488938" y="1655064"/>
                </a:lnTo>
                <a:lnTo>
                  <a:pt x="6488938" y="923544"/>
                </a:lnTo>
                <a:lnTo>
                  <a:pt x="6488938" y="917448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96900" y="2294890"/>
            <a:ext cx="6320155" cy="1998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5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Problem</a:t>
            </a:r>
            <a:r>
              <a:rPr sz="1200" b="1" spc="-6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Statement: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35"/>
              </a:lnSpc>
            </a:pPr>
            <a:r>
              <a:rPr sz="1200" spc="-10" dirty="0">
                <a:latin typeface="Times New Roman"/>
                <a:cs typeface="Times New Roman"/>
              </a:rPr>
              <a:t>Demonstrate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1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1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</a:t>
            </a:r>
            <a:endParaRPr sz="1200">
              <a:latin typeface="Times New Roman"/>
              <a:cs typeface="Times New Roman"/>
            </a:endParaRPr>
          </a:p>
          <a:p>
            <a:pPr marL="313690" indent="-227965">
              <a:lnSpc>
                <a:spcPct val="100000"/>
              </a:lnSpc>
              <a:spcBef>
                <a:spcPts val="10"/>
              </a:spcBef>
              <a:buAutoNum type="alphaLcPeriod"/>
              <a:tabLst>
                <a:tab pos="313690" algn="l"/>
              </a:tabLst>
            </a:pPr>
            <a:r>
              <a:rPr sz="1200" dirty="0">
                <a:latin typeface="Times New Roman"/>
                <a:cs typeface="Times New Roman"/>
              </a:rPr>
              <a:t>Math,</a:t>
            </a:r>
            <a:r>
              <a:rPr sz="1200" spc="1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Scipy</a:t>
            </a:r>
            <a:endParaRPr sz="1200">
              <a:latin typeface="Times New Roman"/>
              <a:cs typeface="Times New Roman"/>
            </a:endParaRPr>
          </a:p>
          <a:p>
            <a:pPr marL="314325" indent="-228600">
              <a:lnSpc>
                <a:spcPct val="100000"/>
              </a:lnSpc>
              <a:spcBef>
                <a:spcPts val="10"/>
              </a:spcBef>
              <a:buAutoNum type="alphaLcPeriod"/>
              <a:tabLst>
                <a:tab pos="314325" algn="l"/>
              </a:tabLst>
            </a:pPr>
            <a:r>
              <a:rPr sz="1200" dirty="0">
                <a:latin typeface="Times New Roman"/>
                <a:cs typeface="Times New Roman"/>
              </a:rPr>
              <a:t>Pandas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implementation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-10" dirty="0">
                <a:latin typeface="Times New Roman"/>
                <a:cs typeface="Times New Roman"/>
              </a:rPr>
              <a:t> dataset.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25"/>
              </a:spcBef>
            </a:pPr>
            <a:r>
              <a:rPr sz="1200" b="1" spc="-10" dirty="0">
                <a:latin typeface="Times New Roman"/>
                <a:cs typeface="Times New Roman"/>
              </a:rPr>
              <a:t>Theory: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ts val="1380"/>
              </a:lnSpc>
              <a:spcBef>
                <a:spcPts val="70"/>
              </a:spcBef>
            </a:pPr>
            <a:r>
              <a:rPr sz="1200" spc="-10" dirty="0">
                <a:latin typeface="Times New Roman"/>
                <a:cs typeface="Times New Roman"/>
              </a:rPr>
              <a:t>Python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powerful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programming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language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that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offers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several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built-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third-</a:t>
            </a:r>
            <a:r>
              <a:rPr sz="1200" spc="-10" dirty="0">
                <a:latin typeface="Times New Roman"/>
                <a:cs typeface="Times New Roman"/>
              </a:rPr>
              <a:t>party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</a:t>
            </a:r>
            <a:r>
              <a:rPr sz="1200" spc="-25" dirty="0">
                <a:latin typeface="Times New Roman"/>
                <a:cs typeface="Times New Roman"/>
              </a:rPr>
              <a:t> for </a:t>
            </a:r>
            <a:r>
              <a:rPr sz="1200" spc="-20" dirty="0">
                <a:latin typeface="Times New Roman"/>
                <a:cs typeface="Times New Roman"/>
              </a:rPr>
              <a:t>scientific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computing,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visualization.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experiment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aims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introduce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fundamental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libraries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science:</a:t>
            </a:r>
            <a:endParaRPr sz="1200">
              <a:latin typeface="Times New Roman"/>
              <a:cs typeface="Times New Roman"/>
            </a:endParaRPr>
          </a:p>
          <a:p>
            <a:pPr marL="160020" indent="-147320">
              <a:lnSpc>
                <a:spcPts val="1320"/>
              </a:lnSpc>
              <a:buAutoNum type="arabicPeriod"/>
              <a:tabLst>
                <a:tab pos="160020" algn="l"/>
              </a:tabLst>
            </a:pPr>
            <a:r>
              <a:rPr sz="1200" b="1" spc="-20" dirty="0">
                <a:latin typeface="Times New Roman"/>
                <a:cs typeface="Times New Roman"/>
              </a:rPr>
              <a:t>math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spc="-25" dirty="0">
                <a:latin typeface="Times New Roman"/>
                <a:cs typeface="Times New Roman"/>
              </a:rPr>
              <a:t>Built-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module.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Provides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functions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square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root,</a:t>
            </a:r>
            <a:r>
              <a:rPr sz="1200" spc="-20" dirty="0">
                <a:latin typeface="Times New Roman"/>
                <a:cs typeface="Times New Roman"/>
              </a:rPr>
              <a:t> factorial,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trigonometry,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2168" y="4287646"/>
          <a:ext cx="4714240" cy="2258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1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920"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Name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Description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81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130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2"/>
                        </a:rPr>
                        <a:t>ceil(x)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5565" marR="342265">
                        <a:lnSpc>
                          <a:spcPts val="1380"/>
                        </a:lnSpc>
                        <a:spcBef>
                          <a:spcPts val="33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smallest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greater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9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70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sz="12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copysign(x,</a:t>
                      </a:r>
                      <a:r>
                        <a:rPr sz="1200" u="sng" spc="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 </a:t>
                      </a:r>
                      <a:r>
                        <a:rPr sz="12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3"/>
                        </a:rPr>
                        <a:t>y)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55880" marB="0"/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‘x’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18795" algn="ctr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sign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‘y’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410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2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4"/>
                        </a:rPr>
                        <a:t>fabs(x)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/>
                </a:tc>
                <a:tc>
                  <a:txBody>
                    <a:bodyPr/>
                    <a:lstStyle/>
                    <a:p>
                      <a:pPr marL="5854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absolute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13335">
                        <a:lnSpc>
                          <a:spcPts val="1380"/>
                        </a:lnSpc>
                      </a:pPr>
                      <a:r>
                        <a:rPr sz="12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5"/>
                        </a:rPr>
                        <a:t>factorial(x)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065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factorial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u="sng" spc="-10" dirty="0">
                          <a:uFill>
                            <a:solidFill>
                              <a:srgbClr val="000000"/>
                            </a:solidFill>
                          </a:uFill>
                          <a:latin typeface="Times New Roman"/>
                          <a:cs typeface="Times New Roman"/>
                          <a:hlinkClick r:id="rId6"/>
                        </a:rPr>
                        <a:t>floor(x)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75565" marR="343535">
                        <a:lnSpc>
                          <a:spcPts val="1380"/>
                        </a:lnSpc>
                        <a:spcBef>
                          <a:spcPts val="35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Returns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greatest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integral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smaller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number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4508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579120" y="4284611"/>
            <a:ext cx="4721225" cy="1852295"/>
          </a:xfrm>
          <a:custGeom>
            <a:avLst/>
            <a:gdLst/>
            <a:ahLst/>
            <a:cxnLst/>
            <a:rect l="l" t="t" r="r" b="b"/>
            <a:pathLst>
              <a:path w="4721225" h="1852295">
                <a:moveTo>
                  <a:pt x="4720717" y="781812"/>
                </a:moveTo>
                <a:lnTo>
                  <a:pt x="4714621" y="781812"/>
                </a:lnTo>
                <a:lnTo>
                  <a:pt x="4714621" y="787895"/>
                </a:lnTo>
                <a:lnTo>
                  <a:pt x="4714621" y="1202423"/>
                </a:lnTo>
                <a:lnTo>
                  <a:pt x="4714621" y="1208519"/>
                </a:lnTo>
                <a:lnTo>
                  <a:pt x="4714621" y="1562341"/>
                </a:lnTo>
                <a:lnTo>
                  <a:pt x="1228598" y="1562341"/>
                </a:lnTo>
                <a:lnTo>
                  <a:pt x="1228598" y="1208519"/>
                </a:lnTo>
                <a:lnTo>
                  <a:pt x="4714621" y="1208519"/>
                </a:lnTo>
                <a:lnTo>
                  <a:pt x="4714621" y="1202423"/>
                </a:lnTo>
                <a:lnTo>
                  <a:pt x="1228598" y="1202423"/>
                </a:lnTo>
                <a:lnTo>
                  <a:pt x="1228598" y="787895"/>
                </a:lnTo>
                <a:lnTo>
                  <a:pt x="4714621" y="787895"/>
                </a:lnTo>
                <a:lnTo>
                  <a:pt x="4714621" y="781812"/>
                </a:lnTo>
                <a:lnTo>
                  <a:pt x="1228598" y="781812"/>
                </a:lnTo>
                <a:lnTo>
                  <a:pt x="1222552" y="781812"/>
                </a:lnTo>
                <a:lnTo>
                  <a:pt x="1222502" y="787895"/>
                </a:lnTo>
                <a:lnTo>
                  <a:pt x="1222502" y="1202423"/>
                </a:lnTo>
                <a:lnTo>
                  <a:pt x="1222502" y="1208519"/>
                </a:lnTo>
                <a:lnTo>
                  <a:pt x="1222502" y="1562341"/>
                </a:lnTo>
                <a:lnTo>
                  <a:pt x="6096" y="1562341"/>
                </a:lnTo>
                <a:lnTo>
                  <a:pt x="6096" y="1208519"/>
                </a:lnTo>
                <a:lnTo>
                  <a:pt x="1222502" y="1208519"/>
                </a:lnTo>
                <a:lnTo>
                  <a:pt x="1222502" y="1202423"/>
                </a:lnTo>
                <a:lnTo>
                  <a:pt x="6096" y="1202423"/>
                </a:lnTo>
                <a:lnTo>
                  <a:pt x="6096" y="787895"/>
                </a:lnTo>
                <a:lnTo>
                  <a:pt x="1222502" y="787895"/>
                </a:lnTo>
                <a:lnTo>
                  <a:pt x="1222502" y="781812"/>
                </a:lnTo>
                <a:lnTo>
                  <a:pt x="6096" y="781812"/>
                </a:lnTo>
                <a:lnTo>
                  <a:pt x="0" y="781812"/>
                </a:lnTo>
                <a:lnTo>
                  <a:pt x="0" y="787895"/>
                </a:lnTo>
                <a:lnTo>
                  <a:pt x="0" y="1851901"/>
                </a:lnTo>
                <a:lnTo>
                  <a:pt x="6096" y="1851901"/>
                </a:lnTo>
                <a:lnTo>
                  <a:pt x="6096" y="1568437"/>
                </a:lnTo>
                <a:lnTo>
                  <a:pt x="1222502" y="1568437"/>
                </a:lnTo>
                <a:lnTo>
                  <a:pt x="1222502" y="1851901"/>
                </a:lnTo>
                <a:lnTo>
                  <a:pt x="1228598" y="1851901"/>
                </a:lnTo>
                <a:lnTo>
                  <a:pt x="1228598" y="1568437"/>
                </a:lnTo>
                <a:lnTo>
                  <a:pt x="4714621" y="1568437"/>
                </a:lnTo>
                <a:lnTo>
                  <a:pt x="4714621" y="1851901"/>
                </a:lnTo>
                <a:lnTo>
                  <a:pt x="4720717" y="1851901"/>
                </a:lnTo>
                <a:lnTo>
                  <a:pt x="4720717" y="787895"/>
                </a:lnTo>
                <a:lnTo>
                  <a:pt x="4720717" y="781812"/>
                </a:lnTo>
                <a:close/>
              </a:path>
              <a:path w="4721225" h="1852295">
                <a:moveTo>
                  <a:pt x="4720717" y="0"/>
                </a:moveTo>
                <a:lnTo>
                  <a:pt x="4714621" y="0"/>
                </a:lnTo>
                <a:lnTo>
                  <a:pt x="4714621" y="6083"/>
                </a:lnTo>
                <a:lnTo>
                  <a:pt x="4714621" y="376415"/>
                </a:lnTo>
                <a:lnTo>
                  <a:pt x="1228598" y="376415"/>
                </a:lnTo>
                <a:lnTo>
                  <a:pt x="1228598" y="6083"/>
                </a:lnTo>
                <a:lnTo>
                  <a:pt x="4714621" y="6083"/>
                </a:lnTo>
                <a:lnTo>
                  <a:pt x="4714621" y="0"/>
                </a:lnTo>
                <a:lnTo>
                  <a:pt x="1228598" y="0"/>
                </a:lnTo>
                <a:lnTo>
                  <a:pt x="1222552" y="0"/>
                </a:lnTo>
                <a:lnTo>
                  <a:pt x="1222502" y="6083"/>
                </a:lnTo>
                <a:lnTo>
                  <a:pt x="1222502" y="376415"/>
                </a:lnTo>
                <a:lnTo>
                  <a:pt x="6096" y="376415"/>
                </a:lnTo>
                <a:lnTo>
                  <a:pt x="6096" y="6083"/>
                </a:lnTo>
                <a:lnTo>
                  <a:pt x="1222502" y="6083"/>
                </a:lnTo>
                <a:lnTo>
                  <a:pt x="1222502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376415"/>
                </a:lnTo>
                <a:lnTo>
                  <a:pt x="0" y="382511"/>
                </a:lnTo>
                <a:lnTo>
                  <a:pt x="0" y="781799"/>
                </a:lnTo>
                <a:lnTo>
                  <a:pt x="6096" y="781799"/>
                </a:lnTo>
                <a:lnTo>
                  <a:pt x="6096" y="382511"/>
                </a:lnTo>
                <a:lnTo>
                  <a:pt x="1222502" y="382511"/>
                </a:lnTo>
                <a:lnTo>
                  <a:pt x="1222502" y="781799"/>
                </a:lnTo>
                <a:lnTo>
                  <a:pt x="1228598" y="781799"/>
                </a:lnTo>
                <a:lnTo>
                  <a:pt x="1228598" y="382511"/>
                </a:lnTo>
                <a:lnTo>
                  <a:pt x="4714621" y="382511"/>
                </a:lnTo>
                <a:lnTo>
                  <a:pt x="4714621" y="781799"/>
                </a:lnTo>
                <a:lnTo>
                  <a:pt x="4720717" y="781799"/>
                </a:lnTo>
                <a:lnTo>
                  <a:pt x="4720717" y="382511"/>
                </a:lnTo>
                <a:lnTo>
                  <a:pt x="4720717" y="376415"/>
                </a:lnTo>
                <a:lnTo>
                  <a:pt x="4720717" y="6083"/>
                </a:lnTo>
                <a:lnTo>
                  <a:pt x="4720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79120" y="6136525"/>
            <a:ext cx="4721225" cy="417830"/>
          </a:xfrm>
          <a:custGeom>
            <a:avLst/>
            <a:gdLst/>
            <a:ahLst/>
            <a:cxnLst/>
            <a:rect l="l" t="t" r="r" b="b"/>
            <a:pathLst>
              <a:path w="4721225" h="417829">
                <a:moveTo>
                  <a:pt x="4720717" y="0"/>
                </a:moveTo>
                <a:lnTo>
                  <a:pt x="4714621" y="0"/>
                </a:lnTo>
                <a:lnTo>
                  <a:pt x="4714621" y="6083"/>
                </a:lnTo>
                <a:lnTo>
                  <a:pt x="4714621" y="405371"/>
                </a:lnTo>
                <a:lnTo>
                  <a:pt x="1234694" y="405371"/>
                </a:lnTo>
                <a:lnTo>
                  <a:pt x="1228598" y="405371"/>
                </a:lnTo>
                <a:lnTo>
                  <a:pt x="1228598" y="6083"/>
                </a:lnTo>
                <a:lnTo>
                  <a:pt x="4714621" y="6083"/>
                </a:lnTo>
                <a:lnTo>
                  <a:pt x="4714621" y="0"/>
                </a:lnTo>
                <a:lnTo>
                  <a:pt x="1228598" y="0"/>
                </a:lnTo>
                <a:lnTo>
                  <a:pt x="1222552" y="0"/>
                </a:lnTo>
                <a:lnTo>
                  <a:pt x="1222502" y="6083"/>
                </a:lnTo>
                <a:lnTo>
                  <a:pt x="1222502" y="405371"/>
                </a:lnTo>
                <a:lnTo>
                  <a:pt x="6096" y="405371"/>
                </a:lnTo>
                <a:lnTo>
                  <a:pt x="6096" y="6083"/>
                </a:lnTo>
                <a:lnTo>
                  <a:pt x="1222502" y="6083"/>
                </a:lnTo>
                <a:lnTo>
                  <a:pt x="1222502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0" y="405371"/>
                </a:lnTo>
                <a:lnTo>
                  <a:pt x="0" y="417563"/>
                </a:lnTo>
                <a:lnTo>
                  <a:pt x="1222502" y="417563"/>
                </a:lnTo>
                <a:lnTo>
                  <a:pt x="1234694" y="417563"/>
                </a:lnTo>
                <a:lnTo>
                  <a:pt x="4714621" y="417563"/>
                </a:lnTo>
                <a:lnTo>
                  <a:pt x="4720717" y="417563"/>
                </a:lnTo>
                <a:lnTo>
                  <a:pt x="4720717" y="405371"/>
                </a:lnTo>
                <a:lnTo>
                  <a:pt x="4720717" y="6083"/>
                </a:lnTo>
                <a:lnTo>
                  <a:pt x="47207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96900" y="6530720"/>
            <a:ext cx="4269105" cy="735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020" indent="-147320">
              <a:lnSpc>
                <a:spcPts val="1415"/>
              </a:lnSpc>
              <a:spcBef>
                <a:spcPts val="100"/>
              </a:spcBef>
              <a:buAutoNum type="arabicPeriod" startAt="2"/>
              <a:tabLst>
                <a:tab pos="160020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NumPy </a:t>
            </a:r>
            <a:r>
              <a:rPr sz="1200" b="1" spc="-20" dirty="0">
                <a:latin typeface="Times New Roman"/>
                <a:cs typeface="Times New Roman"/>
              </a:rPr>
              <a:t>(Numerical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Python)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5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Provides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powerful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n-dimensional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arrays.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380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Supports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element-</a:t>
            </a:r>
            <a:r>
              <a:rPr sz="1200" spc="-10" dirty="0">
                <a:latin typeface="Times New Roman"/>
                <a:cs typeface="Times New Roman"/>
              </a:rPr>
              <a:t>wise </a:t>
            </a:r>
            <a:r>
              <a:rPr sz="1200" spc="-20" dirty="0">
                <a:latin typeface="Times New Roman"/>
                <a:cs typeface="Times New Roman"/>
              </a:rPr>
              <a:t>mathematical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operations.</a:t>
            </a:r>
            <a:endParaRPr sz="1200">
              <a:latin typeface="Times New Roman"/>
              <a:cs typeface="Times New Roman"/>
            </a:endParaRPr>
          </a:p>
          <a:p>
            <a:pPr marL="402590" lvl="1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02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Useful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linear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algebra,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statistics,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numerical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computations.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5216" y="7258177"/>
            <a:ext cx="1094740" cy="451484"/>
          </a:xfrm>
          <a:custGeom>
            <a:avLst/>
            <a:gdLst/>
            <a:ahLst/>
            <a:cxnLst/>
            <a:rect l="l" t="t" r="r" b="b"/>
            <a:pathLst>
              <a:path w="1094739" h="451484">
                <a:moveTo>
                  <a:pt x="1094536" y="0"/>
                </a:moveTo>
                <a:lnTo>
                  <a:pt x="0" y="0"/>
                </a:lnTo>
                <a:lnTo>
                  <a:pt x="0" y="451103"/>
                </a:lnTo>
                <a:lnTo>
                  <a:pt x="1094536" y="451103"/>
                </a:lnTo>
                <a:lnTo>
                  <a:pt x="1094536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39572" y="7234808"/>
            <a:ext cx="374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Array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679701" y="7258177"/>
            <a:ext cx="3000375" cy="451484"/>
          </a:xfrm>
          <a:custGeom>
            <a:avLst/>
            <a:gdLst/>
            <a:ahLst/>
            <a:cxnLst/>
            <a:rect l="l" t="t" r="r" b="b"/>
            <a:pathLst>
              <a:path w="3000375" h="451484">
                <a:moveTo>
                  <a:pt x="2999867" y="0"/>
                </a:moveTo>
                <a:lnTo>
                  <a:pt x="0" y="0"/>
                </a:lnTo>
                <a:lnTo>
                  <a:pt x="0" y="451103"/>
                </a:lnTo>
                <a:lnTo>
                  <a:pt x="2999867" y="451103"/>
                </a:lnTo>
                <a:lnTo>
                  <a:pt x="2999867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734057" y="7323201"/>
            <a:ext cx="6153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Functions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85216" y="7709356"/>
            <a:ext cx="4094479" cy="622300"/>
          </a:xfrm>
          <a:custGeom>
            <a:avLst/>
            <a:gdLst/>
            <a:ahLst/>
            <a:cxnLst/>
            <a:rect l="l" t="t" r="r" b="b"/>
            <a:pathLst>
              <a:path w="4094479" h="622300">
                <a:moveTo>
                  <a:pt x="4094353" y="0"/>
                </a:moveTo>
                <a:lnTo>
                  <a:pt x="1094536" y="0"/>
                </a:lnTo>
                <a:lnTo>
                  <a:pt x="0" y="0"/>
                </a:lnTo>
                <a:lnTo>
                  <a:pt x="0" y="622096"/>
                </a:lnTo>
                <a:lnTo>
                  <a:pt x="1094486" y="622096"/>
                </a:lnTo>
                <a:lnTo>
                  <a:pt x="4094353" y="622096"/>
                </a:lnTo>
                <a:lnTo>
                  <a:pt x="4094353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734057" y="7686293"/>
            <a:ext cx="2957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np.array(),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np.zeros(),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np.ones(),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np.empty(),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585216" y="8331453"/>
            <a:ext cx="4094479" cy="620395"/>
          </a:xfrm>
          <a:custGeom>
            <a:avLst/>
            <a:gdLst/>
            <a:ahLst/>
            <a:cxnLst/>
            <a:rect l="l" t="t" r="r" b="b"/>
            <a:pathLst>
              <a:path w="4094479" h="620395">
                <a:moveTo>
                  <a:pt x="4094353" y="0"/>
                </a:moveTo>
                <a:lnTo>
                  <a:pt x="1094536" y="0"/>
                </a:lnTo>
                <a:lnTo>
                  <a:pt x="0" y="0"/>
                </a:lnTo>
                <a:lnTo>
                  <a:pt x="0" y="620268"/>
                </a:lnTo>
                <a:lnTo>
                  <a:pt x="1094486" y="620268"/>
                </a:lnTo>
                <a:lnTo>
                  <a:pt x="4094353" y="620268"/>
                </a:lnTo>
                <a:lnTo>
                  <a:pt x="4094353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34057" y="8306561"/>
            <a:ext cx="19951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np.reshape(),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np.transpose(),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5216" y="8951670"/>
            <a:ext cx="1094740" cy="622300"/>
          </a:xfrm>
          <a:custGeom>
            <a:avLst/>
            <a:gdLst/>
            <a:ahLst/>
            <a:cxnLst/>
            <a:rect l="l" t="t" r="r" b="b"/>
            <a:pathLst>
              <a:path w="1094739" h="622300">
                <a:moveTo>
                  <a:pt x="1094536" y="0"/>
                </a:moveTo>
                <a:lnTo>
                  <a:pt x="0" y="0"/>
                </a:lnTo>
                <a:lnTo>
                  <a:pt x="0" y="621791"/>
                </a:lnTo>
                <a:lnTo>
                  <a:pt x="1094536" y="621791"/>
                </a:lnTo>
                <a:lnTo>
                  <a:pt x="1094536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39572" y="7344155"/>
            <a:ext cx="848360" cy="21678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200" spc="-10" dirty="0">
                <a:latin typeface="Times New Roman"/>
                <a:cs typeface="Times New Roman"/>
              </a:rPr>
              <a:t>Operations</a:t>
            </a:r>
            <a:endParaRPr sz="1200">
              <a:latin typeface="Times New Roman"/>
              <a:cs typeface="Times New Roman"/>
            </a:endParaRPr>
          </a:p>
          <a:p>
            <a:pPr marL="12700" marR="237490">
              <a:lnSpc>
                <a:spcPct val="102099"/>
              </a:lnSpc>
              <a:spcBef>
                <a:spcPts val="595"/>
              </a:spcBef>
            </a:pPr>
            <a:r>
              <a:rPr sz="1200" spc="-10" dirty="0">
                <a:latin typeface="Times New Roman"/>
                <a:cs typeface="Times New Roman"/>
              </a:rPr>
              <a:t>Array Creation </a:t>
            </a:r>
            <a:r>
              <a:rPr sz="1200" spc="-20" dirty="0">
                <a:latin typeface="Times New Roman"/>
                <a:cs typeface="Times New Roman"/>
              </a:rPr>
              <a:t>Functions</a:t>
            </a:r>
            <a:endParaRPr sz="1200">
              <a:latin typeface="Times New Roman"/>
              <a:cs typeface="Times New Roman"/>
            </a:endParaRPr>
          </a:p>
          <a:p>
            <a:pPr marL="12700" marR="95885">
              <a:lnSpc>
                <a:spcPct val="102099"/>
              </a:lnSpc>
              <a:spcBef>
                <a:spcPts val="489"/>
              </a:spcBef>
            </a:pPr>
            <a:r>
              <a:rPr sz="1200" spc="-10" dirty="0">
                <a:latin typeface="Times New Roman"/>
                <a:cs typeface="Times New Roman"/>
              </a:rPr>
              <a:t>Array </a:t>
            </a:r>
            <a:r>
              <a:rPr sz="1200" spc="-20" dirty="0">
                <a:latin typeface="Times New Roman"/>
                <a:cs typeface="Times New Roman"/>
              </a:rPr>
              <a:t>Manipulatio </a:t>
            </a:r>
            <a:r>
              <a:rPr sz="1200" dirty="0">
                <a:latin typeface="Times New Roman"/>
                <a:cs typeface="Times New Roman"/>
              </a:rPr>
              <a:t>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Functions</a:t>
            </a:r>
            <a:endParaRPr sz="1200">
              <a:latin typeface="Times New Roman"/>
              <a:cs typeface="Times New Roman"/>
            </a:endParaRPr>
          </a:p>
          <a:p>
            <a:pPr marL="12700" marR="5080">
              <a:lnSpc>
                <a:spcPct val="102499"/>
              </a:lnSpc>
              <a:spcBef>
                <a:spcPts val="465"/>
              </a:spcBef>
            </a:pPr>
            <a:r>
              <a:rPr sz="1200" spc="-10" dirty="0">
                <a:latin typeface="Times New Roman"/>
                <a:cs typeface="Times New Roman"/>
              </a:rPr>
              <a:t>Array </a:t>
            </a:r>
            <a:r>
              <a:rPr sz="1200" spc="-25" dirty="0">
                <a:latin typeface="Times New Roman"/>
                <a:cs typeface="Times New Roman"/>
              </a:rPr>
              <a:t>Mathematical </a:t>
            </a:r>
            <a:r>
              <a:rPr sz="1200" spc="-10" dirty="0">
                <a:latin typeface="Times New Roman"/>
                <a:cs typeface="Times New Roman"/>
              </a:rPr>
              <a:t>Functions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679701" y="8951670"/>
            <a:ext cx="3000375" cy="622300"/>
          </a:xfrm>
          <a:custGeom>
            <a:avLst/>
            <a:gdLst/>
            <a:ahLst/>
            <a:cxnLst/>
            <a:rect l="l" t="t" r="r" b="b"/>
            <a:pathLst>
              <a:path w="3000375" h="622300">
                <a:moveTo>
                  <a:pt x="2999867" y="0"/>
                </a:moveTo>
                <a:lnTo>
                  <a:pt x="0" y="0"/>
                </a:lnTo>
                <a:lnTo>
                  <a:pt x="0" y="621791"/>
                </a:lnTo>
                <a:lnTo>
                  <a:pt x="2999867" y="621791"/>
                </a:lnTo>
                <a:lnTo>
                  <a:pt x="2999867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1734057" y="8928353"/>
            <a:ext cx="2956560" cy="3943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1200" dirty="0">
                <a:latin typeface="Times New Roman"/>
                <a:cs typeface="Times New Roman"/>
              </a:rPr>
              <a:t>np.add(),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np.subtract(),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np.sqrt(),</a:t>
            </a:r>
            <a:r>
              <a:rPr sz="1200" spc="100" dirty="0">
                <a:latin typeface="Times New Roman"/>
                <a:cs typeface="Times New Roman"/>
              </a:rPr>
              <a:t>  </a:t>
            </a:r>
            <a:r>
              <a:rPr sz="1200" spc="-10" dirty="0">
                <a:latin typeface="Times New Roman"/>
                <a:cs typeface="Times New Roman"/>
              </a:rPr>
              <a:t>np.power(), </a:t>
            </a:r>
            <a:r>
              <a:rPr sz="1200" spc="-20" dirty="0">
                <a:latin typeface="Times New Roman"/>
                <a:cs typeface="Times New Roman"/>
              </a:rPr>
              <a:t>etc.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6448" y="3046729"/>
            <a:ext cx="6489065" cy="6534784"/>
          </a:xfrm>
          <a:custGeom>
            <a:avLst/>
            <a:gdLst/>
            <a:ahLst/>
            <a:cxnLst/>
            <a:rect l="l" t="t" r="r" b="b"/>
            <a:pathLst>
              <a:path w="6489065" h="6534784">
                <a:moveTo>
                  <a:pt x="6096" y="6172"/>
                </a:moveTo>
                <a:lnTo>
                  <a:pt x="0" y="6172"/>
                </a:lnTo>
                <a:lnTo>
                  <a:pt x="0" y="6528257"/>
                </a:lnTo>
                <a:lnTo>
                  <a:pt x="6096" y="6528257"/>
                </a:lnTo>
                <a:lnTo>
                  <a:pt x="6096" y="6172"/>
                </a:lnTo>
                <a:close/>
              </a:path>
              <a:path w="6489065" h="6534784">
                <a:moveTo>
                  <a:pt x="6488938" y="6528270"/>
                </a:moveTo>
                <a:lnTo>
                  <a:pt x="6482842" y="6528270"/>
                </a:lnTo>
                <a:lnTo>
                  <a:pt x="6096" y="6528270"/>
                </a:lnTo>
                <a:lnTo>
                  <a:pt x="0" y="6528270"/>
                </a:lnTo>
                <a:lnTo>
                  <a:pt x="0" y="6534353"/>
                </a:lnTo>
                <a:lnTo>
                  <a:pt x="6096" y="6534353"/>
                </a:lnTo>
                <a:lnTo>
                  <a:pt x="6482842" y="6534353"/>
                </a:lnTo>
                <a:lnTo>
                  <a:pt x="6488938" y="6534353"/>
                </a:lnTo>
                <a:lnTo>
                  <a:pt x="6488938" y="6528270"/>
                </a:lnTo>
                <a:close/>
              </a:path>
              <a:path w="6489065" h="6534784">
                <a:moveTo>
                  <a:pt x="6488938" y="6172"/>
                </a:moveTo>
                <a:lnTo>
                  <a:pt x="6482842" y="6172"/>
                </a:lnTo>
                <a:lnTo>
                  <a:pt x="6482842" y="6528257"/>
                </a:lnTo>
                <a:lnTo>
                  <a:pt x="6488938" y="6528257"/>
                </a:lnTo>
                <a:lnTo>
                  <a:pt x="6488938" y="6172"/>
                </a:lnTo>
                <a:close/>
              </a:path>
              <a:path w="6489065" h="6534784">
                <a:moveTo>
                  <a:pt x="6488938" y="0"/>
                </a:moveTo>
                <a:lnTo>
                  <a:pt x="648284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6096" y="6096"/>
                </a:lnTo>
                <a:lnTo>
                  <a:pt x="6482842" y="6096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85216" y="920444"/>
            <a:ext cx="4094479" cy="1722755"/>
          </a:xfrm>
          <a:custGeom>
            <a:avLst/>
            <a:gdLst/>
            <a:ahLst/>
            <a:cxnLst/>
            <a:rect l="l" t="t" r="r" b="b"/>
            <a:pathLst>
              <a:path w="4094479" h="1722755">
                <a:moveTo>
                  <a:pt x="4094353" y="0"/>
                </a:moveTo>
                <a:lnTo>
                  <a:pt x="1094536" y="0"/>
                </a:lnTo>
                <a:lnTo>
                  <a:pt x="0" y="0"/>
                </a:lnTo>
                <a:lnTo>
                  <a:pt x="0" y="926896"/>
                </a:lnTo>
                <a:lnTo>
                  <a:pt x="0" y="1722424"/>
                </a:lnTo>
                <a:lnTo>
                  <a:pt x="1094486" y="1722424"/>
                </a:lnTo>
                <a:lnTo>
                  <a:pt x="4094353" y="1722424"/>
                </a:lnTo>
                <a:lnTo>
                  <a:pt x="4094353" y="926896"/>
                </a:lnTo>
                <a:lnTo>
                  <a:pt x="4094353" y="0"/>
                </a:lnTo>
                <a:close/>
              </a:path>
            </a:pathLst>
          </a:custGeom>
          <a:solidFill>
            <a:srgbClr val="F8F8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36447" y="914399"/>
          <a:ext cx="6482079" cy="8735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6260">
                <a:tc gridSpan="5">
                  <a:txBody>
                    <a:bodyPr/>
                    <a:lstStyle/>
                    <a:p>
                      <a:pPr marL="1207135">
                        <a:lnSpc>
                          <a:spcPts val="12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np.media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12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Array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ts val="1355"/>
                        </a:lnSpc>
                        <a:tabLst>
                          <a:tab pos="1207135" algn="l"/>
                        </a:tabLst>
                      </a:pPr>
                      <a:r>
                        <a:rPr sz="1800" spc="-15" baseline="-9259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800" baseline="-9259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n(),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np.mean(),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np.std(),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np.var().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Functions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 marR="3016250">
                        <a:lnSpc>
                          <a:spcPct val="103299"/>
                        </a:lnSpc>
                        <a:tabLst>
                          <a:tab pos="120713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Array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np.save(),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np.load(),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np.loadtxt(),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etc.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2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2395" marR="5772150">
                        <a:lnSpc>
                          <a:spcPct val="103299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Functions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410"/>
                        </a:lnSpc>
                        <a:spcBef>
                          <a:spcPts val="5"/>
                        </a:spcBef>
                        <a:buAutoNum type="arabicPeriod" startAt="3"/>
                        <a:tabLst>
                          <a:tab pos="217170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SciPy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(Scientific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Python)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top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NumPy.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390525" lvl="1" indent="-228600">
                        <a:lnSpc>
                          <a:spcPts val="1400"/>
                        </a:lnSpc>
                        <a:spcBef>
                          <a:spcPts val="50"/>
                        </a:spcBef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Provides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functions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integration,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optimization, interpolation,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eigenvalue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problems,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other advanced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scientific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computations.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415"/>
                        </a:lnSpc>
                        <a:spcBef>
                          <a:spcPts val="1275"/>
                        </a:spcBef>
                        <a:buAutoNum type="arabicPeriod" startAt="3"/>
                        <a:tabLst>
                          <a:tab pos="217170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Pandas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Offers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DataFrame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Series.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cleaning,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manipulation,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analysis.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Allows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easy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CSV,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Excel,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formats.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385"/>
                        </a:lnSpc>
                        <a:buAutoNum type="arabicPeriod" startAt="3"/>
                        <a:tabLst>
                          <a:tab pos="217170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Matplotlib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visualization.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line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charts,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charts,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histograms,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scatter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plots,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etc.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41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pyplot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commonly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sub-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module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93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1371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Problem Statement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Libraries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Imported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Correctly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2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8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2324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Demonstrated, NumPy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Usage,</a:t>
                      </a:r>
                      <a:r>
                        <a:rPr sz="1200" spc="2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SciPy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Usage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Done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Execution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9235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Flow: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math,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numpy,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scipy,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pandas,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matplotlib.pyplot.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4940" indent="-152400">
                        <a:lnSpc>
                          <a:spcPts val="1390"/>
                        </a:lnSpc>
                        <a:buAutoNum type="arabicPeriod"/>
                        <a:tabLst>
                          <a:tab pos="154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Functions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13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Demonstrate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math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module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functions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factorial,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square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root,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etc.).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6839" indent="-114300">
                        <a:lnSpc>
                          <a:spcPts val="1380"/>
                        </a:lnSpc>
                        <a:buSzPct val="79166"/>
                        <a:buAutoNum type="arabicPeriod" startAt="2"/>
                        <a:tabLst>
                          <a:tab pos="116839" algn="l"/>
                        </a:tabLst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sz="1200" b="1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Pandas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54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sample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Titanic,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.csv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file).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54940" indent="-152400">
                        <a:lnSpc>
                          <a:spcPts val="1380"/>
                        </a:lnSpc>
                        <a:buAutoNum type="arabicPeriod" startAt="3"/>
                        <a:tabLst>
                          <a:tab pos="154940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Preprocess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few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records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nulls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Describe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summary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statistics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6839" indent="-114300">
                        <a:lnSpc>
                          <a:spcPts val="1385"/>
                        </a:lnSpc>
                        <a:buSzPct val="79166"/>
                        <a:buAutoNum type="arabicPeriod" startAt="3"/>
                        <a:tabLst>
                          <a:tab pos="116839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NumPy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SciPy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7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statistics: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median,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deviation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NumPy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495" y="917447"/>
            <a:ext cx="6483350" cy="71056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60375" indent="-228600">
              <a:lnSpc>
                <a:spcPts val="136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SciPy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correlation,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statistics.</a:t>
            </a:r>
            <a:endParaRPr sz="1200">
              <a:latin typeface="Times New Roman"/>
              <a:cs typeface="Times New Roman"/>
            </a:endParaRPr>
          </a:p>
          <a:p>
            <a:pPr marL="254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5.Data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Matplotlib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41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Plot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graphs,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charts,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scatter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plots.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495" y="1627885"/>
            <a:ext cx="6483350" cy="105918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350"/>
              </a:lnSpc>
            </a:pPr>
            <a:r>
              <a:rPr sz="1200" b="1" spc="-10" dirty="0">
                <a:latin typeface="Times New Roman"/>
                <a:cs typeface="Times New Roman"/>
              </a:rPr>
              <a:t>Conclusion:</a:t>
            </a:r>
            <a:endParaRPr sz="1200">
              <a:latin typeface="Times New Roman"/>
              <a:cs typeface="Times New Roman"/>
            </a:endParaRPr>
          </a:p>
          <a:p>
            <a:pPr marL="69850" algn="just">
              <a:lnSpc>
                <a:spcPct val="961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experiment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how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fundamental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simplify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accelerate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analysis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scientific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computations.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built-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third-</a:t>
            </a:r>
            <a:r>
              <a:rPr sz="1200" dirty="0">
                <a:latin typeface="Times New Roman"/>
                <a:cs typeface="Times New Roman"/>
              </a:rPr>
              <a:t>party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libraries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like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SciPy,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Pandas,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 </a:t>
            </a:r>
            <a:r>
              <a:rPr sz="1200" dirty="0">
                <a:latin typeface="Times New Roman"/>
                <a:cs typeface="Times New Roman"/>
              </a:rPr>
              <a:t>Matplotlib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enables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efficient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clear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visualizations,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crucial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skills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287" y="765047"/>
            <a:ext cx="926591" cy="3200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0287" y="1301495"/>
            <a:ext cx="1597152" cy="32004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2376" y="6388607"/>
            <a:ext cx="45720" cy="579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8472" y="6489191"/>
            <a:ext cx="39623" cy="6096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2376" y="6693407"/>
            <a:ext cx="45720" cy="579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02080" y="6793991"/>
            <a:ext cx="42671" cy="609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26335" y="6693407"/>
            <a:ext cx="42672" cy="5791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26335" y="6793991"/>
            <a:ext cx="42672" cy="6096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343911" y="6693407"/>
            <a:ext cx="39624" cy="5791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340864" y="6793991"/>
            <a:ext cx="42672" cy="6096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15112" y="765047"/>
            <a:ext cx="164592" cy="11277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758521" y="1110741"/>
            <a:ext cx="1426210" cy="154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50" dirty="0">
                <a:solidFill>
                  <a:srgbClr val="BFBFBF"/>
                </a:solidFill>
                <a:latin typeface="Calibri"/>
                <a:cs typeface="Calibri"/>
              </a:rPr>
              <a:t>Mp0rt</a:t>
            </a:r>
            <a:r>
              <a:rPr sz="850" spc="409" dirty="0">
                <a:solidFill>
                  <a:srgbClr val="BFBFB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1F1F1F"/>
                </a:solidFill>
                <a:latin typeface="Calibri"/>
                <a:cs typeface="Calibri"/>
              </a:rPr>
              <a:t>sCİpș• 5tZt5</a:t>
            </a:r>
            <a:r>
              <a:rPr sz="850" spc="3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850" dirty="0">
                <a:solidFill>
                  <a:srgbClr val="3D8A34"/>
                </a:solidFill>
                <a:latin typeface="Calibri"/>
                <a:cs typeface="Calibri"/>
              </a:rPr>
              <a:t>Bs</a:t>
            </a:r>
            <a:r>
              <a:rPr sz="850" spc="370" dirty="0">
                <a:solidFill>
                  <a:srgbClr val="3D8A34"/>
                </a:solidFill>
                <a:latin typeface="Calibri"/>
                <a:cs typeface="Calibri"/>
              </a:rPr>
              <a:t> </a:t>
            </a:r>
            <a:r>
              <a:rPr sz="850" spc="-10" dirty="0">
                <a:solidFill>
                  <a:srgbClr val="1F1F1F"/>
                </a:solidFill>
                <a:latin typeface="Calibri"/>
                <a:cs typeface="Calibri"/>
              </a:rPr>
              <a:t>5tat5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5322" y="1785873"/>
            <a:ext cx="5053965" cy="3241040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9050" marR="2803525" indent="-5715">
              <a:lnSpc>
                <a:spcPct val="102600"/>
              </a:lnSpc>
              <a:spcBef>
                <a:spcPts val="65"/>
              </a:spcBef>
            </a:pPr>
            <a:r>
              <a:rPr sz="1150" spc="-45" dirty="0">
                <a:solidFill>
                  <a:srgbClr val="1F1F1F"/>
                </a:solidFill>
                <a:latin typeface="Calibri"/>
                <a:cs typeface="Calibri"/>
              </a:rPr>
              <a:t>print(“Factoriat</a:t>
            </a:r>
            <a:r>
              <a:rPr sz="1150" spc="7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40" dirty="0">
                <a:solidFill>
                  <a:srgbClr val="D69A9E"/>
                </a:solidFill>
                <a:latin typeface="Calibri"/>
                <a:cs typeface="Calibri"/>
              </a:rPr>
              <a:t>of</a:t>
            </a:r>
            <a:r>
              <a:rPr sz="1150" spc="90" dirty="0">
                <a:solidFill>
                  <a:srgbClr val="D69A9E"/>
                </a:solidFill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1F1F1F"/>
                </a:solidFill>
                <a:latin typeface="Calibri"/>
                <a:cs typeface="Calibri"/>
              </a:rPr>
              <a:t>5:",</a:t>
            </a:r>
            <a:r>
              <a:rPr sz="1150" spc="9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60" dirty="0">
                <a:solidFill>
                  <a:srgbClr val="1F1F1F"/>
                </a:solidFill>
                <a:latin typeface="Calibri"/>
                <a:cs typeface="Calibri"/>
              </a:rPr>
              <a:t>math.factoriat(5)) </a:t>
            </a:r>
            <a:r>
              <a:rPr sz="1150" spc="-35" dirty="0">
                <a:solidFill>
                  <a:srgbClr val="1F1F1F"/>
                </a:solidFill>
                <a:latin typeface="Calibri"/>
                <a:cs typeface="Calibri"/>
              </a:rPr>
              <a:t>șrírt(“sșvare</a:t>
            </a:r>
            <a:r>
              <a:rPr sz="1150" spc="114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95" dirty="0">
                <a:solidFill>
                  <a:srgbClr val="BC4952"/>
                </a:solidFill>
                <a:latin typeface="Calibri"/>
                <a:cs typeface="Calibri"/>
              </a:rPr>
              <a:t>root</a:t>
            </a:r>
            <a:r>
              <a:rPr sz="1150" spc="114" dirty="0">
                <a:solidFill>
                  <a:srgbClr val="BC4952"/>
                </a:solidFill>
                <a:latin typeface="Calibri"/>
                <a:cs typeface="Calibri"/>
              </a:rPr>
              <a:t> </a:t>
            </a:r>
            <a:r>
              <a:rPr sz="1150" spc="-30" dirty="0">
                <a:solidFill>
                  <a:srgbClr val="D39095"/>
                </a:solidFill>
                <a:latin typeface="Calibri"/>
                <a:cs typeface="Calibri"/>
              </a:rPr>
              <a:t>of</a:t>
            </a:r>
            <a:r>
              <a:rPr sz="1150" spc="125" dirty="0">
                <a:solidFill>
                  <a:srgbClr val="D39095"/>
                </a:solidFill>
                <a:latin typeface="Calibri"/>
                <a:cs typeface="Calibri"/>
              </a:rPr>
              <a:t> </a:t>
            </a:r>
            <a:r>
              <a:rPr sz="1150" spc="-40" dirty="0">
                <a:solidFill>
                  <a:srgbClr val="1F1F1F"/>
                </a:solidFill>
                <a:latin typeface="Calibri"/>
                <a:cs typeface="Calibri"/>
              </a:rPr>
              <a:t>81:",</a:t>
            </a:r>
            <a:r>
              <a:rPr sz="1150" spc="1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105" dirty="0">
                <a:solidFill>
                  <a:srgbClr val="1F1F1F"/>
                </a:solidFill>
                <a:latin typeface="Calibri"/>
                <a:cs typeface="Calibri"/>
              </a:rPr>
              <a:t>nate. </a:t>
            </a:r>
            <a:r>
              <a:rPr sz="1150" spc="-10" dirty="0">
                <a:solidFill>
                  <a:srgbClr val="1F1F1F"/>
                </a:solidFill>
                <a:latin typeface="Calibri"/>
                <a:cs typeface="Calibri"/>
              </a:rPr>
              <a:t>sqrt(81))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150">
              <a:latin typeface="Calibri"/>
              <a:cs typeface="Calibri"/>
            </a:endParaRPr>
          </a:p>
          <a:p>
            <a:pPr marL="18415">
              <a:lnSpc>
                <a:spcPts val="1225"/>
              </a:lnSpc>
            </a:pPr>
            <a:r>
              <a:rPr sz="1575" spc="-30" baseline="2645" dirty="0">
                <a:solidFill>
                  <a:srgbClr val="1F1F1F"/>
                </a:solidFill>
                <a:latin typeface="Calibri"/>
                <a:cs typeface="Calibri"/>
              </a:rPr>
              <a:t>df</a:t>
            </a:r>
            <a:r>
              <a:rPr sz="1575" spc="-30" baseline="2645" dirty="0">
                <a:solidFill>
                  <a:srgbClr val="9700FF"/>
                </a:solidFill>
                <a:latin typeface="Calibri"/>
                <a:cs typeface="Calibri"/>
              </a:rPr>
              <a:t>=</a:t>
            </a:r>
            <a:r>
              <a:rPr sz="1575" spc="509" baseline="2645" dirty="0">
                <a:solidFill>
                  <a:srgbClr val="9700FF"/>
                </a:solidFill>
                <a:latin typeface="Calibri"/>
                <a:cs typeface="Calibri"/>
              </a:rPr>
              <a:t>  </a:t>
            </a:r>
            <a:r>
              <a:rPr sz="1575" spc="-142" baseline="2645" dirty="0">
                <a:solidFill>
                  <a:srgbClr val="1F1F1F"/>
                </a:solidFill>
                <a:latin typeface="Calibri"/>
                <a:cs typeface="Calibri"/>
              </a:rPr>
              <a:t>pd.</a:t>
            </a:r>
            <a:r>
              <a:rPr sz="1575" spc="-52" baseline="26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575" spc="-97" baseline="2645" dirty="0">
                <a:solidFill>
                  <a:srgbClr val="1F1F1F"/>
                </a:solidFill>
                <a:latin typeface="Calibri"/>
                <a:cs typeface="Calibri"/>
              </a:rPr>
              <a:t>read_csv("https:</a:t>
            </a:r>
            <a:r>
              <a:rPr sz="1575" spc="-97" baseline="2645" dirty="0">
                <a:solidFill>
                  <a:srgbClr val="BD4F56"/>
                </a:solidFill>
                <a:latin typeface="Calibri"/>
                <a:cs typeface="Calibri"/>
              </a:rPr>
              <a:t>//raw.githubusercontent.com/datasciencedo</a:t>
            </a:r>
            <a:r>
              <a:rPr sz="1575" spc="-97" baseline="2645" dirty="0">
                <a:solidFill>
                  <a:srgbClr val="C66970"/>
                </a:solidFill>
                <a:latin typeface="Calibri"/>
                <a:cs typeface="Calibri"/>
              </a:rPr>
              <a:t>o</a:t>
            </a:r>
            <a:r>
              <a:rPr sz="1575" spc="-97" baseline="2645" dirty="0">
                <a:solidFill>
                  <a:srgbClr val="BD4F56"/>
                </a:solidFill>
                <a:latin typeface="Calibri"/>
                <a:cs typeface="Calibri"/>
              </a:rPr>
              <a:t>j</a:t>
            </a:r>
            <a:r>
              <a:rPr sz="1575" spc="-67" baseline="2645" dirty="0">
                <a:solidFill>
                  <a:srgbClr val="BD4F56"/>
                </a:solidFill>
                <a:latin typeface="Calibri"/>
                <a:cs typeface="Calibri"/>
              </a:rPr>
              <a:t> </a:t>
            </a:r>
            <a:r>
              <a:rPr sz="1575" spc="-67" baseline="2645" dirty="0">
                <a:solidFill>
                  <a:srgbClr val="C66970"/>
                </a:solidFill>
                <a:latin typeface="Calibri"/>
                <a:cs typeface="Calibri"/>
              </a:rPr>
              <a:t>/datastt</a:t>
            </a:r>
            <a:r>
              <a:rPr sz="1050" spc="-45" dirty="0">
                <a:solidFill>
                  <a:srgbClr val="C66970"/>
                </a:solidFill>
                <a:latin typeface="Calibri"/>
                <a:cs typeface="Calibri"/>
              </a:rPr>
              <a:t>5/Ií</a:t>
            </a:r>
            <a:r>
              <a:rPr sz="1575" spc="-67" baseline="2645" dirty="0">
                <a:solidFill>
                  <a:srgbClr val="C66970"/>
                </a:solidFill>
                <a:latin typeface="Calibri"/>
                <a:cs typeface="Calibri"/>
              </a:rPr>
              <a:t>B5ttF/titBMC.</a:t>
            </a:r>
            <a:r>
              <a:rPr sz="1575" spc="-67" baseline="2645" dirty="0">
                <a:solidFill>
                  <a:srgbClr val="262626"/>
                </a:solidFill>
                <a:latin typeface="Calibri"/>
                <a:cs typeface="Calibri"/>
              </a:rPr>
              <a:t>CŞV™)</a:t>
            </a:r>
            <a:endParaRPr sz="1575" baseline="2645">
              <a:latin typeface="Calibri"/>
              <a:cs typeface="Calibri"/>
            </a:endParaRPr>
          </a:p>
          <a:p>
            <a:pPr marL="18415">
              <a:lnSpc>
                <a:spcPts val="1405"/>
              </a:lnSpc>
            </a:pP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șrírt(“\rFirst</a:t>
            </a:r>
            <a:r>
              <a:rPr sz="1200" spc="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45" dirty="0">
                <a:solidFill>
                  <a:srgbClr val="C15962"/>
                </a:solidFill>
                <a:latin typeface="Calibri"/>
                <a:cs typeface="Calibri"/>
              </a:rPr>
              <a:t>5</a:t>
            </a:r>
            <a:r>
              <a:rPr sz="1200" spc="90" dirty="0">
                <a:solidFill>
                  <a:srgbClr val="C15962"/>
                </a:solidFill>
                <a:latin typeface="Calibri"/>
                <a:cs typeface="Calibri"/>
              </a:rPr>
              <a:t> 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rms:\r“,</a:t>
            </a:r>
            <a:r>
              <a:rPr sz="1200" spc="1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df.heal())</a:t>
            </a:r>
            <a:endParaRPr sz="1200">
              <a:latin typeface="Calibri"/>
              <a:cs typeface="Calibri"/>
            </a:endParaRPr>
          </a:p>
          <a:p>
            <a:pPr marL="19050" marR="2598420" indent="-5715">
              <a:lnSpc>
                <a:spcPct val="102600"/>
              </a:lnSpc>
              <a:spcBef>
                <a:spcPts val="1380"/>
              </a:spcBef>
            </a:pPr>
            <a:r>
              <a:rPr sz="1150" spc="-65" dirty="0">
                <a:solidFill>
                  <a:srgbClr val="1F1F1F"/>
                </a:solidFill>
                <a:latin typeface="Calibri"/>
                <a:cs typeface="Calibri"/>
              </a:rPr>
              <a:t>print("\nHi5sing</a:t>
            </a:r>
            <a:r>
              <a:rPr sz="1150" spc="1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100" dirty="0">
                <a:solidFill>
                  <a:srgbClr val="1F1F1F"/>
                </a:solidFill>
                <a:latin typeface="Calibri"/>
                <a:cs typeface="Calibri"/>
              </a:rPr>
              <a:t>values:\n™,</a:t>
            </a:r>
            <a:r>
              <a:rPr sz="1150" spc="2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1F1F1F"/>
                </a:solidFill>
                <a:latin typeface="Calibri"/>
                <a:cs typeface="Calibri"/>
              </a:rPr>
              <a:t>df.isnu1\().sum()) </a:t>
            </a:r>
            <a:r>
              <a:rPr sz="1150" spc="-40" dirty="0">
                <a:solidFill>
                  <a:srgbClr val="1F1F1F"/>
                </a:solidFill>
                <a:latin typeface="Calibri"/>
                <a:cs typeface="Calibri"/>
              </a:rPr>
              <a:t>șrírt(“\rSvsnary</a:t>
            </a:r>
            <a:r>
              <a:rPr sz="1150" spc="10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1F1F1F"/>
                </a:solidFill>
                <a:latin typeface="Calibri"/>
                <a:cs typeface="Calibri"/>
              </a:rPr>
              <a:t>stüts!\n",</a:t>
            </a:r>
            <a:r>
              <a:rPr sz="1150" spc="26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1F1F1F"/>
                </a:solidFill>
                <a:latin typeface="Calibri"/>
                <a:cs typeface="Calibri"/>
              </a:rPr>
              <a:t>Jf.describe())</a:t>
            </a:r>
            <a:endParaRPr sz="1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50">
              <a:latin typeface="Calibri"/>
              <a:cs typeface="Calibri"/>
            </a:endParaRPr>
          </a:p>
          <a:p>
            <a:pPr marL="13335" marR="3112135" indent="5080">
              <a:lnSpc>
                <a:spcPct val="98200"/>
              </a:lnSpc>
              <a:tabLst>
                <a:tab pos="377825" algn="l"/>
              </a:tabLst>
            </a:pPr>
            <a:r>
              <a:rPr sz="1100" spc="-10" dirty="0">
                <a:solidFill>
                  <a:srgbClr val="1F1F1F"/>
                </a:solidFill>
                <a:latin typeface="Calibri"/>
                <a:cs typeface="Calibri"/>
              </a:rPr>
              <a:t>agt5</a:t>
            </a:r>
            <a:r>
              <a:rPr sz="1100" spc="-10" dirty="0">
                <a:solidFill>
                  <a:srgbClr val="9700FF"/>
                </a:solidFill>
                <a:latin typeface="Calibri"/>
                <a:cs typeface="Calibri"/>
              </a:rPr>
              <a:t>=</a:t>
            </a:r>
            <a:r>
              <a:rPr sz="1100" dirty="0">
                <a:solidFill>
                  <a:srgbClr val="9700FF"/>
                </a:solidFill>
                <a:latin typeface="Calibri"/>
                <a:cs typeface="Calibri"/>
              </a:rPr>
              <a:t>	</a:t>
            </a:r>
            <a:r>
              <a:rPr sz="1100" spc="-10" dirty="0">
                <a:solidFill>
                  <a:srgbClr val="1F1F1F"/>
                </a:solidFill>
                <a:latin typeface="Calibri"/>
                <a:cs typeface="Calibri"/>
              </a:rPr>
              <a:t>čf</a:t>
            </a:r>
            <a:r>
              <a:rPr sz="1100" spc="-10" dirty="0">
                <a:solidFill>
                  <a:srgbClr val="878764"/>
                </a:solidFill>
                <a:latin typeface="Calibri"/>
                <a:cs typeface="Calibri"/>
              </a:rPr>
              <a:t>(“åge™]</a:t>
            </a:r>
            <a:r>
              <a:rPr sz="1100" spc="-10" dirty="0">
                <a:solidFill>
                  <a:srgbClr val="1F1F1F"/>
                </a:solidFill>
                <a:latin typeface="Calibri"/>
                <a:cs typeface="Calibri"/>
              </a:rPr>
              <a:t>.dropra() </a:t>
            </a:r>
            <a:r>
              <a:rPr sz="1200" spc="-95" dirty="0">
                <a:solidFill>
                  <a:srgbClr val="1F1F1F"/>
                </a:solidFill>
                <a:latin typeface="Calibri"/>
                <a:cs typeface="Calibri"/>
              </a:rPr>
              <a:t>print("\n8ear</a:t>
            </a:r>
            <a:r>
              <a:rPr sz="1200" spc="2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F1F1F"/>
                </a:solidFill>
                <a:latin typeface="Calibri"/>
                <a:cs typeface="Calibri"/>
              </a:rPr>
              <a:t>łțe:",</a:t>
            </a:r>
            <a:r>
              <a:rPr sz="1200" spc="1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80" dirty="0">
                <a:solidFill>
                  <a:srgbClr val="1F1F1F"/>
                </a:solidFill>
                <a:latin typeface="Calibri"/>
                <a:cs typeface="Calibri"/>
              </a:rPr>
              <a:t>np.mean(ages))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 șrírt("ŁeJiaa</a:t>
            </a:r>
            <a:r>
              <a:rPr sz="1200" spc="10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łçe:",</a:t>
            </a:r>
            <a:r>
              <a:rPr sz="1200" spc="12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1F1F1F"/>
                </a:solidFill>
                <a:latin typeface="Calibri"/>
                <a:cs typeface="Calibri"/>
              </a:rPr>
              <a:t>rș.zetiar(ages)) </a:t>
            </a:r>
            <a:r>
              <a:rPr sz="1200" spc="-35" dirty="0">
                <a:solidFill>
                  <a:srgbClr val="1F1F1F"/>
                </a:solidFill>
                <a:latin typeface="Calibri"/>
                <a:cs typeface="Calibri"/>
              </a:rPr>
              <a:t>șrírt(“Std</a:t>
            </a:r>
            <a:r>
              <a:rPr sz="1200" spc="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95" dirty="0">
                <a:solidFill>
                  <a:srgbClr val="BF565D"/>
                </a:solidFill>
                <a:latin typeface="Calibri"/>
                <a:cs typeface="Calibri"/>
              </a:rPr>
              <a:t>Dev</a:t>
            </a:r>
            <a:r>
              <a:rPr sz="1200" spc="125" dirty="0">
                <a:solidFill>
                  <a:srgbClr val="BF565D"/>
                </a:solidFill>
                <a:latin typeface="Calibri"/>
                <a:cs typeface="Calibri"/>
              </a:rPr>
              <a:t> </a:t>
            </a:r>
            <a:r>
              <a:rPr sz="1200" spc="-90" dirty="0">
                <a:solidFill>
                  <a:srgbClr val="1F1F1F"/>
                </a:solidFill>
                <a:latin typeface="Calibri"/>
                <a:cs typeface="Calibri"/>
              </a:rPr>
              <a:t>Age:",</a:t>
            </a:r>
            <a:r>
              <a:rPr sz="1200" spc="9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rș.std(ages))</a:t>
            </a:r>
            <a:endParaRPr sz="12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50"/>
              </a:spcBef>
            </a:pPr>
            <a:r>
              <a:rPr sz="1100" spc="-50" dirty="0">
                <a:solidFill>
                  <a:srgbClr val="1F1F1F"/>
                </a:solidFill>
                <a:latin typeface="Calibri"/>
                <a:cs typeface="Calibri"/>
              </a:rPr>
              <a:t>print(“Host</a:t>
            </a:r>
            <a:r>
              <a:rPr sz="1100" spc="1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290" dirty="0">
                <a:solidFill>
                  <a:srgbClr val="C36269"/>
                </a:solidFill>
                <a:latin typeface="Calibri"/>
                <a:cs typeface="Calibri"/>
              </a:rPr>
              <a:t>Common</a:t>
            </a:r>
            <a:r>
              <a:rPr sz="1100" spc="229" dirty="0">
                <a:solidFill>
                  <a:srgbClr val="C36269"/>
                </a:solidFill>
                <a:latin typeface="Calibri"/>
                <a:cs typeface="Calibri"/>
              </a:rPr>
              <a:t> </a:t>
            </a:r>
            <a:r>
              <a:rPr sz="1100" spc="-114" dirty="0">
                <a:solidFill>
                  <a:srgbClr val="AC1823"/>
                </a:solidFill>
                <a:latin typeface="Calibri"/>
                <a:cs typeface="Calibri"/>
              </a:rPr>
              <a:t>Age</a:t>
            </a:r>
            <a:r>
              <a:rPr sz="1100" spc="150" dirty="0">
                <a:solidFill>
                  <a:srgbClr val="AC1823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D18990"/>
                </a:solidFill>
                <a:latin typeface="Calibri"/>
                <a:cs typeface="Calibri"/>
              </a:rPr>
              <a:t>(Code)</a:t>
            </a:r>
            <a:r>
              <a:rPr sz="1100" spc="-45" dirty="0">
                <a:solidFill>
                  <a:srgbClr val="1F1F1F"/>
                </a:solidFill>
                <a:latin typeface="Calibri"/>
                <a:cs typeface="Calibri"/>
              </a:rPr>
              <a:t>:“,</a:t>
            </a:r>
            <a:r>
              <a:rPr sz="1100" spc="2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70" dirty="0">
                <a:solidFill>
                  <a:srgbClr val="1F1F1F"/>
                </a:solidFill>
                <a:latin typeface="Calibri"/>
                <a:cs typeface="Calibri"/>
              </a:rPr>
              <a:t>stats.mode(ages,</a:t>
            </a:r>
            <a:r>
              <a:rPr sz="1100" spc="2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95" dirty="0">
                <a:solidFill>
                  <a:srgbClr val="1F1F1F"/>
                </a:solidFill>
                <a:latin typeface="Calibri"/>
                <a:cs typeface="Calibri"/>
              </a:rPr>
              <a:t>Łeepdîss=True)</a:t>
            </a:r>
            <a:r>
              <a:rPr sz="1100" spc="-114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100" dirty="0">
                <a:solidFill>
                  <a:srgbClr val="1F1F1F"/>
                </a:solidFill>
                <a:latin typeface="Calibri"/>
                <a:cs typeface="Calibri"/>
              </a:rPr>
              <a:t>.node(8)</a:t>
            </a:r>
            <a:r>
              <a:rPr sz="11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-50" dirty="0">
                <a:solidFill>
                  <a:srgbClr val="262626"/>
                </a:solidFill>
                <a:latin typeface="Calibri"/>
                <a:cs typeface="Calibri"/>
              </a:rPr>
              <a:t>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100">
              <a:latin typeface="Calibri"/>
              <a:cs typeface="Calibri"/>
            </a:endParaRPr>
          </a:p>
          <a:p>
            <a:pPr marL="12700" marR="1445895" indent="1270">
              <a:lnSpc>
                <a:spcPct val="100800"/>
              </a:lnSpc>
            </a:pPr>
            <a:r>
              <a:rPr sz="1150" spc="-10" dirty="0">
                <a:solidFill>
                  <a:srgbClr val="1F1F1F"/>
                </a:solidFill>
                <a:latin typeface="Calibri"/>
                <a:cs typeface="Calibri"/>
              </a:rPr>
              <a:t>p1t.figure(figsźze=(6,4)) </a:t>
            </a:r>
            <a:r>
              <a:rPr sz="1150" spc="-75" dirty="0">
                <a:solidFill>
                  <a:srgbClr val="1F1F1F"/>
                </a:solidFill>
                <a:latin typeface="Calibri"/>
                <a:cs typeface="Calibri"/>
              </a:rPr>
              <a:t>If</a:t>
            </a:r>
            <a:r>
              <a:rPr sz="1150" spc="-75" dirty="0">
                <a:solidFill>
                  <a:srgbClr val="878764"/>
                </a:solidFill>
                <a:latin typeface="Calibri"/>
                <a:cs typeface="Calibri"/>
              </a:rPr>
              <a:t>("survived"]</a:t>
            </a:r>
            <a:r>
              <a:rPr sz="1150" spc="-75" dirty="0">
                <a:solidFill>
                  <a:srgbClr val="1F1F1F"/>
                </a:solidFill>
                <a:latin typeface="Calibri"/>
                <a:cs typeface="Calibri"/>
              </a:rPr>
              <a:t>.va1ue_counts().plot(Łind=“Łar™,</a:t>
            </a:r>
            <a:r>
              <a:rPr sz="1150" spc="32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70" dirty="0">
                <a:solidFill>
                  <a:srgbClr val="1F1F1F"/>
                </a:solidFill>
                <a:latin typeface="Calibri"/>
                <a:cs typeface="Calibri"/>
              </a:rPr>
              <a:t>color=["red™,“green“ì)</a:t>
            </a:r>
            <a:r>
              <a:rPr sz="1150" spc="-3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30" dirty="0">
                <a:solidFill>
                  <a:srgbClr val="1F1F1F"/>
                </a:solidFill>
                <a:latin typeface="Calibri"/>
                <a:cs typeface="Calibri"/>
              </a:rPr>
              <a:t>ș\t.tit\e("Titanic</a:t>
            </a:r>
            <a:r>
              <a:rPr sz="1200" spc="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00" spc="-60" dirty="0">
                <a:solidFill>
                  <a:srgbClr val="C87075"/>
                </a:solidFill>
                <a:latin typeface="Calibri"/>
                <a:cs typeface="Calibri"/>
              </a:rPr>
              <a:t>Survival</a:t>
            </a:r>
            <a:r>
              <a:rPr sz="1200" spc="80" dirty="0">
                <a:solidFill>
                  <a:srgbClr val="C87075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262626"/>
                </a:solidFill>
                <a:latin typeface="Calibri"/>
                <a:cs typeface="Calibri"/>
              </a:rPr>
              <a:t>Court")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99490" y="5001513"/>
            <a:ext cx="752475" cy="200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055" algn="l"/>
              </a:tabLst>
            </a:pPr>
            <a:r>
              <a:rPr sz="1150" spc="-110" dirty="0">
                <a:solidFill>
                  <a:srgbClr val="BA424B"/>
                </a:solidFill>
                <a:latin typeface="Calibri"/>
                <a:cs typeface="Calibri"/>
              </a:rPr>
              <a:t>No,</a:t>
            </a:r>
            <a:r>
              <a:rPr sz="1150" spc="85" dirty="0">
                <a:solidFill>
                  <a:srgbClr val="BA424B"/>
                </a:solidFill>
                <a:latin typeface="Calibri"/>
                <a:cs typeface="Calibri"/>
              </a:rPr>
              <a:t> </a:t>
            </a:r>
            <a:r>
              <a:rPr sz="1150" spc="-35" dirty="0">
                <a:solidFill>
                  <a:srgbClr val="C15962"/>
                </a:solidFill>
                <a:latin typeface="Calibri"/>
                <a:cs typeface="Calibri"/>
              </a:rPr>
              <a:t>1</a:t>
            </a:r>
            <a:r>
              <a:rPr sz="1150" spc="-35" dirty="0">
                <a:solidFill>
                  <a:srgbClr val="CF8289"/>
                </a:solidFill>
                <a:latin typeface="Calibri"/>
                <a:cs typeface="Calibri"/>
              </a:rPr>
              <a:t>=</a:t>
            </a:r>
            <a:r>
              <a:rPr sz="1150" dirty="0">
                <a:solidFill>
                  <a:srgbClr val="CF8289"/>
                </a:solidFill>
                <a:latin typeface="Calibri"/>
                <a:cs typeface="Calibri"/>
              </a:rPr>
              <a:t>	</a:t>
            </a:r>
            <a:r>
              <a:rPr sz="1150" spc="-65" dirty="0">
                <a:solidFill>
                  <a:srgbClr val="1F1F1F"/>
                </a:solidFill>
                <a:latin typeface="Calibri"/>
                <a:cs typeface="Calibri"/>
              </a:rPr>
              <a:t>Yes)")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6203" y="5001513"/>
            <a:ext cx="1249045" cy="560070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marL="12700" marR="5080">
              <a:lnSpc>
                <a:spcPct val="96200"/>
              </a:lnSpc>
              <a:spcBef>
                <a:spcPts val="150"/>
              </a:spcBef>
            </a:pPr>
            <a:r>
              <a:rPr sz="1150" spc="-100" dirty="0">
                <a:solidFill>
                  <a:srgbClr val="1F1F1F"/>
                </a:solidFill>
                <a:latin typeface="Calibri"/>
                <a:cs typeface="Calibri"/>
              </a:rPr>
              <a:t>p1t.x1aŁe1(“5arvived</a:t>
            </a:r>
            <a:r>
              <a:rPr sz="1150" spc="2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50" spc="-155" dirty="0">
                <a:solidFill>
                  <a:srgbClr val="DFB8BC"/>
                </a:solidFill>
                <a:latin typeface="Calibri"/>
                <a:cs typeface="Calibri"/>
              </a:rPr>
              <a:t>(e</a:t>
            </a:r>
            <a:r>
              <a:rPr sz="1150" spc="-155" dirty="0">
                <a:solidFill>
                  <a:srgbClr val="CF8289"/>
                </a:solidFill>
                <a:latin typeface="Calibri"/>
                <a:cs typeface="Calibri"/>
              </a:rPr>
              <a:t>=</a:t>
            </a:r>
            <a:r>
              <a:rPr sz="1150" spc="500" dirty="0">
                <a:solidFill>
                  <a:srgbClr val="CF8289"/>
                </a:solidFill>
                <a:latin typeface="Calibri"/>
                <a:cs typeface="Calibri"/>
              </a:rPr>
              <a:t> </a:t>
            </a:r>
            <a:r>
              <a:rPr sz="1200" spc="-75" dirty="0">
                <a:solidFill>
                  <a:srgbClr val="1F1F1F"/>
                </a:solidFill>
                <a:latin typeface="Calibri"/>
                <a:cs typeface="Calibri"/>
              </a:rPr>
              <a:t>p1t./1aŁe1(“Count")</a:t>
            </a:r>
            <a:r>
              <a:rPr sz="1200" spc="-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F1F1F"/>
                </a:solidFill>
                <a:latin typeface="Calibri"/>
                <a:cs typeface="Calibri"/>
              </a:rPr>
              <a:t>Alt.sšrv()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5602" y="5823203"/>
            <a:ext cx="1176655" cy="450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900"/>
              </a:lnSpc>
              <a:spcBef>
                <a:spcPts val="100"/>
              </a:spcBef>
            </a:pPr>
            <a:r>
              <a:rPr sz="800" spc="-30" dirty="0">
                <a:solidFill>
                  <a:srgbClr val="212121"/>
                </a:solidFill>
                <a:latin typeface="Consolas"/>
                <a:cs typeface="Consolas"/>
              </a:rPr>
              <a:t>Factorial</a:t>
            </a:r>
            <a:r>
              <a:rPr sz="800" spc="-5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800" spc="-30" dirty="0">
                <a:solidFill>
                  <a:srgbClr val="212121"/>
                </a:solidFill>
                <a:latin typeface="Consolas"/>
                <a:cs typeface="Consolas"/>
              </a:rPr>
              <a:t>of</a:t>
            </a:r>
            <a:r>
              <a:rPr sz="800" spc="-7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800" dirty="0">
                <a:solidFill>
                  <a:srgbClr val="212121"/>
                </a:solidFill>
                <a:latin typeface="Consolas"/>
                <a:cs typeface="Consolas"/>
              </a:rPr>
              <a:t>5:</a:t>
            </a:r>
            <a:r>
              <a:rPr sz="80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800" spc="-25" dirty="0">
                <a:solidFill>
                  <a:srgbClr val="212121"/>
                </a:solidFill>
                <a:latin typeface="Consolas"/>
                <a:cs typeface="Consolas"/>
              </a:rPr>
              <a:t>1z0</a:t>
            </a:r>
            <a:endParaRPr sz="800">
              <a:latin typeface="Consolas"/>
              <a:cs typeface="Consolas"/>
            </a:endParaRPr>
          </a:p>
          <a:p>
            <a:pPr marL="13335">
              <a:lnSpc>
                <a:spcPts val="840"/>
              </a:lnSpc>
            </a:pPr>
            <a:r>
              <a:rPr sz="750" spc="20" dirty="0">
                <a:solidFill>
                  <a:srgbClr val="212121"/>
                </a:solidFill>
                <a:latin typeface="Calibri"/>
                <a:cs typeface="Calibri"/>
              </a:rPr>
              <a:t>Squa</a:t>
            </a:r>
            <a:r>
              <a:rPr sz="750" spc="-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50" i="1" spc="20" dirty="0">
                <a:solidFill>
                  <a:srgbClr val="313131"/>
                </a:solidFill>
                <a:latin typeface="Calibri"/>
                <a:cs typeface="Calibri"/>
              </a:rPr>
              <a:t>re</a:t>
            </a:r>
            <a:r>
              <a:rPr sz="750" i="1" spc="434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750" i="1" spc="20" dirty="0">
                <a:solidFill>
                  <a:srgbClr val="212121"/>
                </a:solidFill>
                <a:latin typeface="Calibri"/>
                <a:cs typeface="Calibri"/>
              </a:rPr>
              <a:t>root</a:t>
            </a:r>
            <a:r>
              <a:rPr sz="750" i="1" spc="4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50" spc="20" dirty="0">
                <a:solidFill>
                  <a:srgbClr val="212121"/>
                </a:solidFill>
                <a:latin typeface="Calibri"/>
                <a:cs typeface="Calibri"/>
              </a:rPr>
              <a:t>of</a:t>
            </a:r>
            <a:r>
              <a:rPr sz="750" spc="4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50" spc="20" dirty="0">
                <a:solidFill>
                  <a:srgbClr val="212121"/>
                </a:solidFill>
                <a:latin typeface="Calibri"/>
                <a:cs typeface="Calibri"/>
              </a:rPr>
              <a:t>BI</a:t>
            </a:r>
            <a:r>
              <a:rPr sz="750" spc="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50" spc="20" dirty="0">
                <a:solidFill>
                  <a:srgbClr val="212121"/>
                </a:solidFill>
                <a:latin typeface="Calibri"/>
                <a:cs typeface="Calibri"/>
              </a:rPr>
              <a:t>:</a:t>
            </a:r>
            <a:r>
              <a:rPr sz="750" spc="4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50" spc="20" dirty="0">
                <a:solidFill>
                  <a:srgbClr val="212121"/>
                </a:solidFill>
                <a:latin typeface="Calibri"/>
                <a:cs typeface="Calibri"/>
              </a:rPr>
              <a:t>9.</a:t>
            </a:r>
            <a:r>
              <a:rPr sz="750" spc="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50" spc="-50" dirty="0">
                <a:solidFill>
                  <a:srgbClr val="212121"/>
                </a:solidFill>
                <a:latin typeface="Calibri"/>
                <a:cs typeface="Calibri"/>
              </a:rPr>
              <a:t>e</a:t>
            </a:r>
            <a:endParaRPr sz="750">
              <a:latin typeface="Calibri"/>
              <a:cs typeface="Calibri"/>
            </a:endParaRPr>
          </a:p>
          <a:p>
            <a:pPr marL="13335">
              <a:lnSpc>
                <a:spcPct val="100000"/>
              </a:lnSpc>
              <a:spcBef>
                <a:spcPts val="705"/>
              </a:spcBef>
            </a:pPr>
            <a:r>
              <a:rPr sz="750" dirty="0">
                <a:solidFill>
                  <a:srgbClr val="212121"/>
                </a:solidFill>
                <a:latin typeface="Consolas"/>
                <a:cs typeface="Consolas"/>
              </a:rPr>
              <a:t>First</a:t>
            </a:r>
            <a:r>
              <a:rPr sz="75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750" dirty="0">
                <a:solidFill>
                  <a:srgbClr val="282828"/>
                </a:solidFill>
                <a:latin typeface="Consolas"/>
                <a:cs typeface="Consolas"/>
              </a:rPr>
              <a:t>5</a:t>
            </a:r>
            <a:r>
              <a:rPr sz="750" spc="35" dirty="0">
                <a:solidFill>
                  <a:srgbClr val="282828"/>
                </a:solidFill>
                <a:latin typeface="Consolas"/>
                <a:cs typeface="Consolas"/>
              </a:rPr>
              <a:t> </a:t>
            </a:r>
            <a:r>
              <a:rPr sz="750" spc="-10" dirty="0">
                <a:solidFill>
                  <a:srgbClr val="212121"/>
                </a:solidFill>
                <a:latin typeface="Consolas"/>
                <a:cs typeface="Consolas"/>
              </a:rPr>
              <a:t>rows:</a:t>
            </a:r>
            <a:endParaRPr sz="750">
              <a:latin typeface="Consolas"/>
              <a:cs typeface="Consolas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79975" y="6272147"/>
          <a:ext cx="4032881" cy="20186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5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1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52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68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89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82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95580">
                <a:tc gridSpan="3">
                  <a:txBody>
                    <a:bodyPr/>
                    <a:lstStyle/>
                    <a:p>
                      <a:pPr marL="248285">
                        <a:lnSpc>
                          <a:spcPts val="630"/>
                        </a:lnSpc>
                      </a:pPr>
                      <a:r>
                        <a:rPr sz="7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Passengerld</a:t>
                      </a:r>
                      <a:endParaRPr sz="750">
                        <a:latin typeface="Consolas"/>
                        <a:cs typeface="Consolas"/>
                      </a:endParaRPr>
                    </a:p>
                    <a:p>
                      <a:pPr marR="141605" algn="r">
                        <a:lnSpc>
                          <a:spcPts val="81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810">
                        <a:lnSpc>
                          <a:spcPts val="630"/>
                        </a:lnSpc>
                      </a:pPr>
                      <a:r>
                        <a:rPr sz="7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Survived</a:t>
                      </a:r>
                      <a:endParaRPr sz="750">
                        <a:latin typeface="Consolas"/>
                        <a:cs typeface="Consolas"/>
                      </a:endParaRPr>
                    </a:p>
                    <a:p>
                      <a:pPr marL="311150">
                        <a:lnSpc>
                          <a:spcPts val="815"/>
                        </a:lnSpc>
                      </a:pPr>
                      <a:r>
                        <a:rPr sz="80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8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R="2079625" algn="ctr">
                        <a:lnSpc>
                          <a:spcPts val="630"/>
                        </a:lnSpc>
                      </a:pPr>
                      <a:r>
                        <a:rPr sz="7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Pcłass</a:t>
                      </a:r>
                      <a:r>
                        <a:rPr sz="750" spc="3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750" spc="-50" dirty="0">
                          <a:solidFill>
                            <a:srgbClr val="232323"/>
                          </a:solidFill>
                          <a:latin typeface="Consolas"/>
                          <a:cs typeface="Consolas"/>
                        </a:rPr>
                        <a:t>\</a:t>
                      </a:r>
                      <a:endParaRPr sz="750">
                        <a:latin typeface="Consolas"/>
                        <a:cs typeface="Consolas"/>
                      </a:endParaRPr>
                    </a:p>
                    <a:p>
                      <a:pPr marR="2076450" algn="ctr">
                        <a:lnSpc>
                          <a:spcPts val="81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290">
                <a:tc gridSpan="3">
                  <a:txBody>
                    <a:bodyPr/>
                    <a:lstStyle/>
                    <a:p>
                      <a:pPr marR="138430" algn="r">
                        <a:lnSpc>
                          <a:spcPts val="780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785">
                        <a:lnSpc>
                          <a:spcPts val="780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 marL="233045">
                        <a:lnSpc>
                          <a:spcPts val="780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70">
                <a:tc gridSpan="3">
                  <a:txBody>
                    <a:bodyPr/>
                    <a:lstStyle/>
                    <a:p>
                      <a:pPr marR="142875" algn="r">
                        <a:lnSpc>
                          <a:spcPts val="780"/>
                        </a:lnSpc>
                        <a:spcBef>
                          <a:spcPts val="229"/>
                        </a:spcBef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700">
                        <a:latin typeface="Consolas"/>
                        <a:cs typeface="Consolas"/>
                      </a:endParaRPr>
                    </a:p>
                  </a:txBody>
                  <a:tcPr marL="0" marR="0" marT="29209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7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575">
                <a:tc>
                  <a:txBody>
                    <a:bodyPr/>
                    <a:lstStyle/>
                    <a:p>
                      <a:pPr marR="5715" algn="ctr">
                        <a:lnSpc>
                          <a:spcPts val="800"/>
                        </a:lnSpc>
                      </a:pPr>
                      <a:r>
                        <a:rPr sz="8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4</a:t>
                      </a:r>
                      <a:endParaRPr sz="8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endParaRPr sz="750">
                        <a:latin typeface="Times New Roman"/>
                        <a:cs typeface="Times New Roman"/>
                      </a:endParaRPr>
                    </a:p>
                    <a:p>
                      <a:pPr marR="2222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2159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633095" marR="43180" indent="982980">
                        <a:lnSpc>
                          <a:spcPts val="790"/>
                        </a:lnSpc>
                        <a:spcBef>
                          <a:spcPts val="360"/>
                        </a:spcBef>
                      </a:pPr>
                      <a:r>
                        <a:rPr sz="750" spc="-4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Name </a:t>
                      </a:r>
                      <a:r>
                        <a:rPr sz="750" spc="-5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Braund,</a:t>
                      </a:r>
                      <a:r>
                        <a:rPr sz="750" spc="-2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50" spc="-9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|Hr.</a:t>
                      </a:r>
                      <a:r>
                        <a:rPr sz="750" spc="1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50" spc="-4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Owen</a:t>
                      </a:r>
                      <a:r>
                        <a:rPr sz="750" spc="-3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750" spc="-4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Harris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655" marR="41910" indent="43815">
                        <a:lnSpc>
                          <a:spcPts val="790"/>
                        </a:lnSpc>
                        <a:spcBef>
                          <a:spcPts val="360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Sex </a:t>
                      </a:r>
                      <a:r>
                        <a:rPr sz="750" spc="-6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małe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48895" marR="40005" indent="63500">
                        <a:lnSpc>
                          <a:spcPts val="790"/>
                        </a:lnSpc>
                        <a:spcBef>
                          <a:spcPts val="360"/>
                        </a:spcBef>
                      </a:pPr>
                      <a:r>
                        <a:rPr sz="750" spc="-6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Age </a:t>
                      </a:r>
                      <a:r>
                        <a:rPr sz="750" spc="-3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Z2.0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B="0"/>
                </a:tc>
                <a:tc>
                  <a:txBody>
                    <a:bodyPr/>
                    <a:lstStyle/>
                    <a:p>
                      <a:pPr marL="47625">
                        <a:lnSpc>
                          <a:spcPts val="844"/>
                        </a:lnSpc>
                        <a:spcBef>
                          <a:spcPts val="244"/>
                        </a:spcBef>
                      </a:pPr>
                      <a:r>
                        <a:rPr sz="750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SibSp</a:t>
                      </a:r>
                      <a:endParaRPr sz="750">
                        <a:latin typeface="Courier New"/>
                        <a:cs typeface="Courier New"/>
                      </a:endParaRPr>
                    </a:p>
                    <a:p>
                      <a:pPr marR="46355" algn="r">
                        <a:lnSpc>
                          <a:spcPts val="844"/>
                        </a:lnSpc>
                      </a:pPr>
                      <a:r>
                        <a:rPr sz="750" spc="-50" dirty="0">
                          <a:solidFill>
                            <a:srgbClr val="6B6B6B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\</a:t>
                      </a:r>
                      <a:endParaRPr sz="750">
                        <a:latin typeface="Courier New"/>
                        <a:cs typeface="Courier New"/>
                      </a:endParaRPr>
                    </a:p>
                  </a:txBody>
                  <a:tcPr marL="0" marR="0" marT="3111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545">
                <a:tc>
                  <a:txBody>
                    <a:bodyPr/>
                    <a:lstStyle/>
                    <a:p>
                      <a:pPr marL="40640">
                        <a:lnSpc>
                          <a:spcPts val="625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32384" marR="38735" indent="-1270">
                        <a:lnSpc>
                          <a:spcPts val="790"/>
                        </a:lnSpc>
                        <a:spcBef>
                          <a:spcPts val="30"/>
                        </a:spcBef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Z 3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0165">
                        <a:lnSpc>
                          <a:spcPts val="700"/>
                        </a:lnSpc>
                      </a:pP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Cum1ng</a:t>
                      </a:r>
                      <a:r>
                        <a:rPr sz="70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700" spc="3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sz="700" spc="3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700" spc="-8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rs.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311785">
                        <a:lnSpc>
                          <a:spcPts val="894"/>
                        </a:lnSpc>
                        <a:spcBef>
                          <a:spcPts val="645"/>
                        </a:spcBef>
                      </a:pPr>
                      <a:r>
                        <a:rPr sz="800" spc="-8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Futretle,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8890">
                        <a:lnSpc>
                          <a:spcPts val="625"/>
                        </a:lnSpc>
                      </a:pP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Jo</a:t>
                      </a:r>
                      <a:r>
                        <a:rPr sz="700" spc="4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dirty="0">
                          <a:solidFill>
                            <a:srgbClr val="2F2F2F"/>
                          </a:solidFill>
                          <a:latin typeface="Calibri"/>
                          <a:cs typeface="Calibri"/>
                        </a:rPr>
                        <a:t>hn</a:t>
                      </a:r>
                      <a:r>
                        <a:rPr sz="700" spc="270" dirty="0">
                          <a:solidFill>
                            <a:srgbClr val="2F2F2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Bradley</a:t>
                      </a:r>
                      <a:r>
                        <a:rPr sz="700" spc="2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(</a:t>
                      </a:r>
                      <a:r>
                        <a:rPr sz="700" spc="-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F1orence</a:t>
                      </a:r>
                      <a:r>
                        <a:rPr sz="700" spc="28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114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Briggs</a:t>
                      </a:r>
                      <a:r>
                        <a:rPr sz="700" spc="33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Th...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53340" marR="43180" indent="626745">
                        <a:lnSpc>
                          <a:spcPts val="790"/>
                        </a:lnSpc>
                        <a:spcBef>
                          <a:spcPts val="30"/>
                        </a:spcBef>
                      </a:pPr>
                      <a:r>
                        <a:rPr sz="800" spc="-8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Heikkinen,</a:t>
                      </a:r>
                      <a:r>
                        <a:rPr sz="800" spc="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7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Miss.</a:t>
                      </a:r>
                      <a:r>
                        <a:rPr sz="800" spc="1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5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Laina </a:t>
                      </a:r>
                      <a:r>
                        <a:rPr sz="800" spc="-7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Mrs.</a:t>
                      </a:r>
                      <a:r>
                        <a:rPr sz="800" spc="-5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8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Jacques</a:t>
                      </a:r>
                      <a:r>
                        <a:rPr sz="800" spc="-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8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Heath</a:t>
                      </a:r>
                      <a:r>
                        <a:rPr sz="800" spc="-14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6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(Liły</a:t>
                      </a:r>
                      <a:r>
                        <a:rPr sz="800" spc="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9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May</a:t>
                      </a:r>
                      <a:r>
                        <a:rPr sz="800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3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Peeł)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625"/>
                        </a:lnSpc>
                      </a:pPr>
                      <a:r>
                        <a:rPr sz="70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fema</a:t>
                      </a:r>
                      <a:r>
                        <a:rPr sz="700" spc="-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te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50800" marR="44450">
                        <a:lnSpc>
                          <a:spcPts val="790"/>
                        </a:lnSpc>
                        <a:spcBef>
                          <a:spcPts val="30"/>
                        </a:spcBef>
                      </a:pPr>
                      <a:r>
                        <a:rPr sz="800" spc="-8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femałe femałe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ts val="625"/>
                        </a:lnSpc>
                      </a:pP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38.</a:t>
                      </a:r>
                      <a:r>
                        <a:rPr sz="700" spc="229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48895" marR="40005" indent="-1270">
                        <a:lnSpc>
                          <a:spcPts val="790"/>
                        </a:lnSpc>
                        <a:spcBef>
                          <a:spcPts val="30"/>
                        </a:spcBef>
                      </a:pPr>
                      <a:r>
                        <a:rPr sz="800" spc="-5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Z6.e </a:t>
                      </a:r>
                      <a:r>
                        <a:rPr sz="800" spc="-6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35.0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1620">
                        <a:lnSpc>
                          <a:spcPts val="625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700">
                        <a:latin typeface="Calibri"/>
                        <a:cs typeface="Calibri"/>
                      </a:endParaRPr>
                    </a:p>
                    <a:p>
                      <a:pPr marL="257810" marR="35560" indent="4445">
                        <a:lnSpc>
                          <a:spcPts val="790"/>
                        </a:lnSpc>
                        <a:spcBef>
                          <a:spcPts val="30"/>
                        </a:spcBef>
                      </a:pPr>
                      <a:r>
                        <a:rPr sz="800" spc="-50" dirty="0">
                          <a:solidFill>
                            <a:srgbClr val="595959"/>
                          </a:solidFill>
                          <a:latin typeface="Courier New"/>
                          <a:cs typeface="Courier New"/>
                        </a:rPr>
                        <a:t>e </a:t>
                      </a: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R="8255" algn="ctr">
                        <a:lnSpc>
                          <a:spcPts val="780"/>
                        </a:lnSpc>
                      </a:pPr>
                      <a:r>
                        <a:rPr sz="800" spc="-50" dirty="0">
                          <a:solidFill>
                            <a:srgbClr val="464646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577850">
                        <a:lnSpc>
                          <a:spcPts val="780"/>
                        </a:lnSpc>
                      </a:pPr>
                      <a:r>
                        <a:rPr sz="800" spc="-8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Ałlen,</a:t>
                      </a:r>
                      <a:r>
                        <a:rPr sz="800" spc="-4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9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Mr.</a:t>
                      </a:r>
                      <a:r>
                        <a:rPr sz="800" spc="-3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8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William</a:t>
                      </a:r>
                      <a:r>
                        <a:rPr sz="800" spc="1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800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Henry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ts val="780"/>
                        </a:lnSpc>
                      </a:pPr>
                      <a:r>
                        <a:rPr sz="80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małe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780"/>
                        </a:lnSpc>
                      </a:pPr>
                      <a:r>
                        <a:rPr sz="80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Z5.0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780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355">
                        <a:lnSpc>
                          <a:spcPts val="835"/>
                        </a:lnSpc>
                        <a:spcBef>
                          <a:spcPts val="200"/>
                        </a:spcBef>
                      </a:pPr>
                      <a:r>
                        <a:rPr sz="750" spc="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Parch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4">
                  <a:txBody>
                    <a:bodyPr/>
                    <a:lstStyle/>
                    <a:p>
                      <a:pPr marL="163830">
                        <a:lnSpc>
                          <a:spcPts val="835"/>
                        </a:lnSpc>
                        <a:spcBef>
                          <a:spcPts val="200"/>
                        </a:spcBef>
                        <a:tabLst>
                          <a:tab pos="732155" algn="l"/>
                        </a:tabLst>
                      </a:pPr>
                      <a:r>
                        <a:rPr sz="750" spc="7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Ticket</a:t>
                      </a:r>
                      <a:r>
                        <a:rPr sz="7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750" spc="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Fare</a:t>
                      </a:r>
                      <a:r>
                        <a:rPr sz="750" spc="1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6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Cabin</a:t>
                      </a:r>
                      <a:r>
                        <a:rPr sz="750" spc="2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Embarked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254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5885">
                <a:tc>
                  <a:txBody>
                    <a:bodyPr/>
                    <a:lstStyle/>
                    <a:p>
                      <a:pPr marR="10160" algn="ctr">
                        <a:lnSpc>
                          <a:spcPts val="590"/>
                        </a:lnSpc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Ø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590"/>
                        </a:lnSpc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Ø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15925">
                        <a:lnSpc>
                          <a:spcPts val="590"/>
                        </a:lnSpc>
                      </a:pPr>
                      <a:r>
                        <a:rPr sz="7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A/5</a:t>
                      </a:r>
                      <a:r>
                        <a:rPr sz="750" spc="3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21171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590"/>
                        </a:lnSpc>
                      </a:pPr>
                      <a:r>
                        <a:rPr sz="750" spc="4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7.25e0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9390" algn="r">
                        <a:lnSpc>
                          <a:spcPts val="590"/>
                        </a:lnSpc>
                      </a:pPr>
                      <a:r>
                        <a:rPr sz="7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207645">
                        <a:lnSpc>
                          <a:spcPts val="590"/>
                        </a:lnSpc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1760">
                <a:tc>
                  <a:txBody>
                    <a:bodyPr/>
                    <a:lstStyle/>
                    <a:p>
                      <a:pPr marR="16510" algn="ctr">
                        <a:lnSpc>
                          <a:spcPts val="78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78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67359">
                        <a:lnSpc>
                          <a:spcPts val="785"/>
                        </a:lnSpc>
                      </a:pPr>
                      <a:r>
                        <a:rPr sz="800" spc="-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Pc</a:t>
                      </a:r>
                      <a:r>
                        <a:rPr sz="800" spc="6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17s98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165" algn="r">
                        <a:lnSpc>
                          <a:spcPts val="78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T1.2s8a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4470" algn="r">
                        <a:lnSpc>
                          <a:spcPts val="78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c8s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207010">
                        <a:lnSpc>
                          <a:spcPts val="78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3980">
                <a:tc>
                  <a:txBody>
                    <a:bodyPr/>
                    <a:lstStyle/>
                    <a:p>
                      <a:pPr marR="22225" algn="ctr">
                        <a:lnSpc>
                          <a:spcPts val="640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7625" algn="r">
                        <a:lnSpc>
                          <a:spcPts val="640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Ø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1435">
                        <a:lnSpc>
                          <a:spcPts val="640"/>
                        </a:lnSpc>
                      </a:pPr>
                      <a:r>
                        <a:rPr sz="700" spc="6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ST0N/02.</a:t>
                      </a:r>
                      <a:r>
                        <a:rPr sz="700" spc="3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31</a:t>
                      </a:r>
                      <a:r>
                        <a:rPr sz="700" spc="10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ł1282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640"/>
                        </a:lnSpc>
                      </a:pPr>
                      <a:r>
                        <a:rPr sz="7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7.</a:t>
                      </a:r>
                      <a:r>
                        <a:rPr sz="700" spc="10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70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9250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8755" algn="r">
                        <a:lnSpc>
                          <a:spcPts val="640"/>
                        </a:lnSpc>
                      </a:pPr>
                      <a:r>
                        <a:rPr sz="70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208279">
                        <a:lnSpc>
                          <a:spcPts val="640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7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4615">
                <a:tc>
                  <a:txBody>
                    <a:bodyPr/>
                    <a:lstStyle/>
                    <a:p>
                      <a:pPr marR="7620" algn="ctr">
                        <a:lnSpc>
                          <a:spcPts val="645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645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3405">
                        <a:lnSpc>
                          <a:spcPts val="645"/>
                        </a:lnSpc>
                      </a:pP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I138B3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645"/>
                        </a:lnSpc>
                      </a:pPr>
                      <a:r>
                        <a:rPr sz="70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53.</a:t>
                      </a:r>
                      <a:r>
                        <a:rPr sz="700" spc="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1e00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835" algn="r">
                        <a:lnSpc>
                          <a:spcPts val="645"/>
                        </a:lnSpc>
                      </a:pPr>
                      <a:r>
                        <a:rPr sz="7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C123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207010">
                        <a:lnSpc>
                          <a:spcPts val="645"/>
                        </a:lnSpc>
                      </a:pPr>
                      <a:r>
                        <a:rPr sz="7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9855">
                <a:tc>
                  <a:txBody>
                    <a:bodyPr/>
                    <a:lstStyle/>
                    <a:p>
                      <a:pPr marR="1905" algn="ct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4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572135">
                        <a:lnSpc>
                          <a:spcPts val="76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aT84se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765"/>
                        </a:lnSpc>
                      </a:pPr>
                      <a:r>
                        <a:rPr sz="800" spc="-3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B.</a:t>
                      </a:r>
                      <a:r>
                        <a:rPr sz="800" spc="-10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esee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2565" algn="r">
                        <a:lnSpc>
                          <a:spcPts val="76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NaN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5">
                  <a:txBody>
                    <a:bodyPr/>
                    <a:lstStyle/>
                    <a:p>
                      <a:pPr marL="206375">
                        <a:lnSpc>
                          <a:spcPts val="765"/>
                        </a:lnSpc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1487966" y="8469121"/>
            <a:ext cx="238125" cy="125412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19380" marR="5080" indent="49530">
              <a:lnSpc>
                <a:spcPct val="90900"/>
              </a:lnSpc>
              <a:spcBef>
                <a:spcPts val="180"/>
              </a:spcBef>
            </a:pPr>
            <a:r>
              <a:rPr sz="750" spc="-50" dirty="0">
                <a:solidFill>
                  <a:srgbClr val="212121"/>
                </a:solidFill>
                <a:latin typeface="Arial MT"/>
                <a:cs typeface="Arial MT"/>
              </a:rPr>
              <a:t>e</a:t>
            </a:r>
            <a:r>
              <a:rPr sz="750" spc="5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212121"/>
                </a:solidFill>
                <a:latin typeface="Arial MT"/>
                <a:cs typeface="Arial MT"/>
              </a:rPr>
              <a:t>e</a:t>
            </a:r>
            <a:r>
              <a:rPr sz="700" spc="5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212121"/>
                </a:solidFill>
                <a:latin typeface="Arial MT"/>
                <a:cs typeface="Arial MT"/>
              </a:rPr>
              <a:t>0</a:t>
            </a:r>
            <a:r>
              <a:rPr sz="750" spc="5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212121"/>
                </a:solidFill>
                <a:latin typeface="Arial MT"/>
                <a:cs typeface="Arial MT"/>
              </a:rPr>
              <a:t>O</a:t>
            </a:r>
            <a:endParaRPr sz="750">
              <a:latin typeface="Arial MT"/>
              <a:cs typeface="Arial MT"/>
            </a:endParaRPr>
          </a:p>
          <a:p>
            <a:pPr marL="120650">
              <a:lnSpc>
                <a:spcPts val="745"/>
              </a:lnSpc>
            </a:pPr>
            <a:r>
              <a:rPr sz="800" spc="-50" dirty="0">
                <a:solidFill>
                  <a:srgbClr val="212121"/>
                </a:solidFill>
                <a:latin typeface="Arial MT"/>
                <a:cs typeface="Arial MT"/>
              </a:rPr>
              <a:t>e</a:t>
            </a:r>
            <a:endParaRPr sz="800">
              <a:latin typeface="Arial MT"/>
              <a:cs typeface="Arial MT"/>
            </a:endParaRPr>
          </a:p>
          <a:p>
            <a:pPr marR="67310" algn="r">
              <a:lnSpc>
                <a:spcPts val="810"/>
              </a:lnSpc>
            </a:pPr>
            <a:r>
              <a:rPr sz="750" spc="-25" dirty="0">
                <a:solidFill>
                  <a:srgbClr val="212121"/>
                </a:solidFill>
                <a:latin typeface="Calibri"/>
                <a:cs typeface="Calibri"/>
              </a:rPr>
              <a:t>177</a:t>
            </a:r>
            <a:endParaRPr sz="750">
              <a:latin typeface="Calibri"/>
              <a:cs typeface="Calibri"/>
            </a:endParaRPr>
          </a:p>
          <a:p>
            <a:pPr marR="48260" algn="r">
              <a:lnSpc>
                <a:spcPts val="800"/>
              </a:lnSpc>
            </a:pPr>
            <a:r>
              <a:rPr sz="700" spc="70" dirty="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endParaRPr sz="700">
              <a:latin typeface="Calibri"/>
              <a:cs typeface="Calibri"/>
            </a:endParaRPr>
          </a:p>
          <a:p>
            <a:pPr marL="119380" marR="47625" algn="just">
              <a:lnSpc>
                <a:spcPts val="790"/>
              </a:lnSpc>
              <a:spcBef>
                <a:spcPts val="55"/>
              </a:spcBef>
            </a:pPr>
            <a:r>
              <a:rPr sz="700" spc="50" dirty="0">
                <a:solidFill>
                  <a:srgbClr val="212121"/>
                </a:solidFill>
                <a:latin typeface="Calibri"/>
                <a:cs typeface="Calibri"/>
              </a:rPr>
              <a:t>e </a:t>
            </a:r>
            <a:r>
              <a:rPr sz="750" spc="65" dirty="0">
                <a:solidFill>
                  <a:srgbClr val="212121"/>
                </a:solidFill>
                <a:latin typeface="Calibri"/>
                <a:cs typeface="Calibri"/>
              </a:rPr>
              <a:t>e </a:t>
            </a:r>
            <a:r>
              <a:rPr sz="750" spc="-50" dirty="0">
                <a:solidFill>
                  <a:srgbClr val="212121"/>
                </a:solidFill>
                <a:latin typeface="Calibri"/>
                <a:cs typeface="Calibri"/>
              </a:rPr>
              <a:t>O</a:t>
            </a:r>
            <a:endParaRPr sz="750">
              <a:latin typeface="Calibri"/>
              <a:cs typeface="Calibri"/>
            </a:endParaRPr>
          </a:p>
          <a:p>
            <a:pPr marR="37465" algn="r">
              <a:lnSpc>
                <a:spcPts val="780"/>
              </a:lnSpc>
            </a:pPr>
            <a:r>
              <a:rPr sz="700" spc="80" dirty="0">
                <a:solidFill>
                  <a:srgbClr val="212121"/>
                </a:solidFill>
                <a:latin typeface="Calibri"/>
                <a:cs typeface="Calibri"/>
              </a:rPr>
              <a:t>687</a:t>
            </a:r>
            <a:endParaRPr sz="700">
              <a:latin typeface="Calibri"/>
              <a:cs typeface="Calibri"/>
            </a:endParaRPr>
          </a:p>
          <a:p>
            <a:pPr marR="59690" algn="r">
              <a:lnSpc>
                <a:spcPts val="815"/>
              </a:lnSpc>
            </a:pPr>
            <a:r>
              <a:rPr sz="700" spc="-50" dirty="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2420" y="8371839"/>
            <a:ext cx="795655" cy="1453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05"/>
              </a:lnSpc>
              <a:spcBef>
                <a:spcPts val="100"/>
              </a:spcBef>
            </a:pPr>
            <a:r>
              <a:rPr sz="700" spc="-30" dirty="0">
                <a:solidFill>
                  <a:srgbClr val="212121"/>
                </a:solidFill>
                <a:latin typeface="Arial MT"/>
                <a:cs typeface="Arial MT"/>
              </a:rPr>
              <a:t>His</a:t>
            </a:r>
            <a:r>
              <a:rPr sz="700" spc="27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00" spc="-55" dirty="0">
                <a:solidFill>
                  <a:srgbClr val="2B2B2B"/>
                </a:solidFill>
                <a:latin typeface="Arial MT"/>
                <a:cs typeface="Arial MT"/>
              </a:rPr>
              <a:t>s</a:t>
            </a:r>
            <a:r>
              <a:rPr sz="700" spc="-114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700" dirty="0">
                <a:solidFill>
                  <a:srgbClr val="212121"/>
                </a:solidFill>
                <a:latin typeface="Arial MT"/>
                <a:cs typeface="Arial MT"/>
              </a:rPr>
              <a:t>ing</a:t>
            </a:r>
            <a:r>
              <a:rPr sz="700" spc="165" dirty="0">
                <a:solidFill>
                  <a:srgbClr val="212121"/>
                </a:solidFill>
                <a:latin typeface="Arial MT"/>
                <a:cs typeface="Arial MT"/>
              </a:rPr>
              <a:t>  </a:t>
            </a:r>
            <a:r>
              <a:rPr sz="700" dirty="0">
                <a:solidFill>
                  <a:srgbClr val="212121"/>
                </a:solidFill>
                <a:latin typeface="Arial MT"/>
                <a:cs typeface="Arial MT"/>
              </a:rPr>
              <a:t>va</a:t>
            </a:r>
            <a:r>
              <a:rPr sz="700" spc="-12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212121"/>
                </a:solidFill>
                <a:latin typeface="Arial MT"/>
                <a:cs typeface="Arial MT"/>
              </a:rPr>
              <a:t>Sues</a:t>
            </a:r>
            <a:r>
              <a:rPr sz="7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00" spc="-50" dirty="0">
                <a:solidFill>
                  <a:srgbClr val="212121"/>
                </a:solidFill>
                <a:latin typeface="Arial MT"/>
                <a:cs typeface="Arial MT"/>
              </a:rPr>
              <a:t>:</a:t>
            </a:r>
            <a:endParaRPr sz="700">
              <a:latin typeface="Arial MT"/>
              <a:cs typeface="Arial MT"/>
            </a:endParaRPr>
          </a:p>
          <a:p>
            <a:pPr marL="15875" marR="139700" indent="53975">
              <a:lnSpc>
                <a:spcPts val="790"/>
              </a:lnSpc>
              <a:spcBef>
                <a:spcPts val="80"/>
              </a:spcBef>
            </a:pPr>
            <a:r>
              <a:rPr sz="750" spc="-50" dirty="0">
                <a:solidFill>
                  <a:srgbClr val="212121"/>
                </a:solidFill>
                <a:latin typeface="Arial MT"/>
                <a:cs typeface="Arial MT"/>
              </a:rPr>
              <a:t>Pas</a:t>
            </a:r>
            <a:r>
              <a:rPr sz="750" spc="11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12121"/>
                </a:solidFill>
                <a:latin typeface="Arial MT"/>
                <a:cs typeface="Arial MT"/>
              </a:rPr>
              <a:t>sengerl</a:t>
            </a:r>
            <a:r>
              <a:rPr sz="750" spc="-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50" dirty="0">
                <a:solidFill>
                  <a:srgbClr val="212121"/>
                </a:solidFill>
                <a:latin typeface="Arial MT"/>
                <a:cs typeface="Arial MT"/>
              </a:rPr>
              <a:t>d</a:t>
            </a:r>
            <a:r>
              <a:rPr sz="750" spc="5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00" spc="-25" dirty="0">
                <a:solidFill>
                  <a:srgbClr val="212121"/>
                </a:solidFill>
                <a:latin typeface="Arial MT"/>
                <a:cs typeface="Arial MT"/>
              </a:rPr>
              <a:t>Su</a:t>
            </a:r>
            <a:r>
              <a:rPr sz="700" spc="-11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00" spc="75" dirty="0">
                <a:solidFill>
                  <a:srgbClr val="212121"/>
                </a:solidFill>
                <a:latin typeface="Arial MT"/>
                <a:cs typeface="Arial MT"/>
              </a:rPr>
              <a:t>rvived </a:t>
            </a:r>
            <a:r>
              <a:rPr sz="750" spc="-10" dirty="0">
                <a:solidFill>
                  <a:srgbClr val="212121"/>
                </a:solidFill>
                <a:latin typeface="Arial MT"/>
                <a:cs typeface="Arial MT"/>
              </a:rPr>
              <a:t>Pctass</a:t>
            </a:r>
            <a:endParaRPr sz="750">
              <a:latin typeface="Arial MT"/>
              <a:cs typeface="Arial MT"/>
            </a:endParaRPr>
          </a:p>
          <a:p>
            <a:pPr marL="15240" marR="463550" indent="-3175">
              <a:lnSpc>
                <a:spcPct val="90300"/>
              </a:lnSpc>
            </a:pPr>
            <a:r>
              <a:rPr sz="750" spc="-20" dirty="0">
                <a:solidFill>
                  <a:srgbClr val="212121"/>
                </a:solidFill>
                <a:latin typeface="Arial MT"/>
                <a:cs typeface="Arial MT"/>
              </a:rPr>
              <a:t>Name</a:t>
            </a:r>
            <a:r>
              <a:rPr sz="750" spc="5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212121"/>
                </a:solidFill>
                <a:latin typeface="Arial MT"/>
                <a:cs typeface="Arial MT"/>
              </a:rPr>
              <a:t>Sex</a:t>
            </a:r>
            <a:r>
              <a:rPr sz="800" spc="5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25" dirty="0">
                <a:solidFill>
                  <a:srgbClr val="212121"/>
                </a:solidFill>
                <a:latin typeface="Calibri"/>
                <a:cs typeface="Calibri"/>
              </a:rPr>
              <a:t>Age</a:t>
            </a:r>
            <a:r>
              <a:rPr sz="750" spc="8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700" spc="85" dirty="0">
                <a:solidFill>
                  <a:srgbClr val="212121"/>
                </a:solidFill>
                <a:latin typeface="Calibri"/>
                <a:cs typeface="Calibri"/>
              </a:rPr>
              <a:t>SibSp </a:t>
            </a:r>
            <a:r>
              <a:rPr sz="700" spc="75" dirty="0">
                <a:solidFill>
                  <a:srgbClr val="212121"/>
                </a:solidFill>
                <a:latin typeface="Calibri"/>
                <a:cs typeface="Calibri"/>
              </a:rPr>
              <a:t>Parch </a:t>
            </a:r>
            <a:r>
              <a:rPr sz="750" spc="80" dirty="0">
                <a:solidFill>
                  <a:srgbClr val="212121"/>
                </a:solidFill>
                <a:latin typeface="Calibri"/>
                <a:cs typeface="Calibri"/>
              </a:rPr>
              <a:t>Ticket </a:t>
            </a:r>
            <a:r>
              <a:rPr sz="750" spc="45" dirty="0">
                <a:solidFill>
                  <a:srgbClr val="212121"/>
                </a:solidFill>
                <a:latin typeface="Calibri"/>
                <a:cs typeface="Calibri"/>
              </a:rPr>
              <a:t>Fare </a:t>
            </a:r>
            <a:r>
              <a:rPr sz="700" spc="80" dirty="0">
                <a:solidFill>
                  <a:srgbClr val="212121"/>
                </a:solidFill>
                <a:latin typeface="Calibri"/>
                <a:cs typeface="Calibri"/>
              </a:rPr>
              <a:t>Cabin</a:t>
            </a:r>
            <a:endParaRPr sz="700">
              <a:latin typeface="Calibri"/>
              <a:cs typeface="Calibri"/>
            </a:endParaRPr>
          </a:p>
          <a:p>
            <a:pPr marL="18415">
              <a:lnSpc>
                <a:spcPts val="745"/>
              </a:lnSpc>
            </a:pPr>
            <a:r>
              <a:rPr sz="700" spc="-10" dirty="0">
                <a:solidFill>
                  <a:srgbClr val="212121"/>
                </a:solidFill>
                <a:latin typeface="Calibri"/>
                <a:cs typeface="Calibri"/>
              </a:rPr>
              <a:t>Embarked</a:t>
            </a:r>
            <a:endParaRPr sz="700">
              <a:latin typeface="Calibri"/>
              <a:cs typeface="Calibri"/>
            </a:endParaRPr>
          </a:p>
          <a:p>
            <a:pPr marL="13970">
              <a:lnSpc>
                <a:spcPts val="850"/>
              </a:lnSpc>
            </a:pPr>
            <a:r>
              <a:rPr sz="750" spc="-35" dirty="0">
                <a:solidFill>
                  <a:srgbClr val="212121"/>
                </a:solidFill>
                <a:latin typeface="Courier New"/>
                <a:cs typeface="Courier New"/>
              </a:rPr>
              <a:t>dtype:</a:t>
            </a:r>
            <a:r>
              <a:rPr sz="750" spc="-65" dirty="0">
                <a:solidFill>
                  <a:srgbClr val="212121"/>
                </a:solidFill>
                <a:latin typeface="Courier New"/>
                <a:cs typeface="Courier New"/>
              </a:rPr>
              <a:t> </a:t>
            </a:r>
            <a:r>
              <a:rPr sz="750" spc="-10" dirty="0">
                <a:solidFill>
                  <a:srgbClr val="212121"/>
                </a:solidFill>
                <a:latin typeface="Courier New"/>
                <a:cs typeface="Courier New"/>
              </a:rPr>
              <a:t>int64</a:t>
            </a:r>
            <a:endParaRPr sz="7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0638" y="5564061"/>
            <a:ext cx="6390954" cy="335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3297" y="3615203"/>
            <a:ext cx="2494147" cy="183393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95818" y="489012"/>
            <a:ext cx="3639185" cy="38798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900"/>
              </a:lnSpc>
              <a:spcBef>
                <a:spcPts val="135"/>
              </a:spcBef>
            </a:pPr>
            <a:r>
              <a:rPr sz="800" spc="-75" dirty="0">
                <a:solidFill>
                  <a:srgbClr val="212121"/>
                </a:solidFill>
                <a:latin typeface="Arial MT"/>
                <a:cs typeface="Arial MT"/>
              </a:rPr>
              <a:t>Summary</a:t>
            </a:r>
            <a:r>
              <a:rPr sz="800" spc="4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stats</a:t>
            </a:r>
            <a:r>
              <a:rPr sz="800" spc="-9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spc="-50" dirty="0">
                <a:solidFill>
                  <a:srgbClr val="212121"/>
                </a:solidFill>
                <a:latin typeface="Arial MT"/>
                <a:cs typeface="Arial MT"/>
              </a:rPr>
              <a:t>:</a:t>
            </a:r>
            <a:endParaRPr sz="800">
              <a:latin typeface="Arial MT"/>
              <a:cs typeface="Arial MT"/>
            </a:endParaRPr>
          </a:p>
          <a:p>
            <a:pPr marL="429895">
              <a:lnSpc>
                <a:spcPts val="985"/>
              </a:lnSpc>
              <a:tabLst>
                <a:tab pos="1209040" algn="l"/>
                <a:tab pos="1932939" algn="l"/>
                <a:tab pos="2712720" algn="l"/>
                <a:tab pos="3229610" algn="l"/>
              </a:tabLst>
            </a:pPr>
            <a:r>
              <a:rPr sz="900" spc="-114" dirty="0">
                <a:solidFill>
                  <a:srgbClr val="212121"/>
                </a:solidFill>
                <a:latin typeface="Arial MT"/>
                <a:cs typeface="Arial MT"/>
              </a:rPr>
              <a:t>Passenge</a:t>
            </a:r>
            <a:r>
              <a:rPr sz="900" spc="-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25" dirty="0">
                <a:solidFill>
                  <a:srgbClr val="212121"/>
                </a:solidFill>
                <a:latin typeface="Arial MT"/>
                <a:cs typeface="Arial MT"/>
              </a:rPr>
              <a:t>rid</a:t>
            </a:r>
            <a:r>
              <a:rPr sz="900" dirty="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sz="900" spc="-10" dirty="0">
                <a:solidFill>
                  <a:srgbClr val="212121"/>
                </a:solidFill>
                <a:latin typeface="Arial MT"/>
                <a:cs typeface="Arial MT"/>
              </a:rPr>
              <a:t>Survived</a:t>
            </a:r>
            <a:r>
              <a:rPr sz="900" dirty="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sz="900" spc="-10" dirty="0">
                <a:solidFill>
                  <a:srgbClr val="212121"/>
                </a:solidFill>
                <a:latin typeface="Arial MT"/>
                <a:cs typeface="Arial MT"/>
              </a:rPr>
              <a:t>Pctass</a:t>
            </a:r>
            <a:r>
              <a:rPr sz="900" dirty="0">
                <a:solidFill>
                  <a:srgbClr val="212121"/>
                </a:solidFill>
                <a:latin typeface="Arial MT"/>
                <a:cs typeface="Arial MT"/>
              </a:rPr>
              <a:t>	</a:t>
            </a:r>
            <a:r>
              <a:rPr sz="900" spc="-25" dirty="0">
                <a:solidFill>
                  <a:srgbClr val="212121"/>
                </a:solidFill>
                <a:latin typeface="Arial MT"/>
                <a:cs typeface="Arial MT"/>
              </a:rPr>
              <a:t>Age</a:t>
            </a:r>
            <a:r>
              <a:rPr sz="900" dirty="0">
                <a:solidFill>
                  <a:srgbClr val="212121"/>
                </a:solidFill>
                <a:latin typeface="Arial MT"/>
                <a:cs typeface="Arial MT"/>
              </a:rPr>
              <a:t>	5ibSp</a:t>
            </a:r>
            <a:r>
              <a:rPr sz="900" spc="3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50" dirty="0">
                <a:solidFill>
                  <a:srgbClr val="212121"/>
                </a:solidFill>
                <a:latin typeface="Arial MT"/>
                <a:cs typeface="Arial MT"/>
              </a:rPr>
              <a:t>\</a:t>
            </a:r>
            <a:endParaRPr sz="900">
              <a:latin typeface="Arial MT"/>
              <a:cs typeface="Arial MT"/>
            </a:endParaRPr>
          </a:p>
          <a:p>
            <a:pPr marL="17780">
              <a:lnSpc>
                <a:spcPts val="919"/>
              </a:lnSpc>
              <a:tabLst>
                <a:tab pos="429259" algn="l"/>
              </a:tabLst>
            </a:pPr>
            <a:r>
              <a:rPr sz="800" spc="-10" dirty="0">
                <a:solidFill>
                  <a:srgbClr val="212121"/>
                </a:solidFill>
                <a:latin typeface="Arial MT"/>
                <a:cs typeface="Arial MT"/>
              </a:rPr>
              <a:t>count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	891.000fififi</a:t>
            </a:r>
            <a:r>
              <a:rPr sz="800" spc="459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891.000fififi</a:t>
            </a:r>
            <a:r>
              <a:rPr sz="800" spc="4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891.000fififi</a:t>
            </a:r>
            <a:r>
              <a:rPr sz="800" spc="48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714.000fififi</a:t>
            </a:r>
            <a:r>
              <a:rPr sz="800" spc="49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spc="-20" dirty="0">
                <a:solidFill>
                  <a:srgbClr val="212121"/>
                </a:solidFill>
                <a:latin typeface="Arial MT"/>
                <a:cs typeface="Arial MT"/>
              </a:rPr>
              <a:t>891.</a:t>
            </a:r>
            <a:r>
              <a:rPr sz="800" spc="-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212121"/>
                </a:solidFill>
                <a:latin typeface="Arial MT"/>
                <a:cs typeface="Arial MT"/>
              </a:rPr>
              <a:t>fi000fifi</a:t>
            </a:r>
            <a:endParaRPr sz="800">
              <a:latin typeface="Arial MT"/>
              <a:cs typeface="Arial MT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74096" y="861341"/>
          <a:ext cx="3487419" cy="19913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19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2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16205">
                <a:tc>
                  <a:txBody>
                    <a:bodyPr/>
                    <a:lstStyle/>
                    <a:p>
                      <a:pPr marL="31750">
                        <a:lnSpc>
                          <a:spcPts val="815"/>
                        </a:lnSpc>
                      </a:pPr>
                      <a:r>
                        <a:rPr sz="8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mean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81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446.000888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9060" algn="r">
                        <a:lnSpc>
                          <a:spcPts val="81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8.383838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0" algn="ctr">
                        <a:lnSpc>
                          <a:spcPts val="81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2.308642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81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29.6gg118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6835" algn="ctr">
                        <a:lnSpc>
                          <a:spcPts val="81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e.523088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">
                <a:tc>
                  <a:txBody>
                    <a:bodyPr/>
                    <a:lstStyle/>
                    <a:p>
                      <a:pPr marL="40005">
                        <a:lnSpc>
                          <a:spcPts val="875"/>
                        </a:lnSpc>
                      </a:pPr>
                      <a:r>
                        <a:rPr sz="9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std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875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257.353842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875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fi.486592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0640" algn="ctr">
                        <a:lnSpc>
                          <a:spcPts val="875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fi.836fi71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8425" algn="r">
                        <a:lnSpc>
                          <a:spcPts val="875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14.526497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875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1.192743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95">
                <a:tc>
                  <a:txBody>
                    <a:bodyPr/>
                    <a:lstStyle/>
                    <a:p>
                      <a:pPr marL="32384">
                        <a:lnSpc>
                          <a:spcPts val="790"/>
                        </a:lnSpc>
                      </a:pPr>
                      <a:r>
                        <a:rPr sz="75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mTn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790"/>
                        </a:lnSpc>
                      </a:pPr>
                      <a:r>
                        <a:rPr sz="75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I.</a:t>
                      </a:r>
                      <a:r>
                        <a:rPr sz="750" i="1" spc="14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ts val="790"/>
                        </a:lnSpc>
                      </a:pPr>
                      <a:r>
                        <a:rPr sz="75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8.</a:t>
                      </a:r>
                      <a:r>
                        <a:rPr sz="750" i="1" spc="-5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ts val="790"/>
                        </a:lnSpc>
                      </a:pPr>
                      <a:r>
                        <a:rPr sz="75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I.</a:t>
                      </a:r>
                      <a:r>
                        <a:rPr sz="750" i="1" spc="135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ts val="790"/>
                        </a:lnSpc>
                      </a:pPr>
                      <a:r>
                        <a:rPr sz="75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0.</a:t>
                      </a:r>
                      <a:r>
                        <a:rPr sz="750" spc="-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5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420000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790"/>
                        </a:lnSpc>
                      </a:pPr>
                      <a:r>
                        <a:rPr sz="75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8.</a:t>
                      </a:r>
                      <a:r>
                        <a:rPr sz="750" i="1" spc="-15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50">
                <a:tc>
                  <a:txBody>
                    <a:bodyPr/>
                    <a:lstStyle/>
                    <a:p>
                      <a:pPr marL="35560">
                        <a:lnSpc>
                          <a:spcPts val="85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25t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9050" algn="r">
                        <a:lnSpc>
                          <a:spcPts val="85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223.</a:t>
                      </a:r>
                      <a:r>
                        <a:rPr sz="800" spc="-1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500fififi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85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fi.</a:t>
                      </a:r>
                      <a:r>
                        <a:rPr sz="800" spc="-10" dirty="0">
                          <a:solidFill>
                            <a:srgbClr val="2D2D2D"/>
                          </a:solidFill>
                          <a:latin typeface="Arial MT"/>
                          <a:cs typeface="Arial MT"/>
                        </a:rPr>
                        <a:t>999888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 algn="ctr">
                        <a:lnSpc>
                          <a:spcPts val="85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2.999888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5250" algn="r">
                        <a:lnSpc>
                          <a:spcPts val="85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28.125fififi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 algn="ctr">
                        <a:lnSpc>
                          <a:spcPts val="85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fi.fi000fifi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3030">
                <a:tc>
                  <a:txBody>
                    <a:bodyPr/>
                    <a:lstStyle/>
                    <a:p>
                      <a:pPr marL="34290">
                        <a:lnSpc>
                          <a:spcPts val="795"/>
                        </a:lnSpc>
                      </a:pPr>
                      <a:r>
                        <a:rPr sz="75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SP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6034" algn="r">
                        <a:lnSpc>
                          <a:spcPts val="795"/>
                        </a:lnSpc>
                      </a:pP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4A6.888888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ts val="795"/>
                        </a:lnSpc>
                      </a:pPr>
                      <a:r>
                        <a:rPr sz="75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8.</a:t>
                      </a:r>
                      <a:r>
                        <a:rPr sz="750" i="1" spc="-5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ts val="795"/>
                        </a:lnSpc>
                      </a:pPr>
                      <a:r>
                        <a:rPr sz="75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3.000000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0330" algn="r">
                        <a:lnSpc>
                          <a:spcPts val="795"/>
                        </a:lnSpc>
                      </a:pP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GB.888888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795"/>
                        </a:lnSpc>
                      </a:pPr>
                      <a:r>
                        <a:rPr sz="75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8.</a:t>
                      </a:r>
                      <a:r>
                        <a:rPr sz="750" i="1" spc="-15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75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888888</a:t>
                      </a:r>
                      <a:endParaRPr sz="75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935">
                <a:tc>
                  <a:txBody>
                    <a:bodyPr/>
                    <a:lstStyle/>
                    <a:p>
                      <a:pPr marL="33655">
                        <a:lnSpc>
                          <a:spcPts val="80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758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0320" algn="r">
                        <a:lnSpc>
                          <a:spcPts val="805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668.</a:t>
                      </a:r>
                      <a:r>
                        <a:rPr sz="800" spc="-10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599888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805"/>
                        </a:lnSpc>
                      </a:pPr>
                      <a:r>
                        <a:rPr sz="800" spc="-4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1.</a:t>
                      </a:r>
                      <a:r>
                        <a:rPr sz="800" spc="-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999888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80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3.999888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ts val="80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38.999888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1120" algn="ctr">
                        <a:lnSpc>
                          <a:spcPts val="805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1.899988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31750">
                        <a:lnSpc>
                          <a:spcPts val="944"/>
                        </a:lnSpc>
                      </a:pPr>
                      <a:r>
                        <a:rPr sz="9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max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8575" algn="r">
                        <a:lnSpc>
                          <a:spcPts val="944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89a.</a:t>
                      </a:r>
                      <a:r>
                        <a:rPr sz="90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eee888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6680" algn="r">
                        <a:lnSpc>
                          <a:spcPts val="944"/>
                        </a:lnSpc>
                      </a:pPr>
                      <a:r>
                        <a:rPr sz="900" i="1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\.</a:t>
                      </a:r>
                      <a:r>
                        <a:rPr sz="900" i="1" spc="65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90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eee888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944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3.</a:t>
                      </a:r>
                      <a:r>
                        <a:rPr sz="90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eee888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3505" algn="r">
                        <a:lnSpc>
                          <a:spcPts val="944"/>
                        </a:lnSpc>
                      </a:pPr>
                      <a:r>
                        <a:rPr sz="900" i="1" spc="-2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88.eee888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 algn="ctr">
                        <a:lnSpc>
                          <a:spcPts val="944"/>
                        </a:lnSpc>
                      </a:pPr>
                      <a:r>
                        <a:rPr sz="90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8.8eee88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  <a:p>
                      <a:pPr marL="40005">
                        <a:lnSpc>
                          <a:spcPts val="745"/>
                        </a:lnSpc>
                      </a:pP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count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77470" marB="0"/>
                </a:tc>
                <a:tc>
                  <a:txBody>
                    <a:bodyPr/>
                    <a:lstStyle/>
                    <a:p>
                      <a:pPr marL="313690">
                        <a:lnSpc>
                          <a:spcPts val="1075"/>
                        </a:lnSpc>
                        <a:spcBef>
                          <a:spcPts val="350"/>
                        </a:spcBef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Parch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55244">
                        <a:lnSpc>
                          <a:spcPts val="740"/>
                        </a:lnSpc>
                      </a:pPr>
                      <a:r>
                        <a:rPr sz="700" spc="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8g1.</a:t>
                      </a:r>
                      <a:r>
                        <a:rPr sz="700" spc="4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eeeeee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0" marB="0"/>
                </a:tc>
                <a:tc>
                  <a:txBody>
                    <a:bodyPr/>
                    <a:lstStyle/>
                    <a:p>
                      <a:pPr marL="337820">
                        <a:lnSpc>
                          <a:spcPts val="1075"/>
                        </a:lnSpc>
                        <a:spcBef>
                          <a:spcPts val="350"/>
                        </a:spcBef>
                      </a:pPr>
                      <a:r>
                        <a:rPr sz="9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Fare</a:t>
                      </a:r>
                      <a:endParaRPr sz="900">
                        <a:latin typeface="Arial MT"/>
                        <a:cs typeface="Arial MT"/>
                      </a:endParaRPr>
                    </a:p>
                    <a:p>
                      <a:pPr marL="27305">
                        <a:lnSpc>
                          <a:spcPts val="740"/>
                        </a:lnSpc>
                      </a:pPr>
                      <a:r>
                        <a:rPr sz="700" spc="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8g1.</a:t>
                      </a:r>
                      <a:r>
                        <a:rPr sz="700" spc="4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eeeeee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44450" marB="0"/>
                </a:tc>
                <a:tc rowSpan="6"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6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8270">
                <a:tc>
                  <a:txBody>
                    <a:bodyPr/>
                    <a:lstStyle/>
                    <a:p>
                      <a:pPr marL="31750">
                        <a:lnSpc>
                          <a:spcPts val="910"/>
                        </a:lnSpc>
                      </a:pPr>
                      <a:r>
                        <a:rPr sz="900" spc="-2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mean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020">
                        <a:lnSpc>
                          <a:spcPts val="910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8.381594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ts val="910"/>
                        </a:lnSpc>
                      </a:pPr>
                      <a:r>
                        <a:rPr sz="9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32.2042fi8</a:t>
                      </a:r>
                      <a:endParaRPr sz="9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2085">
                <a:tc>
                  <a:txBody>
                    <a:bodyPr/>
                    <a:lstStyle/>
                    <a:p>
                      <a:pPr marL="40640">
                        <a:lnSpc>
                          <a:spcPts val="830"/>
                        </a:lnSpc>
                      </a:pPr>
                      <a:r>
                        <a:rPr sz="7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std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ts val="830"/>
                        </a:lnSpc>
                      </a:pP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0.806057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830"/>
                        </a:lnSpc>
                      </a:pP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4g.69342g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3990">
                <a:tc>
                  <a:txBody>
                    <a:bodyPr/>
                    <a:lstStyle/>
                    <a:p>
                      <a:pPr marL="36195">
                        <a:lnSpc>
                          <a:spcPts val="795"/>
                        </a:lnSpc>
                        <a:spcBef>
                          <a:spcPts val="475"/>
                        </a:spcBef>
                      </a:pPr>
                      <a:r>
                        <a:rPr sz="7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258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60655">
                        <a:lnSpc>
                          <a:spcPts val="795"/>
                        </a:lnSpc>
                        <a:spcBef>
                          <a:spcPts val="475"/>
                        </a:spcBef>
                      </a:pP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8.800088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32080">
                        <a:lnSpc>
                          <a:spcPts val="795"/>
                        </a:lnSpc>
                        <a:spcBef>
                          <a:spcPts val="475"/>
                        </a:spcBef>
                      </a:pPr>
                      <a:r>
                        <a:rPr sz="7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7.g10488</a:t>
                      </a:r>
                      <a:endParaRPr sz="700">
                        <a:latin typeface="Arial MT"/>
                        <a:cs typeface="Arial MT"/>
                      </a:endParaRPr>
                    </a:p>
                  </a:txBody>
                  <a:tcPr marL="0" marR="0" marT="60325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6839">
                <a:tc>
                  <a:txBody>
                    <a:bodyPr/>
                    <a:lstStyle/>
                    <a:p>
                      <a:pPr marL="34925">
                        <a:lnSpc>
                          <a:spcPts val="825"/>
                        </a:lnSpc>
                      </a:pPr>
                      <a:r>
                        <a:rPr sz="75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5@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3195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fi.fi888fifi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ts val="825"/>
                        </a:lnSpc>
                      </a:pPr>
                      <a:r>
                        <a:rPr sz="75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14.4542fifi</a:t>
                      </a:r>
                      <a:endParaRPr sz="75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315">
                <a:tc>
                  <a:txBody>
                    <a:bodyPr/>
                    <a:lstStyle/>
                    <a:p>
                      <a:pPr marL="33655">
                        <a:lnSpc>
                          <a:spcPts val="900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758</a:t>
                      </a:r>
                      <a:endParaRPr sz="800">
                        <a:latin typeface="Arial MT"/>
                        <a:cs typeface="Arial MT"/>
                      </a:endParaRPr>
                    </a:p>
                    <a:p>
                      <a:pPr marL="31750">
                        <a:lnSpc>
                          <a:spcPts val="850"/>
                        </a:lnSpc>
                      </a:pPr>
                      <a:r>
                        <a:rPr sz="800" spc="-2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nax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ts val="900"/>
                        </a:lnSpc>
                      </a:pPr>
                      <a:r>
                        <a:rPr sz="800" i="1" spc="-10" dirty="0">
                          <a:solidFill>
                            <a:srgbClr val="212121"/>
                          </a:solidFill>
                          <a:latin typeface="Arial"/>
                          <a:cs typeface="Arial"/>
                        </a:rPr>
                        <a:t>8.888888</a:t>
                      </a:r>
                      <a:endParaRPr sz="800">
                        <a:latin typeface="Arial"/>
                        <a:cs typeface="Arial"/>
                      </a:endParaRPr>
                    </a:p>
                    <a:p>
                      <a:pPr marL="160020">
                        <a:lnSpc>
                          <a:spcPts val="850"/>
                        </a:lnSpc>
                      </a:pPr>
                      <a:r>
                        <a:rPr sz="800" spc="-1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6.8999fifi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6670" marR="153670" indent="52069">
                        <a:lnSpc>
                          <a:spcPts val="900"/>
                        </a:lnSpc>
                      </a:pPr>
                      <a:r>
                        <a:rPr sz="800" spc="-3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3s.eeeeee</a:t>
                      </a:r>
                      <a:r>
                        <a:rPr sz="800" spc="500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800" spc="-35" dirty="0">
                          <a:solidFill>
                            <a:srgbClr val="212121"/>
                          </a:solidFill>
                          <a:latin typeface="Arial MT"/>
                          <a:cs typeface="Arial MT"/>
                        </a:rPr>
                        <a:t>512.329288</a:t>
                      </a:r>
                      <a:endParaRPr sz="800">
                        <a:latin typeface="Arial MT"/>
                        <a:cs typeface="Arial MT"/>
                      </a:endParaRPr>
                    </a:p>
                  </a:txBody>
                  <a:tcPr marL="0" marR="0" marT="0" marB="0"/>
                </a:tc>
                <a:tc gridSpan="3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91987" y="2943573"/>
            <a:ext cx="1842770" cy="656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990"/>
              </a:lnSpc>
              <a:spcBef>
                <a:spcPts val="90"/>
              </a:spcBef>
            </a:pPr>
            <a:r>
              <a:rPr sz="900" spc="-90" dirty="0">
                <a:solidFill>
                  <a:srgbClr val="212121"/>
                </a:solidFill>
                <a:latin typeface="Arial MT"/>
                <a:cs typeface="Arial MT"/>
              </a:rPr>
              <a:t>Bean</a:t>
            </a:r>
            <a:r>
              <a:rPr sz="900" spc="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40" dirty="0">
                <a:solidFill>
                  <a:srgbClr val="212121"/>
                </a:solidFill>
                <a:latin typeface="Arial MT"/>
                <a:cs typeface="Arial MT"/>
              </a:rPr>
              <a:t>Age:</a:t>
            </a:r>
            <a:r>
              <a:rPr sz="900" spc="1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65" dirty="0">
                <a:solidFill>
                  <a:srgbClr val="212121"/>
                </a:solidFill>
                <a:latin typeface="Arial MT"/>
                <a:cs typeface="Arial MT"/>
              </a:rPr>
              <a:t>29.</a:t>
            </a:r>
            <a:r>
              <a:rPr sz="900" spc="-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35" dirty="0">
                <a:solidFill>
                  <a:srgbClr val="212121"/>
                </a:solidFill>
                <a:latin typeface="Arial MT"/>
                <a:cs typeface="Arial MT"/>
              </a:rPr>
              <a:t>69911764785882</a:t>
            </a:r>
            <a:endParaRPr sz="900">
              <a:latin typeface="Arial MT"/>
              <a:cs typeface="Arial MT"/>
            </a:endParaRPr>
          </a:p>
          <a:p>
            <a:pPr marL="12700">
              <a:lnSpc>
                <a:spcPts val="975"/>
              </a:lnSpc>
            </a:pPr>
            <a:r>
              <a:rPr sz="900" spc="-55" dirty="0">
                <a:solidFill>
                  <a:srgbClr val="212121"/>
                </a:solidFill>
                <a:latin typeface="Arial MT"/>
                <a:cs typeface="Arial MT"/>
              </a:rPr>
              <a:t>Nedian</a:t>
            </a:r>
            <a:r>
              <a:rPr sz="900" spc="8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45" dirty="0">
                <a:solidFill>
                  <a:srgbClr val="212121"/>
                </a:solidFill>
                <a:latin typeface="Arial MT"/>
                <a:cs typeface="Arial MT"/>
              </a:rPr>
              <a:t>Age:</a:t>
            </a:r>
            <a:r>
              <a:rPr sz="900" spc="11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212121"/>
                </a:solidFill>
                <a:latin typeface="Arial MT"/>
                <a:cs typeface="Arial MT"/>
              </a:rPr>
              <a:t>28.8</a:t>
            </a:r>
            <a:endParaRPr sz="900">
              <a:latin typeface="Arial MT"/>
              <a:cs typeface="Arial MT"/>
            </a:endParaRPr>
          </a:p>
          <a:p>
            <a:pPr marL="17145">
              <a:lnSpc>
                <a:spcPts val="940"/>
              </a:lnSpc>
            </a:pP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$td</a:t>
            </a:r>
            <a:r>
              <a:rPr sz="800" spc="14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oev</a:t>
            </a:r>
            <a:r>
              <a:rPr sz="800" spc="15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212121"/>
                </a:solidFill>
                <a:latin typeface="Arial MT"/>
                <a:cs typeface="Arial MT"/>
              </a:rPr>
              <a:t>Age:</a:t>
            </a:r>
            <a:r>
              <a:rPr sz="800" spc="2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800" spc="-10" dirty="0">
                <a:solidFill>
                  <a:srgbClr val="212121"/>
                </a:solidFill>
                <a:latin typeface="Arial MT"/>
                <a:cs typeface="Arial MT"/>
              </a:rPr>
              <a:t>:t4.5\6321158817317</a:t>
            </a:r>
            <a:endParaRPr sz="800">
              <a:latin typeface="Arial MT"/>
              <a:cs typeface="Arial MT"/>
            </a:endParaRPr>
          </a:p>
          <a:p>
            <a:pPr marL="15875">
              <a:lnSpc>
                <a:spcPts val="894"/>
              </a:lnSpc>
            </a:pPr>
            <a:r>
              <a:rPr sz="750" dirty="0">
                <a:solidFill>
                  <a:srgbClr val="212121"/>
                </a:solidFill>
                <a:latin typeface="Arial MT"/>
                <a:cs typeface="Arial MT"/>
              </a:rPr>
              <a:t>Cost</a:t>
            </a:r>
            <a:r>
              <a:rPr sz="750" spc="21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85" dirty="0">
                <a:solidFill>
                  <a:srgbClr val="212121"/>
                </a:solidFill>
                <a:latin typeface="Arial MT"/>
                <a:cs typeface="Arial MT"/>
              </a:rPr>
              <a:t>Common</a:t>
            </a:r>
            <a:r>
              <a:rPr sz="750" spc="22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12121"/>
                </a:solidFill>
                <a:latin typeface="Arial MT"/>
                <a:cs typeface="Arial MT"/>
              </a:rPr>
              <a:t>Age</a:t>
            </a:r>
            <a:r>
              <a:rPr sz="750" spc="254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212121"/>
                </a:solidFill>
                <a:latin typeface="Arial MT"/>
                <a:cs typeface="Arial MT"/>
              </a:rPr>
              <a:t>(Hode):</a:t>
            </a:r>
            <a:r>
              <a:rPr sz="750" spc="300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750" spc="-20" dirty="0">
                <a:solidFill>
                  <a:srgbClr val="212121"/>
                </a:solidFill>
                <a:latin typeface="Arial MT"/>
                <a:cs typeface="Arial MT"/>
              </a:rPr>
              <a:t>24.8</a:t>
            </a:r>
            <a:endParaRPr sz="750">
              <a:latin typeface="Arial MT"/>
              <a:cs typeface="Arial MT"/>
            </a:endParaRPr>
          </a:p>
          <a:p>
            <a:pPr marL="956944">
              <a:lnSpc>
                <a:spcPct val="100000"/>
              </a:lnSpc>
              <a:spcBef>
                <a:spcPts val="270"/>
              </a:spcBef>
            </a:pPr>
            <a:r>
              <a:rPr sz="750" spc="-10" dirty="0">
                <a:latin typeface="Arial MT"/>
                <a:cs typeface="Arial MT"/>
              </a:rPr>
              <a:t>Titanic</a:t>
            </a:r>
            <a:r>
              <a:rPr sz="750" spc="-15" dirty="0">
                <a:latin typeface="Arial MT"/>
                <a:cs typeface="Arial MT"/>
              </a:rPr>
              <a:t> </a:t>
            </a:r>
            <a:r>
              <a:rPr sz="750" spc="-25" dirty="0">
                <a:latin typeface="Arial MT"/>
                <a:cs typeface="Arial MT"/>
              </a:rPr>
              <a:t>Survival </a:t>
            </a:r>
            <a:r>
              <a:rPr sz="750" spc="-10" dirty="0">
                <a:latin typeface="Arial MT"/>
                <a:cs typeface="Arial MT"/>
              </a:rPr>
              <a:t>Count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192021"/>
          <a:ext cx="6483985" cy="84353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9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61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49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635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  <a:spcBef>
                          <a:spcPts val="7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sz="12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2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Jupiter</a:t>
                      </a:r>
                      <a:r>
                        <a:rPr sz="1200" spc="3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notebook,</a:t>
                      </a:r>
                      <a:r>
                        <a:rPr sz="12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3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Python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calculations(Mean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29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median,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deviation)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517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11125">
                        <a:lnSpc>
                          <a:spcPts val="1400"/>
                        </a:lnSpc>
                        <a:spcBef>
                          <a:spcPts val="1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Jupiter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notebook,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calculations(Mean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median,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standard deviation)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794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2275840">
                        <a:lnSpc>
                          <a:spcPts val="1390"/>
                        </a:lnSpc>
                        <a:spcBef>
                          <a:spcPts val="5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1: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Set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Up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Configure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Environment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Step-by-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Instructions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8440" indent="-148590">
                        <a:lnSpc>
                          <a:spcPts val="1320"/>
                        </a:lnSpc>
                        <a:buAutoNum type="arabicPeriod"/>
                        <a:tabLst>
                          <a:tab pos="21844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Install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Anaconda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Visit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official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website: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https://</a:t>
                      </a:r>
                      <a:r>
                        <a:rPr sz="1200" spc="-10" dirty="0">
                          <a:latin typeface="Times New Roman"/>
                          <a:cs typeface="Times New Roman"/>
                          <a:hlinkClick r:id="rId2"/>
                        </a:rPr>
                        <a:t>www.anaconda.com/products/distribution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Download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version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your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(Windows/Linux/Mac).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Run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installer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follow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instructions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complete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installation.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385"/>
                        </a:lnSpc>
                        <a:buAutoNum type="arabicPeriod"/>
                        <a:tabLst>
                          <a:tab pos="21717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Launch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Navigator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Prompt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Navigator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(GUI).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Option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2: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Prompt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(Command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2775585" indent="-30480">
                        <a:lnSpc>
                          <a:spcPts val="1380"/>
                        </a:lnSpc>
                        <a:spcBef>
                          <a:spcPts val="65"/>
                        </a:spcBef>
                        <a:buAutoNum type="arabicPeriod"/>
                        <a:tabLst>
                          <a:tab pos="69850" algn="l"/>
                          <a:tab pos="18669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	Create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Virtual Environment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(optional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recommended) conda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ml_env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python=3.10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activate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ml_env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5430" marR="4606290" indent="-227965">
                        <a:lnSpc>
                          <a:spcPct val="96300"/>
                        </a:lnSpc>
                        <a:spcBef>
                          <a:spcPts val="25"/>
                        </a:spcBef>
                        <a:buAutoNum type="arabicPeriod" startAt="4"/>
                        <a:tabLst>
                          <a:tab pos="46037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Install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Packages 	conda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numpy 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pandas 	conda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matplotlib 	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conda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jupyter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653280" indent="-32384">
                        <a:lnSpc>
                          <a:spcPts val="1390"/>
                        </a:lnSpc>
                        <a:spcBef>
                          <a:spcPts val="30"/>
                        </a:spcBef>
                        <a:buAutoNum type="arabicPeriod" startAt="4"/>
                        <a:tabLst>
                          <a:tab pos="69850" algn="l"/>
                          <a:tab pos="26543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	Launch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Jupyter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Notebook jupyter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notebook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2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will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browser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window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Jupyter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interface.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create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notebook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"New"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dropdown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(select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"Python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3").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665480">
                        <a:lnSpc>
                          <a:spcPts val="1380"/>
                        </a:lnSpc>
                        <a:spcBef>
                          <a:spcPts val="65"/>
                        </a:spcBef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Task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2: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Statistical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Calculations Objective: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program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9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41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Statistical computations: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Median,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Standard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Deviation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68897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Anaconda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installed,</a:t>
                      </a:r>
                      <a:r>
                        <a:rPr sz="11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Python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environment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configured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8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operations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911351"/>
          <a:ext cx="6482079" cy="8821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9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calculations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executes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without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errors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364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9752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Source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Code: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557270">
                        <a:lnSpc>
                          <a:spcPct val="19250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numpy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5"/>
                        </a:lnSpc>
                        <a:spcBef>
                          <a:spcPts val="13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 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00748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print("Arithmetic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Operations:") print(f"Addition: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 +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695700">
                        <a:lnSpc>
                          <a:spcPts val="138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print(f"Subtraction: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 -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print(f"Multiplication: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print(f"Division: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484879">
                        <a:lnSpc>
                          <a:spcPct val="96300"/>
                        </a:lnSpc>
                        <a:spcBef>
                          <a:spcPts val="2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print(f"Modulus: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 {a %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print(f"Exponentiation: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**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**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820920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[10,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20,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30,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40,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50]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799965">
                        <a:lnSpc>
                          <a:spcPct val="96300"/>
                        </a:lnSpc>
                        <a:spcBef>
                          <a:spcPts val="135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np.mean(data)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median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np.median(data)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std_dev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np.std(data)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44690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print("Statistical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Calculations:")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print(f"Data: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{data}")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print(f"Mean: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{mean}")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959225">
                        <a:lnSpc>
                          <a:spcPts val="1380"/>
                        </a:lnSpc>
                        <a:spcBef>
                          <a:spcPts val="7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print(f"Median: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{median}") print(f"Standard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Deviation: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{std_dev}")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557270">
                        <a:lnSpc>
                          <a:spcPts val="2770"/>
                        </a:lnSpc>
                        <a:spcBef>
                          <a:spcPts val="28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Calculations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numpy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0"/>
                        </a:lnSpc>
                        <a:spcBef>
                          <a:spcPts val="1019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#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Arithmetic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 =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007485">
                        <a:lnSpc>
                          <a:spcPts val="1390"/>
                        </a:lnSpc>
                        <a:spcBef>
                          <a:spcPts val="5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print("Arithmetic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Operations:") print(f"Addition: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 +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print(f"Subtraction: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 -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69570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print(f"Multiplication: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print(f"Division: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print(f"Modulus: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{a}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{b}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= {a %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b}")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6448" y="914399"/>
            <a:ext cx="6489065" cy="5107940"/>
          </a:xfrm>
          <a:custGeom>
            <a:avLst/>
            <a:gdLst/>
            <a:ahLst/>
            <a:cxnLst/>
            <a:rect l="l" t="t" r="r" b="b"/>
            <a:pathLst>
              <a:path w="6489065" h="5107940">
                <a:moveTo>
                  <a:pt x="6488938" y="0"/>
                </a:moveTo>
                <a:lnTo>
                  <a:pt x="6482842" y="0"/>
                </a:lnTo>
                <a:lnTo>
                  <a:pt x="6096" y="0"/>
                </a:lnTo>
                <a:lnTo>
                  <a:pt x="0" y="0"/>
                </a:lnTo>
                <a:lnTo>
                  <a:pt x="0" y="6096"/>
                </a:lnTo>
                <a:lnTo>
                  <a:pt x="0" y="5107813"/>
                </a:lnTo>
                <a:lnTo>
                  <a:pt x="6096" y="5107813"/>
                </a:lnTo>
                <a:lnTo>
                  <a:pt x="6096" y="6096"/>
                </a:lnTo>
                <a:lnTo>
                  <a:pt x="6482842" y="6096"/>
                </a:lnTo>
                <a:lnTo>
                  <a:pt x="6482842" y="5107813"/>
                </a:lnTo>
                <a:lnTo>
                  <a:pt x="6488938" y="5107813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6900" y="897381"/>
            <a:ext cx="6435090" cy="724725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3493770">
              <a:lnSpc>
                <a:spcPts val="1390"/>
              </a:lnSpc>
              <a:spcBef>
                <a:spcPts val="185"/>
              </a:spcBef>
            </a:pPr>
            <a:r>
              <a:rPr sz="1200" spc="-10" dirty="0">
                <a:latin typeface="Times New Roman"/>
                <a:cs typeface="Times New Roman"/>
              </a:rPr>
              <a:t>print(f"Exponentiation: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{a}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**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{b}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{a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**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b}") </a:t>
            </a:r>
            <a:r>
              <a:rPr sz="1200" spc="-10" dirty="0">
                <a:latin typeface="Times New Roman"/>
                <a:cs typeface="Times New Roman"/>
              </a:rPr>
              <a:t>print()</a:t>
            </a:r>
            <a:endParaRPr sz="1200">
              <a:latin typeface="Times New Roman"/>
              <a:cs typeface="Times New Roman"/>
            </a:endParaRPr>
          </a:p>
          <a:p>
            <a:pPr marL="12700" marR="4830445">
              <a:lnSpc>
                <a:spcPts val="1390"/>
              </a:lnSpc>
              <a:spcBef>
                <a:spcPts val="1375"/>
              </a:spcBef>
            </a:pPr>
            <a:r>
              <a:rPr sz="1200" dirty="0">
                <a:latin typeface="Times New Roman"/>
                <a:cs typeface="Times New Roman"/>
              </a:rPr>
              <a:t>#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Calculations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[10,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30,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40,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50]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808855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mean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np.mean(data) </a:t>
            </a:r>
            <a:r>
              <a:rPr sz="1200" dirty="0">
                <a:latin typeface="Times New Roman"/>
                <a:cs typeface="Times New Roman"/>
              </a:rPr>
              <a:t>median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np.median(data) </a:t>
            </a:r>
            <a:r>
              <a:rPr sz="1200" dirty="0">
                <a:latin typeface="Times New Roman"/>
                <a:cs typeface="Times New Roman"/>
              </a:rPr>
              <a:t>std_dev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np.std(data)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 marR="4456430">
              <a:lnSpc>
                <a:spcPts val="1390"/>
              </a:lnSpc>
            </a:pPr>
            <a:r>
              <a:rPr sz="1200" spc="-10" dirty="0">
                <a:latin typeface="Times New Roman"/>
                <a:cs typeface="Times New Roman"/>
              </a:rPr>
              <a:t>print("Statistical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Calculations:") </a:t>
            </a:r>
            <a:r>
              <a:rPr sz="1200" dirty="0">
                <a:latin typeface="Times New Roman"/>
                <a:cs typeface="Times New Roman"/>
              </a:rPr>
              <a:t>print(f"Data: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{data}")</a:t>
            </a:r>
            <a:endParaRPr sz="1200">
              <a:latin typeface="Times New Roman"/>
              <a:cs typeface="Times New Roman"/>
            </a:endParaRPr>
          </a:p>
          <a:p>
            <a:pPr marL="12700" marR="4708525">
              <a:lnSpc>
                <a:spcPts val="1380"/>
              </a:lnSpc>
            </a:pPr>
            <a:r>
              <a:rPr sz="1200" spc="-10" dirty="0">
                <a:latin typeface="Times New Roman"/>
                <a:cs typeface="Times New Roman"/>
              </a:rPr>
              <a:t>print(f"Mean: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{mean}") print(f"Median: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{median}")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</a:pPr>
            <a:r>
              <a:rPr sz="1200" spc="-10" dirty="0">
                <a:latin typeface="Times New Roman"/>
                <a:cs typeface="Times New Roman"/>
              </a:rPr>
              <a:t>print(f"Standard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Deviation: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{std_dev}")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0"/>
              </a:spcBef>
            </a:pPr>
            <a:r>
              <a:rPr sz="1200" dirty="0">
                <a:latin typeface="Times New Roman"/>
                <a:cs typeface="Times New Roman"/>
              </a:rPr>
              <a:t>Arithmetic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Operations: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Addition: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+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19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Subtraction: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11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spc="-10" dirty="0">
                <a:latin typeface="Times New Roman"/>
                <a:cs typeface="Times New Roman"/>
              </a:rPr>
              <a:t>Multiplication: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 </a:t>
            </a:r>
            <a:r>
              <a:rPr sz="1200" spc="-35" dirty="0">
                <a:latin typeface="Times New Roman"/>
                <a:cs typeface="Times New Roman"/>
              </a:rPr>
              <a:t>60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Division: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3.75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Modulus: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15 %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 =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3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spc="-10" dirty="0">
                <a:latin typeface="Times New Roman"/>
                <a:cs typeface="Times New Roman"/>
              </a:rPr>
              <a:t>Exponentiation: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**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=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50625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  <a:spcBef>
                <a:spcPts val="1335"/>
              </a:spcBef>
            </a:pPr>
            <a:r>
              <a:rPr sz="1200" dirty="0">
                <a:latin typeface="Times New Roman"/>
                <a:cs typeface="Times New Roman"/>
              </a:rPr>
              <a:t>Statistical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Calculations: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Data: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[10,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20,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30,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40,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50]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Mean: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30.0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85"/>
              </a:lnSpc>
            </a:pPr>
            <a:r>
              <a:rPr sz="1200" dirty="0">
                <a:latin typeface="Times New Roman"/>
                <a:cs typeface="Times New Roman"/>
              </a:rPr>
              <a:t>Median: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30.0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dirty="0">
                <a:latin typeface="Times New Roman"/>
                <a:cs typeface="Times New Roman"/>
              </a:rPr>
              <a:t>Standard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Deviation: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14.142135623730951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410"/>
              </a:lnSpc>
            </a:pPr>
            <a:r>
              <a:rPr sz="1200" b="1" spc="-10" dirty="0">
                <a:latin typeface="Times New Roman"/>
                <a:cs typeface="Times New Roman"/>
              </a:rPr>
              <a:t>Conclusion:</a:t>
            </a:r>
            <a:endParaRPr sz="1200">
              <a:latin typeface="Times New Roman"/>
              <a:cs typeface="Times New Roman"/>
            </a:endParaRPr>
          </a:p>
          <a:p>
            <a:pPr marL="12700" marR="5715" algn="just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experiment,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up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environment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Anaconda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Jupyter </a:t>
            </a:r>
            <a:r>
              <a:rPr sz="1200" dirty="0">
                <a:latin typeface="Times New Roman"/>
                <a:cs typeface="Times New Roman"/>
              </a:rPr>
              <a:t>Notebook,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powerful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user-friendly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platform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scientific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computing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analysis.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demonstrated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programming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both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arithmetic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statistical calculations.</a:t>
            </a:r>
            <a:endParaRPr sz="1200">
              <a:latin typeface="Times New Roman"/>
              <a:cs typeface="Times New Roman"/>
            </a:endParaRPr>
          </a:p>
          <a:p>
            <a:pPr marL="12700" marR="5080" algn="just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Python’s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built-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capabilities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NumPy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library,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computed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key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statistical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measures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as </a:t>
            </a:r>
            <a:r>
              <a:rPr sz="1200" dirty="0">
                <a:latin typeface="Times New Roman"/>
                <a:cs typeface="Times New Roman"/>
              </a:rPr>
              <a:t>mean,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median,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standard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deviation,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which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5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foundational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analytics.</a:t>
            </a:r>
            <a:r>
              <a:rPr sz="1200" spc="26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experiment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reinforced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understanding of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core Python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syntax,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mathematical operations,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spc="-10" dirty="0">
                <a:latin typeface="Times New Roman"/>
                <a:cs typeface="Times New Roman"/>
              </a:rPr>
              <a:t>handling—skills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essential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progressing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advanced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topics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like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preprocessing,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visualization,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learning.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325"/>
              </a:lnSpc>
            </a:pPr>
            <a:r>
              <a:rPr sz="1200" dirty="0">
                <a:latin typeface="Times New Roman"/>
                <a:cs typeface="Times New Roman"/>
              </a:rPr>
              <a:t>Thus,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exercise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foundation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students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begin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working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9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Python,</a:t>
            </a:r>
            <a:endParaRPr sz="1200">
              <a:latin typeface="Times New Roman"/>
              <a:cs typeface="Times New Roman"/>
            </a:endParaRPr>
          </a:p>
          <a:p>
            <a:pPr marL="12700" algn="just">
              <a:lnSpc>
                <a:spcPts val="1415"/>
              </a:lnSpc>
            </a:pPr>
            <a:r>
              <a:rPr sz="1200" dirty="0">
                <a:latin typeface="Times New Roman"/>
                <a:cs typeface="Times New Roman"/>
              </a:rPr>
              <a:t>setting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stage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further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exploration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applications.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36448" y="6022225"/>
            <a:ext cx="6489065" cy="2294255"/>
          </a:xfrm>
          <a:custGeom>
            <a:avLst/>
            <a:gdLst/>
            <a:ahLst/>
            <a:cxnLst/>
            <a:rect l="l" t="t" r="r" b="b"/>
            <a:pathLst>
              <a:path w="6489065" h="2294254">
                <a:moveTo>
                  <a:pt x="6096" y="6210"/>
                </a:moveTo>
                <a:lnTo>
                  <a:pt x="0" y="6210"/>
                </a:lnTo>
                <a:lnTo>
                  <a:pt x="0" y="2287892"/>
                </a:lnTo>
                <a:lnTo>
                  <a:pt x="6096" y="2287892"/>
                </a:lnTo>
                <a:lnTo>
                  <a:pt x="6096" y="6210"/>
                </a:lnTo>
                <a:close/>
              </a:path>
              <a:path w="6489065" h="2294254">
                <a:moveTo>
                  <a:pt x="6488938" y="2287905"/>
                </a:moveTo>
                <a:lnTo>
                  <a:pt x="6482842" y="2287905"/>
                </a:lnTo>
                <a:lnTo>
                  <a:pt x="6096" y="2287905"/>
                </a:lnTo>
                <a:lnTo>
                  <a:pt x="0" y="2287905"/>
                </a:lnTo>
                <a:lnTo>
                  <a:pt x="0" y="2293988"/>
                </a:lnTo>
                <a:lnTo>
                  <a:pt x="6096" y="2293988"/>
                </a:lnTo>
                <a:lnTo>
                  <a:pt x="6482842" y="2293988"/>
                </a:lnTo>
                <a:lnTo>
                  <a:pt x="6488938" y="2293988"/>
                </a:lnTo>
                <a:lnTo>
                  <a:pt x="6488938" y="2287905"/>
                </a:lnTo>
                <a:close/>
              </a:path>
              <a:path w="6489065" h="2294254">
                <a:moveTo>
                  <a:pt x="6488938" y="6210"/>
                </a:moveTo>
                <a:lnTo>
                  <a:pt x="6482842" y="6210"/>
                </a:lnTo>
                <a:lnTo>
                  <a:pt x="6482842" y="2287892"/>
                </a:lnTo>
                <a:lnTo>
                  <a:pt x="6488938" y="2287892"/>
                </a:lnTo>
                <a:lnTo>
                  <a:pt x="6488938" y="6210"/>
                </a:lnTo>
                <a:close/>
              </a:path>
              <a:path w="6489065" h="2294254">
                <a:moveTo>
                  <a:pt x="6488938" y="0"/>
                </a:moveTo>
                <a:lnTo>
                  <a:pt x="6482842" y="0"/>
                </a:lnTo>
                <a:lnTo>
                  <a:pt x="6096" y="0"/>
                </a:lnTo>
                <a:lnTo>
                  <a:pt x="0" y="0"/>
                </a:lnTo>
                <a:lnTo>
                  <a:pt x="0" y="6083"/>
                </a:lnTo>
                <a:lnTo>
                  <a:pt x="6096" y="6083"/>
                </a:lnTo>
                <a:lnTo>
                  <a:pt x="6482842" y="6083"/>
                </a:lnTo>
                <a:lnTo>
                  <a:pt x="6488938" y="6083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890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5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63877"/>
            <a:ext cx="7559040" cy="820407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192021"/>
          <a:ext cx="6480810" cy="8481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Download</a:t>
                      </a:r>
                      <a:r>
                        <a:rPr sz="12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repositories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/R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including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encoding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80695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Download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other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repositories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basic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processing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/R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including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values,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encoding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1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50495">
                        <a:lnSpc>
                          <a:spcPts val="1400"/>
                        </a:lnSpc>
                        <a:spcBef>
                          <a:spcPts val="5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preprocessing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crucial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science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pipeline.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is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often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messy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cleaning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transformation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ensure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modeling.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305"/>
                        </a:lnSpc>
                        <a:buAutoNum type="arabicPeriod"/>
                        <a:tabLst>
                          <a:tab pos="21717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Handling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Why?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Machine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cannot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handle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effectively.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Techniques: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2" indent="-228600">
                        <a:lnSpc>
                          <a:spcPts val="1385"/>
                        </a:lnSpc>
                        <a:buFont typeface="Wingdings"/>
                        <a:buChar char=""/>
                        <a:tabLst>
                          <a:tab pos="9175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Remove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rows/columns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2" indent="-228600">
                        <a:lnSpc>
                          <a:spcPts val="1385"/>
                        </a:lnSpc>
                        <a:buFont typeface="Wingdings"/>
                        <a:buChar char=""/>
                        <a:tabLst>
                          <a:tab pos="9175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Replace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(impute)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mean/median/mode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2" indent="-228600">
                        <a:lnSpc>
                          <a:spcPts val="1380"/>
                        </a:lnSpc>
                        <a:buFont typeface="Wingdings"/>
                        <a:buChar char="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more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advanced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methods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KNN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imputation)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385"/>
                        </a:lnSpc>
                        <a:buAutoNum type="arabicPeriod"/>
                        <a:tabLst>
                          <a:tab pos="21717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Encoding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Categorical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Variables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Why?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require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numerical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Techniques: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2" indent="-228600">
                        <a:lnSpc>
                          <a:spcPts val="1385"/>
                        </a:lnSpc>
                        <a:buFont typeface="Wingdings"/>
                        <a:buChar char=""/>
                        <a:tabLst>
                          <a:tab pos="9175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Label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Encoding: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Converts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unique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integer.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2" indent="-228600">
                        <a:lnSpc>
                          <a:spcPts val="1380"/>
                        </a:lnSpc>
                        <a:buFont typeface="Wingdings"/>
                        <a:buChar char=""/>
                        <a:tabLst>
                          <a:tab pos="917575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Encoding: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Creates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columns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category.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17170" indent="-147320">
                        <a:lnSpc>
                          <a:spcPts val="1385"/>
                        </a:lnSpc>
                        <a:buAutoNum type="arabicPeriod"/>
                        <a:tabLst>
                          <a:tab pos="21717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Normalization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(Scaling)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Why?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different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scales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bias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distance-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lvl="1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Techniques: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6175" lvl="2" indent="-228600">
                        <a:lnSpc>
                          <a:spcPts val="1385"/>
                        </a:lnSpc>
                        <a:buFont typeface="Wingdings"/>
                        <a:buChar char=""/>
                        <a:tabLst>
                          <a:tab pos="1146175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Min-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Max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Scaling: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Scales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1.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146175" lvl="2" indent="-228600">
                        <a:lnSpc>
                          <a:spcPts val="1410"/>
                        </a:lnSpc>
                        <a:buFont typeface="Wingdings"/>
                        <a:buChar char=""/>
                        <a:tabLst>
                          <a:tab pos="1146175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Standardization: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Transforms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have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zero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unit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variance.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08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5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5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sourced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open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repository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2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8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02920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Missing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values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identified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handled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5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Categorical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encoded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Normalization</a:t>
                      </a:r>
                      <a:r>
                        <a:rPr sz="1200" spc="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Code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documented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14145">
                <a:tc gridSpan="6">
                  <a:txBody>
                    <a:bodyPr/>
                    <a:lstStyle/>
                    <a:p>
                      <a:pPr marL="2540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(Using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Pandas/Scikit-learn)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0640">
                        <a:lnSpc>
                          <a:spcPts val="1385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Download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655695">
                        <a:lnSpc>
                          <a:spcPts val="1390"/>
                        </a:lnSpc>
                        <a:spcBef>
                          <a:spcPts val="5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Example: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  <a:hlinkClick r:id="rId2"/>
                        </a:rPr>
                        <a:t>UCI</a:t>
                      </a:r>
                      <a:r>
                        <a:rPr sz="1200" spc="-40" dirty="0">
                          <a:latin typeface="Times New Roman"/>
                          <a:cs typeface="Times New Roman"/>
                          <a:hlinkClick r:id="rId2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  <a:hlinkClick r:id="rId2"/>
                        </a:rPr>
                        <a:t>Iris</a:t>
                      </a:r>
                      <a:r>
                        <a:rPr sz="1200" spc="-35" dirty="0">
                          <a:latin typeface="Times New Roman"/>
                          <a:cs typeface="Times New Roman"/>
                          <a:hlinkClick r:id="rId2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  <a:hlinkClick r:id="rId2"/>
                        </a:rPr>
                        <a:t>Dataset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Titanic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690745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pandas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.csv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file.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Step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Explore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2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View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few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rows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7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Check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types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495" y="917447"/>
            <a:ext cx="6483350" cy="144081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3810" rIns="0" bIns="0" rtlCol="0">
            <a:spAutoFit/>
          </a:bodyPr>
          <a:lstStyle/>
          <a:p>
            <a:pPr marL="69850" marR="4509135" indent="390525">
              <a:lnSpc>
                <a:spcPts val="1390"/>
              </a:lnSpc>
              <a:spcBef>
                <a:spcPts val="30"/>
              </a:spcBef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Identify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4: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Handle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Values</a:t>
            </a:r>
            <a:endParaRPr sz="1200">
              <a:latin typeface="Times New Roman"/>
              <a:cs typeface="Times New Roman"/>
            </a:endParaRPr>
          </a:p>
          <a:p>
            <a:pPr marL="69850" marR="3227070" indent="390525">
              <a:lnSpc>
                <a:spcPts val="138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isnull(),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fillna(),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dropna()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data </a:t>
            </a:r>
            <a:r>
              <a:rPr sz="1200" dirty="0">
                <a:latin typeface="Times New Roman"/>
                <a:cs typeface="Times New Roman"/>
              </a:rPr>
              <a:t>Step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5: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Encode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Categorical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Variables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355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pd.get_dummies()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 LabelEncoder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</a:t>
            </a:r>
            <a:endParaRPr sz="1200">
              <a:latin typeface="Times New Roman"/>
              <a:cs typeface="Times New Roman"/>
            </a:endParaRPr>
          </a:p>
          <a:p>
            <a:pPr marL="69850">
              <a:lnSpc>
                <a:spcPts val="1435"/>
              </a:lnSpc>
              <a:spcBef>
                <a:spcPts val="120"/>
              </a:spcBef>
            </a:pPr>
            <a:r>
              <a:rPr sz="1200" dirty="0">
                <a:latin typeface="Segoe UI Emoji"/>
                <a:cs typeface="Segoe UI Emoji"/>
              </a:rPr>
              <a:t>S</a:t>
            </a:r>
            <a:r>
              <a:rPr sz="1200" dirty="0">
                <a:latin typeface="Times New Roman"/>
                <a:cs typeface="Times New Roman"/>
              </a:rPr>
              <a:t>tep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6: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Normalize/Scale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Features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435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MinMaxScaler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StandardScaler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sklearn.preprocessing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9495" y="2357881"/>
            <a:ext cx="6483350" cy="1765300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360"/>
              </a:lnSpc>
            </a:pPr>
            <a:r>
              <a:rPr sz="1200" b="1" spc="-10" dirty="0">
                <a:latin typeface="Times New Roman"/>
                <a:cs typeface="Times New Roman"/>
              </a:rPr>
              <a:t>Conclusion:</a:t>
            </a:r>
            <a:endParaRPr sz="1200">
              <a:latin typeface="Times New Roman"/>
              <a:cs typeface="Times New Roman"/>
            </a:endParaRPr>
          </a:p>
          <a:p>
            <a:pPr marL="69850">
              <a:lnSpc>
                <a:spcPts val="1380"/>
              </a:lnSpc>
              <a:spcBef>
                <a:spcPts val="6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experiment,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successfully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performed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basic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processing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real-</a:t>
            </a:r>
            <a:r>
              <a:rPr sz="1200" dirty="0">
                <a:latin typeface="Times New Roman"/>
                <a:cs typeface="Times New Roman"/>
              </a:rPr>
              <a:t>world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dataset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open- </a:t>
            </a:r>
            <a:r>
              <a:rPr sz="1200" dirty="0">
                <a:latin typeface="Times New Roman"/>
                <a:cs typeface="Times New Roman"/>
              </a:rPr>
              <a:t>source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repository.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included: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32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Handling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missing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values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imputation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techniques,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39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Encoding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categorical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convert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them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format,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and</a:t>
            </a:r>
            <a:endParaRPr sz="1200">
              <a:latin typeface="Times New Roman"/>
              <a:cs typeface="Times New Roman"/>
            </a:endParaRPr>
          </a:p>
          <a:p>
            <a:pPr marL="460375" indent="-228600">
              <a:lnSpc>
                <a:spcPts val="1390"/>
              </a:lnSpc>
              <a:buSzPct val="83333"/>
              <a:buFont typeface="Symbol"/>
              <a:buChar char=""/>
              <a:tabLst>
                <a:tab pos="460375" algn="l"/>
              </a:tabLst>
            </a:pPr>
            <a:r>
              <a:rPr sz="1200" dirty="0">
                <a:latin typeface="Times New Roman"/>
                <a:cs typeface="Times New Roman"/>
              </a:rPr>
              <a:t>Normalizing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numerical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features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ensure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scales.</a:t>
            </a:r>
            <a:endParaRPr sz="1200">
              <a:latin typeface="Times New Roman"/>
              <a:cs typeface="Times New Roman"/>
            </a:endParaRPr>
          </a:p>
          <a:p>
            <a:pPr marL="69850" algn="just">
              <a:lnSpc>
                <a:spcPts val="1380"/>
              </a:lnSpc>
              <a:spcBef>
                <a:spcPts val="70"/>
              </a:spcBef>
            </a:pPr>
            <a:r>
              <a:rPr sz="1200" dirty="0">
                <a:latin typeface="Times New Roman"/>
                <a:cs typeface="Times New Roman"/>
              </a:rPr>
              <a:t>These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steps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are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essential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preparing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machine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learning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By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ensuring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quality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consistency,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improve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performance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reliability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analytical</a:t>
            </a:r>
            <a:r>
              <a:rPr sz="1200" spc="1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models.</a:t>
            </a:r>
            <a:r>
              <a:rPr sz="1200" spc="19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This </a:t>
            </a:r>
            <a:r>
              <a:rPr sz="1200" dirty="0">
                <a:latin typeface="Times New Roman"/>
                <a:cs typeface="Times New Roman"/>
              </a:rPr>
              <a:t>exercise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builds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foundational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skills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cleaning,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integral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part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science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workflow.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4303" y="8216303"/>
            <a:ext cx="323814" cy="9102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105" y="2684203"/>
            <a:ext cx="2418487" cy="12136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8224" y="6729615"/>
            <a:ext cx="60715" cy="809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8105" y="7407223"/>
            <a:ext cx="70834" cy="809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8105" y="4848499"/>
            <a:ext cx="2489321" cy="12136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58383" y="1188608"/>
            <a:ext cx="313690" cy="1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20" dirty="0">
                <a:solidFill>
                  <a:srgbClr val="AFAFAF"/>
                </a:solidFill>
                <a:latin typeface="Consolas"/>
                <a:cs typeface="Consolas"/>
              </a:rPr>
              <a:t>[2]: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8077" y="1165854"/>
            <a:ext cx="4281170" cy="56197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  <a:tabLst>
                <a:tab pos="1244600" algn="l"/>
              </a:tabLst>
            </a:pP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#</a:t>
            </a:r>
            <a:r>
              <a:rPr sz="1050" i="1" spc="27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85" dirty="0">
                <a:solidFill>
                  <a:srgbClr val="3F8080"/>
                </a:solidFill>
                <a:latin typeface="Cambria"/>
                <a:cs typeface="Cambria"/>
              </a:rPr>
              <a:t>Step</a:t>
            </a:r>
            <a:r>
              <a:rPr sz="1050" i="1" spc="38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00" dirty="0">
                <a:solidFill>
                  <a:srgbClr val="3F8080"/>
                </a:solidFill>
                <a:latin typeface="Cambria"/>
                <a:cs typeface="Cambria"/>
              </a:rPr>
              <a:t>y</a:t>
            </a:r>
            <a:r>
              <a:rPr sz="1050" i="1" spc="2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:</a:t>
            </a:r>
            <a:r>
              <a:rPr sz="1050" i="1" spc="155" dirty="0">
                <a:solidFill>
                  <a:srgbClr val="3F8080"/>
                </a:solidFill>
                <a:latin typeface="Cambria"/>
                <a:cs typeface="Cambria"/>
              </a:rPr>
              <a:t>  </a:t>
            </a:r>
            <a:r>
              <a:rPr sz="1050" spc="-10" dirty="0">
                <a:solidFill>
                  <a:srgbClr val="3F8080"/>
                </a:solidFill>
                <a:latin typeface="Cambria"/>
                <a:cs typeface="Cambria"/>
              </a:rPr>
              <a:t>Im</a:t>
            </a:r>
            <a:r>
              <a:rPr sz="1050" i="1" spc="-10" dirty="0">
                <a:solidFill>
                  <a:srgbClr val="3F8080"/>
                </a:solidFill>
                <a:latin typeface="Cambria"/>
                <a:cs typeface="Cambria"/>
              </a:rPr>
              <a:t>port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	</a:t>
            </a:r>
            <a:r>
              <a:rPr sz="1050" i="1" spc="-254" dirty="0">
                <a:solidFill>
                  <a:srgbClr val="3F8080"/>
                </a:solidFill>
                <a:latin typeface="Cambria"/>
                <a:cs typeface="Cambria"/>
              </a:rPr>
              <a:t>£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30" dirty="0">
                <a:solidFill>
                  <a:srgbClr val="3F8080"/>
                </a:solidFill>
                <a:latin typeface="Cambria"/>
                <a:cs typeface="Cambria"/>
              </a:rPr>
              <a:t>i</a:t>
            </a:r>
            <a:r>
              <a:rPr sz="1050" i="1" spc="3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150" dirty="0">
                <a:solidFill>
                  <a:srgbClr val="3F8080"/>
                </a:solidFill>
                <a:latin typeface="Cambria"/>
                <a:cs typeface="Cambria"/>
              </a:rPr>
              <a:t>B</a:t>
            </a:r>
            <a:r>
              <a:rPr sz="1050" i="1" spc="-10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80" dirty="0">
                <a:solidFill>
                  <a:srgbClr val="3F8080"/>
                </a:solidFill>
                <a:latin typeface="Cambria"/>
                <a:cs typeface="Cambria"/>
              </a:rPr>
              <a:t>rori</a:t>
            </a:r>
            <a:r>
              <a:rPr sz="1050" i="1" spc="-3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60" dirty="0">
                <a:solidFill>
                  <a:srgbClr val="3F8080"/>
                </a:solidFill>
                <a:latin typeface="Cambria"/>
                <a:cs typeface="Cambria"/>
              </a:rPr>
              <a:t>es</a:t>
            </a:r>
            <a:endParaRPr sz="1050">
              <a:latin typeface="Cambria"/>
              <a:cs typeface="Cambria"/>
            </a:endParaRPr>
          </a:p>
          <a:p>
            <a:pPr marL="24765">
              <a:lnSpc>
                <a:spcPct val="100000"/>
              </a:lnSpc>
              <a:spcBef>
                <a:spcPts val="170"/>
              </a:spcBef>
            </a:pPr>
            <a:r>
              <a:rPr sz="1050" spc="165" dirty="0">
                <a:solidFill>
                  <a:srgbClr val="008000"/>
                </a:solidFill>
                <a:latin typeface="Cambria"/>
                <a:cs typeface="Cambria"/>
              </a:rPr>
              <a:t>zpr•t</a:t>
            </a:r>
            <a:r>
              <a:rPr sz="1050" spc="455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1F1F1F"/>
                </a:solidFill>
                <a:latin typeface="Cambria"/>
                <a:cs typeface="Cambria"/>
              </a:rPr>
              <a:t>pandas</a:t>
            </a:r>
            <a:r>
              <a:rPr sz="1050" spc="425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008000"/>
                </a:solidFill>
                <a:latin typeface="Cambria"/>
                <a:cs typeface="Cambria"/>
              </a:rPr>
              <a:t>as</a:t>
            </a:r>
            <a:r>
              <a:rPr sz="1050" spc="450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1050" spc="-135" dirty="0">
                <a:solidFill>
                  <a:srgbClr val="1F1F1F"/>
                </a:solidFill>
                <a:latin typeface="Cambria"/>
                <a:cs typeface="Cambria"/>
              </a:rPr>
              <a:t>p</a:t>
            </a:r>
            <a:r>
              <a:rPr sz="1050" spc="-70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1050" spc="-50" dirty="0">
                <a:solidFill>
                  <a:srgbClr val="1F1F1F"/>
                </a:solidFill>
                <a:latin typeface="Cambria"/>
                <a:cs typeface="Cambria"/>
              </a:rPr>
              <a:t>d</a:t>
            </a:r>
            <a:endParaRPr sz="1050">
              <a:latin typeface="Cambria"/>
              <a:cs typeface="Cambria"/>
            </a:endParaRPr>
          </a:p>
          <a:p>
            <a:pPr marL="24765">
              <a:lnSpc>
                <a:spcPct val="100000"/>
              </a:lnSpc>
              <a:spcBef>
                <a:spcPts val="95"/>
              </a:spcBef>
            </a:pPr>
            <a:r>
              <a:rPr sz="1050" spc="-20" dirty="0">
                <a:solidFill>
                  <a:srgbClr val="008000"/>
                </a:solidFill>
                <a:latin typeface="Consolas"/>
                <a:cs typeface="Consolas"/>
              </a:rPr>
              <a:t>from</a:t>
            </a:r>
            <a:r>
              <a:rPr sz="1050" spc="-12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sklearn.preprocessing</a:t>
            </a:r>
            <a:r>
              <a:rPr sz="1050" spc="-9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008000"/>
                </a:solidFill>
                <a:latin typeface="Consolas"/>
                <a:cs typeface="Consolas"/>
              </a:rPr>
              <a:t>import</a:t>
            </a:r>
            <a:r>
              <a:rPr sz="1050" spc="-1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LabelEncoder,</a:t>
            </a:r>
            <a:r>
              <a:rPr sz="1050" spc="4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MinMaaScaler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077" y="1883912"/>
            <a:ext cx="5081270" cy="43440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#</a:t>
            </a:r>
            <a:r>
              <a:rPr sz="1050" i="1" spc="32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85" dirty="0">
                <a:solidFill>
                  <a:srgbClr val="3F8080"/>
                </a:solidFill>
                <a:latin typeface="Cambria"/>
                <a:cs typeface="Cambria"/>
              </a:rPr>
              <a:t>Step</a:t>
            </a:r>
            <a:r>
              <a:rPr sz="1050" i="1" spc="30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60" dirty="0">
                <a:solidFill>
                  <a:srgbClr val="3F8080"/>
                </a:solidFill>
                <a:latin typeface="Cambria"/>
                <a:cs typeface="Cambria"/>
              </a:rPr>
              <a:t>2</a:t>
            </a:r>
            <a:r>
              <a:rPr sz="1050" i="1" spc="-5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:</a:t>
            </a:r>
            <a:r>
              <a:rPr sz="1050" i="1" spc="165" dirty="0">
                <a:solidFill>
                  <a:srgbClr val="3F8080"/>
                </a:solidFill>
                <a:latin typeface="Cambria"/>
                <a:cs typeface="Cambria"/>
              </a:rPr>
              <a:t> 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Lood</a:t>
            </a:r>
            <a:r>
              <a:rPr sz="1050" i="1" spc="27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Ti</a:t>
            </a:r>
            <a:r>
              <a:rPr sz="1050" i="1" spc="-5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t</a:t>
            </a:r>
            <a:r>
              <a:rPr sz="1050" i="1" spc="3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oni</a:t>
            </a:r>
            <a:r>
              <a:rPr sz="1050" i="1" spc="5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c</a:t>
            </a:r>
            <a:r>
              <a:rPr sz="1050" i="1" spc="434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doto</a:t>
            </a:r>
            <a:r>
              <a:rPr sz="1050" i="1" spc="3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5" dirty="0">
                <a:solidFill>
                  <a:srgbClr val="3F8080"/>
                </a:solidFill>
                <a:latin typeface="Cambria"/>
                <a:cs typeface="Cambria"/>
              </a:rPr>
              <a:t>set</a:t>
            </a:r>
            <a:endParaRPr sz="1050" dirty="0">
              <a:latin typeface="Cambria"/>
              <a:cs typeface="Cambria"/>
            </a:endParaRPr>
          </a:p>
          <a:p>
            <a:pPr marL="19685" marR="2000885" indent="3175">
              <a:lnSpc>
                <a:spcPct val="113799"/>
              </a:lnSpc>
            </a:pPr>
            <a:r>
              <a:rPr sz="1050" dirty="0">
                <a:solidFill>
                  <a:srgbClr val="1F1F1F"/>
                </a:solidFill>
                <a:latin typeface="Consolas"/>
                <a:cs typeface="Consolas"/>
              </a:rPr>
              <a:t>data</a:t>
            </a:r>
            <a:r>
              <a:rPr sz="1050" spc="-9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1050" spc="-11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pd.read</a:t>
            </a:r>
            <a:r>
              <a:rPr sz="1050" spc="-6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csv(”gender</a:t>
            </a:r>
            <a:r>
              <a:rPr sz="1050" spc="-3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submission.csv”) print(data.head())</a:t>
            </a: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1050" dirty="0">
              <a:latin typeface="Consolas"/>
              <a:cs typeface="Consolas"/>
            </a:endParaRPr>
          </a:p>
          <a:p>
            <a:pPr marL="19685" marR="3195320">
              <a:lnSpc>
                <a:spcPct val="107400"/>
              </a:lnSpc>
            </a:pP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print(”\nMissing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 values:”)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print(data.isnull().sum())</a:t>
            </a: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455"/>
              </a:spcBef>
            </a:pPr>
            <a:endParaRPr sz="10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1876425" algn="l"/>
                <a:tab pos="2584450" algn="l"/>
              </a:tabLst>
            </a:pP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#</a:t>
            </a:r>
            <a:r>
              <a:rPr sz="1050" i="1" spc="229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St:ep</a:t>
            </a:r>
            <a:r>
              <a:rPr sz="1050" i="1" spc="24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4:</a:t>
            </a:r>
            <a:r>
              <a:rPr sz="1050" i="1" spc="49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HandLe</a:t>
            </a:r>
            <a:r>
              <a:rPr sz="1050" i="1" spc="22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25" dirty="0">
                <a:solidFill>
                  <a:srgbClr val="3F8080"/>
                </a:solidFill>
                <a:latin typeface="Cambria"/>
                <a:cs typeface="Cambria"/>
              </a:rPr>
              <a:t>m</a:t>
            </a:r>
            <a:r>
              <a:rPr sz="1050" i="1" spc="-6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i</a:t>
            </a:r>
            <a:r>
              <a:rPr sz="1050" i="1" spc="11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0" dirty="0">
                <a:solidFill>
                  <a:srgbClr val="3F8080"/>
                </a:solidFill>
                <a:latin typeface="Cambria"/>
                <a:cs typeface="Cambria"/>
              </a:rPr>
              <a:t>ssi</a:t>
            </a:r>
            <a:r>
              <a:rPr sz="1050" i="1" spc="41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n</a:t>
            </a:r>
            <a:r>
              <a:rPr sz="1050" i="1" spc="-8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50" dirty="0">
                <a:solidFill>
                  <a:srgbClr val="3F8080"/>
                </a:solidFill>
                <a:latin typeface="Cambria"/>
                <a:cs typeface="Cambria"/>
              </a:rPr>
              <a:t>g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	a</a:t>
            </a:r>
            <a:r>
              <a:rPr sz="1050" i="1" spc="-13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0" dirty="0">
                <a:solidFill>
                  <a:srgbClr val="3F8080"/>
                </a:solidFill>
                <a:latin typeface="Cambria"/>
                <a:cs typeface="Cambria"/>
              </a:rPr>
              <a:t>Lues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	</a:t>
            </a:r>
            <a:r>
              <a:rPr sz="1050" i="1" spc="-20" dirty="0">
                <a:solidFill>
                  <a:srgbClr val="3F8080"/>
                </a:solidFill>
                <a:latin typeface="Cambria"/>
                <a:cs typeface="Cambria"/>
              </a:rPr>
              <a:t>any)</a:t>
            </a:r>
            <a:endParaRPr sz="1050" dirty="0">
              <a:latin typeface="Cambria"/>
              <a:cs typeface="Cambria"/>
            </a:endParaRPr>
          </a:p>
          <a:p>
            <a:pPr marL="22860">
              <a:lnSpc>
                <a:spcPct val="100000"/>
              </a:lnSpc>
              <a:spcBef>
                <a:spcPts val="90"/>
              </a:spcBef>
            </a:pP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data.fillna(data.mean(numeric</a:t>
            </a:r>
            <a:r>
              <a:rPr sz="1050" spc="-11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only=True),</a:t>
            </a:r>
            <a:r>
              <a:rPr sz="1050" spc="3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inplace=True)</a:t>
            </a: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0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#</a:t>
            </a:r>
            <a:r>
              <a:rPr sz="1050" i="1" spc="32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85" dirty="0">
                <a:solidFill>
                  <a:srgbClr val="3F8080"/>
                </a:solidFill>
                <a:latin typeface="Cambria"/>
                <a:cs typeface="Cambria"/>
              </a:rPr>
              <a:t>Step</a:t>
            </a:r>
            <a:r>
              <a:rPr sz="1050" i="1" spc="26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70" dirty="0">
                <a:solidFill>
                  <a:srgbClr val="3F8080"/>
                </a:solidFill>
                <a:latin typeface="Cambria"/>
                <a:cs typeface="Cambria"/>
              </a:rPr>
              <a:t>5</a:t>
            </a:r>
            <a:r>
              <a:rPr sz="1050" i="1" spc="-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:</a:t>
            </a:r>
            <a:r>
              <a:rPr sz="1050" i="1" spc="170" dirty="0">
                <a:solidFill>
                  <a:srgbClr val="3F8080"/>
                </a:solidFill>
                <a:latin typeface="Cambria"/>
                <a:cs typeface="Cambria"/>
              </a:rPr>
              <a:t> 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Encode</a:t>
            </a:r>
            <a:r>
              <a:rPr sz="1050" i="1" spc="35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c</a:t>
            </a:r>
            <a:r>
              <a:rPr sz="1050" i="1" spc="-9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ote</a:t>
            </a:r>
            <a:r>
              <a:rPr sz="1050" i="1" spc="-8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50" dirty="0">
                <a:solidFill>
                  <a:srgbClr val="3F8080"/>
                </a:solidFill>
                <a:latin typeface="Cambria"/>
                <a:cs typeface="Cambria"/>
              </a:rPr>
              <a:t>9ori</a:t>
            </a:r>
            <a:r>
              <a:rPr sz="1050" i="1" spc="-1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60" dirty="0">
                <a:solidFill>
                  <a:srgbClr val="3F8080"/>
                </a:solidFill>
                <a:latin typeface="Cambria"/>
                <a:cs typeface="Cambria"/>
              </a:rPr>
              <a:t>co</a:t>
            </a:r>
            <a:r>
              <a:rPr sz="1050" i="1" spc="-11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54" dirty="0">
                <a:solidFill>
                  <a:srgbClr val="3F8080"/>
                </a:solidFill>
                <a:latin typeface="Cambria"/>
                <a:cs typeface="Cambria"/>
              </a:rPr>
              <a:t>£</a:t>
            </a:r>
            <a:r>
              <a:rPr sz="1050" i="1" spc="47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85" dirty="0">
                <a:solidFill>
                  <a:srgbClr val="3F8080"/>
                </a:solidFill>
                <a:latin typeface="Cambria"/>
                <a:cs typeface="Cambria"/>
              </a:rPr>
              <a:t>v</a:t>
            </a:r>
            <a:r>
              <a:rPr sz="1050" i="1" spc="-9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ori</a:t>
            </a:r>
            <a:r>
              <a:rPr sz="1050" i="1" spc="36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110" dirty="0">
                <a:solidFill>
                  <a:srgbClr val="3F8080"/>
                </a:solidFill>
                <a:latin typeface="Cambria"/>
                <a:cs typeface="Cambria"/>
              </a:rPr>
              <a:t>oB</a:t>
            </a:r>
            <a:r>
              <a:rPr sz="1050" i="1" spc="4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5" dirty="0">
                <a:solidFill>
                  <a:srgbClr val="3F8080"/>
                </a:solidFill>
                <a:latin typeface="Cambria"/>
                <a:cs typeface="Cambria"/>
              </a:rPr>
              <a:t>£es</a:t>
            </a:r>
            <a:endParaRPr sz="1050" dirty="0">
              <a:latin typeface="Cambria"/>
              <a:cs typeface="Cambria"/>
            </a:endParaRPr>
          </a:p>
          <a:p>
            <a:pPr marL="22225">
              <a:lnSpc>
                <a:spcPct val="100000"/>
              </a:lnSpc>
              <a:spcBef>
                <a:spcPts val="175"/>
              </a:spcBef>
            </a:pP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encoder</a:t>
            </a:r>
            <a:r>
              <a:rPr sz="1050" spc="-4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1050" spc="-13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LabelEncoder()</a:t>
            </a:r>
            <a:endParaRPr sz="1050" dirty="0">
              <a:latin typeface="Consolas"/>
              <a:cs typeface="Consolas"/>
            </a:endParaRPr>
          </a:p>
          <a:p>
            <a:pPr marL="306070" marR="1076325" indent="-281940">
              <a:lnSpc>
                <a:spcPct val="113799"/>
              </a:lnSpc>
            </a:pPr>
            <a:r>
              <a:rPr sz="1050" dirty="0">
                <a:solidFill>
                  <a:srgbClr val="008000"/>
                </a:solidFill>
                <a:latin typeface="Consolas"/>
                <a:cs typeface="Consolas"/>
              </a:rPr>
              <a:t>for</a:t>
            </a:r>
            <a:r>
              <a:rPr sz="1050" spc="-9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1F1F1F"/>
                </a:solidFill>
                <a:latin typeface="Consolas"/>
                <a:cs typeface="Consolas"/>
              </a:rPr>
              <a:t>col</a:t>
            </a:r>
            <a:r>
              <a:rPr sz="1050" spc="-3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008000"/>
                </a:solidFill>
                <a:latin typeface="Consolas"/>
                <a:cs typeface="Consolas"/>
              </a:rPr>
              <a:t>in</a:t>
            </a:r>
            <a:r>
              <a:rPr sz="1050" spc="-105" dirty="0">
                <a:solidFill>
                  <a:srgbClr val="008000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data.select</a:t>
            </a:r>
            <a:r>
              <a:rPr sz="1050" spc="8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35" dirty="0">
                <a:solidFill>
                  <a:srgbClr val="1F1F1F"/>
                </a:solidFill>
                <a:latin typeface="Consolas"/>
                <a:cs typeface="Consolas"/>
              </a:rPr>
              <a:t>dtypes(include=’object</a:t>
            </a:r>
            <a:r>
              <a:rPr sz="1050" spc="-39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’).columns: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data[col]</a:t>
            </a:r>
            <a:r>
              <a:rPr sz="1050" spc="-6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1050" spc="-9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encoder.fit</a:t>
            </a:r>
            <a:r>
              <a:rPr sz="1050" spc="-6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transform(data[col])</a:t>
            </a: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050" dirty="0">
              <a:latin typeface="Consolas"/>
              <a:cs typeface="Consolas"/>
            </a:endParaRPr>
          </a:p>
          <a:p>
            <a:pPr marL="17780">
              <a:lnSpc>
                <a:spcPct val="100000"/>
              </a:lnSpc>
            </a:pP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scaler</a:t>
            </a:r>
            <a:r>
              <a:rPr sz="1050" spc="-4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1050" spc="-14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MinMaaScaler()</a:t>
            </a:r>
            <a:endParaRPr sz="1050" dirty="0">
              <a:latin typeface="Consolas"/>
              <a:cs typeface="Consolas"/>
            </a:endParaRPr>
          </a:p>
          <a:p>
            <a:pPr marL="22860" marR="5080" indent="-3810">
              <a:lnSpc>
                <a:spcPct val="107400"/>
              </a:lnSpc>
              <a:spcBef>
                <a:spcPts val="80"/>
              </a:spcBef>
            </a:pP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numeric</a:t>
            </a:r>
            <a:r>
              <a:rPr sz="1050" spc="-5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1F1F1F"/>
                </a:solidFill>
                <a:latin typeface="Consolas"/>
                <a:cs typeface="Consolas"/>
              </a:rPr>
              <a:t>cols</a:t>
            </a:r>
            <a:r>
              <a:rPr sz="1050" spc="-6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1050" spc="-70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data.select</a:t>
            </a:r>
            <a:r>
              <a:rPr sz="1050" spc="1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dtypes(include=[’int64’,</a:t>
            </a:r>
            <a:r>
              <a:rPr sz="1050" spc="-7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’float64’]).columns </a:t>
            </a: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data[numeric</a:t>
            </a:r>
            <a:r>
              <a:rPr sz="1050" spc="-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dirty="0">
                <a:solidFill>
                  <a:srgbClr val="1F1F1F"/>
                </a:solidFill>
                <a:latin typeface="Consolas"/>
                <a:cs typeface="Consolas"/>
              </a:rPr>
              <a:t>cols] </a:t>
            </a:r>
            <a:r>
              <a:rPr sz="1050" dirty="0">
                <a:solidFill>
                  <a:srgbClr val="AA21FF"/>
                </a:solidFill>
                <a:latin typeface="Consolas"/>
                <a:cs typeface="Consolas"/>
              </a:rPr>
              <a:t>=</a:t>
            </a:r>
            <a:r>
              <a:rPr sz="1050" spc="-85" dirty="0">
                <a:solidFill>
                  <a:srgbClr val="AA21FF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scaler.fit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25" dirty="0">
                <a:solidFill>
                  <a:srgbClr val="1F1F1F"/>
                </a:solidFill>
                <a:latin typeface="Consolas"/>
                <a:cs typeface="Consolas"/>
              </a:rPr>
              <a:t>transform(data[numeric</a:t>
            </a:r>
            <a:r>
              <a:rPr sz="1050" spc="-105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cols])</a:t>
            </a:r>
            <a:endParaRPr sz="1050" dirty="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1050" dirty="0">
              <a:latin typeface="Consolas"/>
              <a:cs typeface="Consolas"/>
            </a:endParaRPr>
          </a:p>
          <a:p>
            <a:pPr marL="19685" marR="2799715" indent="-7620">
              <a:lnSpc>
                <a:spcPct val="110600"/>
              </a:lnSpc>
              <a:spcBef>
                <a:spcPts val="5"/>
              </a:spcBef>
            </a:pP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#</a:t>
            </a:r>
            <a:r>
              <a:rPr sz="1050" i="1" spc="29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85" dirty="0">
                <a:solidFill>
                  <a:srgbClr val="3F8080"/>
                </a:solidFill>
                <a:latin typeface="Cambria"/>
                <a:cs typeface="Cambria"/>
              </a:rPr>
              <a:t>Step</a:t>
            </a:r>
            <a:r>
              <a:rPr sz="1050" i="1" spc="250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70" dirty="0">
                <a:solidFill>
                  <a:srgbClr val="3F8080"/>
                </a:solidFill>
                <a:latin typeface="Cambria"/>
                <a:cs typeface="Cambria"/>
              </a:rPr>
              <a:t>7:</a:t>
            </a:r>
            <a:r>
              <a:rPr sz="1050" i="1" spc="41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Di</a:t>
            </a:r>
            <a:r>
              <a:rPr sz="1050" i="1" spc="1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dirty="0">
                <a:solidFill>
                  <a:srgbClr val="3F8080"/>
                </a:solidFill>
                <a:latin typeface="Cambria"/>
                <a:cs typeface="Cambria"/>
              </a:rPr>
              <a:t>sp £of</a:t>
            </a:r>
            <a:r>
              <a:rPr sz="1050" i="1" spc="190" dirty="0">
                <a:solidFill>
                  <a:srgbClr val="3F8080"/>
                </a:solidFill>
                <a:latin typeface="Cambria"/>
                <a:cs typeface="Cambria"/>
              </a:rPr>
              <a:t>  </a:t>
            </a:r>
            <a:r>
              <a:rPr sz="1050" i="1" spc="70" dirty="0">
                <a:solidFill>
                  <a:srgbClr val="3F8080"/>
                </a:solidFill>
                <a:latin typeface="Cambria"/>
                <a:cs typeface="Cambria"/>
              </a:rPr>
              <a:t>processed</a:t>
            </a:r>
            <a:r>
              <a:rPr sz="1050" i="1" spc="355" dirty="0">
                <a:solidFill>
                  <a:srgbClr val="3F8080"/>
                </a:solidFill>
                <a:latin typeface="Cambria"/>
                <a:cs typeface="Cambria"/>
              </a:rPr>
              <a:t> </a:t>
            </a:r>
            <a:r>
              <a:rPr sz="1050" i="1" spc="-20" dirty="0">
                <a:solidFill>
                  <a:srgbClr val="3F8080"/>
                </a:solidFill>
                <a:latin typeface="Cambria"/>
                <a:cs typeface="Cambria"/>
              </a:rPr>
              <a:t>doto </a:t>
            </a:r>
            <a:r>
              <a:rPr sz="1050" spc="-20" dirty="0">
                <a:solidFill>
                  <a:srgbClr val="1F1F1F"/>
                </a:solidFill>
                <a:latin typeface="Consolas"/>
                <a:cs typeface="Consolas"/>
              </a:rPr>
              <a:t>print(”\nProcessed</a:t>
            </a:r>
            <a:r>
              <a:rPr sz="1050" spc="-40" dirty="0">
                <a:solidFill>
                  <a:srgbClr val="1F1F1F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1F1F1F"/>
                </a:solidFill>
                <a:latin typeface="Consolas"/>
                <a:cs typeface="Consolas"/>
              </a:rPr>
              <a:t>Data:”) print(data.head())</a:t>
            </a:r>
            <a:endParaRPr sz="1050" dirty="0">
              <a:latin typeface="Consolas"/>
              <a:cs typeface="Consolas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56801" y="6534954"/>
          <a:ext cx="1777999" cy="979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5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176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985"/>
                        </a:lnSpc>
                      </a:pPr>
                      <a:r>
                        <a:rPr sz="10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PassengerId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1910" algn="r">
                        <a:lnSpc>
                          <a:spcPts val="985"/>
                        </a:lnSpc>
                      </a:pPr>
                      <a:r>
                        <a:rPr sz="10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Survived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63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295" algn="r">
                        <a:lnSpc>
                          <a:spcPts val="1140"/>
                        </a:lnSpc>
                      </a:pPr>
                      <a:r>
                        <a:rPr sz="10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892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40"/>
                        </a:lnSpc>
                      </a:pPr>
                      <a:r>
                        <a:rPr sz="10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6370">
                <a:tc>
                  <a:txBody>
                    <a:bodyPr/>
                    <a:lstStyle/>
                    <a:p>
                      <a:pPr marR="43815" algn="ctr">
                        <a:lnSpc>
                          <a:spcPts val="1070"/>
                        </a:lnSpc>
                      </a:pPr>
                      <a:r>
                        <a:rPr sz="9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1100"/>
                        </a:lnSpc>
                      </a:pPr>
                      <a:r>
                        <a:rPr sz="10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893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100"/>
                        </a:lnSpc>
                      </a:pPr>
                      <a:r>
                        <a:rPr sz="10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6370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40"/>
                        </a:lnSpc>
                      </a:pPr>
                      <a:r>
                        <a:rPr sz="10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894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40"/>
                        </a:lnSpc>
                      </a:pPr>
                      <a:r>
                        <a:rPr sz="10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marR="28575" algn="ctr">
                        <a:lnSpc>
                          <a:spcPts val="1070"/>
                        </a:lnSpc>
                      </a:pPr>
                      <a:r>
                        <a:rPr sz="9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755" algn="r">
                        <a:lnSpc>
                          <a:spcPts val="1100"/>
                        </a:lnSpc>
                      </a:pPr>
                      <a:r>
                        <a:rPr sz="10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895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00"/>
                        </a:lnSpc>
                      </a:pPr>
                      <a:r>
                        <a:rPr sz="10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0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68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140"/>
                        </a:lnSpc>
                      </a:pPr>
                      <a:r>
                        <a:rPr sz="10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896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140"/>
                        </a:lnSpc>
                      </a:pPr>
                      <a:r>
                        <a:rPr sz="10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1</a:t>
                      </a:r>
                      <a:endParaRPr sz="105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742333" y="7833196"/>
            <a:ext cx="96520" cy="346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spc="-5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spc="-5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72228" y="7671380"/>
            <a:ext cx="1086485" cy="68072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5240" marR="5080" indent="-3175">
              <a:lnSpc>
                <a:spcPct val="101099"/>
              </a:lnSpc>
              <a:spcBef>
                <a:spcPts val="80"/>
              </a:spcBef>
            </a:pPr>
            <a:r>
              <a:rPr sz="1050" dirty="0">
                <a:solidFill>
                  <a:srgbClr val="212121"/>
                </a:solidFill>
                <a:latin typeface="Consolas"/>
                <a:cs typeface="Consolas"/>
              </a:rPr>
              <a:t>Missing</a:t>
            </a:r>
            <a:r>
              <a:rPr sz="1050" spc="-1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50" spc="-30" dirty="0">
                <a:solidFill>
                  <a:srgbClr val="212121"/>
                </a:solidFill>
                <a:latin typeface="Consolas"/>
                <a:cs typeface="Consolas"/>
              </a:rPr>
              <a:t>values: </a:t>
            </a:r>
            <a:r>
              <a:rPr sz="1050" spc="-10" dirty="0">
                <a:solidFill>
                  <a:srgbClr val="212121"/>
                </a:solidFill>
                <a:latin typeface="Consolas"/>
                <a:cs typeface="Consolas"/>
              </a:rPr>
              <a:t>PassengerId Survived</a:t>
            </a:r>
            <a:endParaRPr sz="1050">
              <a:latin typeface="Consolas"/>
              <a:cs typeface="Consolas"/>
            </a:endParaRPr>
          </a:p>
          <a:p>
            <a:pPr marL="18415">
              <a:lnSpc>
                <a:spcPct val="100000"/>
              </a:lnSpc>
              <a:spcBef>
                <a:spcPts val="95"/>
              </a:spcBef>
            </a:pPr>
            <a:r>
              <a:rPr sz="1050" spc="-10" dirty="0">
                <a:solidFill>
                  <a:srgbClr val="212121"/>
                </a:solidFill>
                <a:latin typeface="Consolas"/>
                <a:cs typeface="Consolas"/>
              </a:rPr>
              <a:t>dtype: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75277" y="8510803"/>
            <a:ext cx="1722120" cy="34671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224790" marR="5080" indent="-212725">
              <a:lnSpc>
                <a:spcPct val="101099"/>
              </a:lnSpc>
              <a:spcBef>
                <a:spcPts val="80"/>
              </a:spcBef>
              <a:tabLst>
                <a:tab pos="1148715" algn="l"/>
              </a:tabLst>
            </a:pPr>
            <a:r>
              <a:rPr sz="1050" spc="-20" dirty="0">
                <a:solidFill>
                  <a:srgbClr val="212121"/>
                </a:solidFill>
                <a:latin typeface="Consolas"/>
                <a:cs typeface="Consolas"/>
              </a:rPr>
              <a:t>Processed</a:t>
            </a:r>
            <a:r>
              <a:rPr sz="1050" spc="-6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Consolas"/>
                <a:cs typeface="Consolas"/>
              </a:rPr>
              <a:t>Data: PassengerId</a:t>
            </a:r>
            <a:r>
              <a:rPr sz="1050" dirty="0">
                <a:solidFill>
                  <a:srgbClr val="212121"/>
                </a:solidFill>
                <a:latin typeface="Consolas"/>
                <a:cs typeface="Consolas"/>
              </a:rPr>
              <a:t>	</a:t>
            </a:r>
            <a:r>
              <a:rPr sz="1050" spc="-35" dirty="0">
                <a:solidFill>
                  <a:srgbClr val="212121"/>
                </a:solidFill>
                <a:latin typeface="Consolas"/>
                <a:cs typeface="Consolas"/>
              </a:rPr>
              <a:t>Survived</a:t>
            </a:r>
            <a:endParaRPr sz="10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848" y="8993724"/>
            <a:ext cx="99695" cy="7137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50" spc="-50" dirty="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  <a:p>
            <a:pPr marL="16510">
              <a:lnSpc>
                <a:spcPct val="100000"/>
              </a:lnSpc>
              <a:spcBef>
                <a:spcPts val="90"/>
              </a:spcBef>
            </a:pPr>
            <a:r>
              <a:rPr sz="1050" spc="-50" dirty="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  <a:p>
            <a:pPr marL="17145">
              <a:lnSpc>
                <a:spcPct val="100000"/>
              </a:lnSpc>
              <a:spcBef>
                <a:spcPts val="15"/>
              </a:spcBef>
            </a:pPr>
            <a:r>
              <a:rPr sz="1050" spc="-50" dirty="0">
                <a:solidFill>
                  <a:srgbClr val="212121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50" i="1" spc="-50" dirty="0">
                <a:solidFill>
                  <a:srgbClr val="212121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5861" y="8993724"/>
            <a:ext cx="584835" cy="7137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50" spc="-10" dirty="0">
                <a:solidFill>
                  <a:srgbClr val="212121"/>
                </a:solidFill>
                <a:latin typeface="Calibri"/>
                <a:cs typeface="Calibri"/>
              </a:rPr>
              <a:t>0.002398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50" spc="-10" dirty="0">
                <a:solidFill>
                  <a:srgbClr val="212121"/>
                </a:solidFill>
                <a:latin typeface="Calibri"/>
                <a:cs typeface="Calibri"/>
              </a:rPr>
              <a:t>0.004796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spc="-10" dirty="0">
                <a:solidFill>
                  <a:srgbClr val="212121"/>
                </a:solidFill>
                <a:latin typeface="Calibri"/>
                <a:cs typeface="Calibri"/>
              </a:rPr>
              <a:t>0.007194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50" spc="-10" dirty="0">
                <a:solidFill>
                  <a:srgbClr val="212121"/>
                </a:solidFill>
                <a:latin typeface="Calibri"/>
                <a:cs typeface="Calibri"/>
              </a:rPr>
              <a:t>0.009592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74410" y="8993724"/>
            <a:ext cx="238760" cy="71374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050" spc="-25" dirty="0">
                <a:solidFill>
                  <a:srgbClr val="212121"/>
                </a:solidFill>
                <a:latin typeface="Consolas"/>
                <a:cs typeface="Consolas"/>
              </a:rPr>
              <a:t>1.0</a:t>
            </a:r>
            <a:endParaRPr sz="1050">
              <a:latin typeface="Consolas"/>
              <a:cs typeface="Consolas"/>
            </a:endParaRPr>
          </a:p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z="1050" spc="-25" dirty="0">
                <a:solidFill>
                  <a:srgbClr val="212121"/>
                </a:solidFill>
                <a:latin typeface="Consolas"/>
                <a:cs typeface="Consolas"/>
              </a:rPr>
              <a:t>0.0</a:t>
            </a:r>
            <a:endParaRPr sz="1050">
              <a:latin typeface="Consolas"/>
              <a:cs typeface="Consolas"/>
            </a:endParaRPr>
          </a:p>
          <a:p>
            <a:pPr marL="15240">
              <a:lnSpc>
                <a:spcPct val="100000"/>
              </a:lnSpc>
              <a:spcBef>
                <a:spcPts val="15"/>
              </a:spcBef>
            </a:pPr>
            <a:r>
              <a:rPr sz="1050" spc="-25" dirty="0">
                <a:solidFill>
                  <a:srgbClr val="212121"/>
                </a:solidFill>
                <a:latin typeface="Consolas"/>
                <a:cs typeface="Consolas"/>
              </a:rPr>
              <a:t>0.0</a:t>
            </a:r>
            <a:endParaRPr sz="1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1050" spc="-25" dirty="0">
                <a:solidFill>
                  <a:srgbClr val="212121"/>
                </a:solidFill>
                <a:latin typeface="Consolas"/>
                <a:cs typeface="Consolas"/>
              </a:rPr>
              <a:t>1.0</a:t>
            </a:r>
            <a:endParaRPr sz="10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188973"/>
          <a:ext cx="6480810" cy="8557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7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1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breast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cancer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1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sklearn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2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spc="45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regression.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58775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breast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cancer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sklearn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with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regression.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curve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593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9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(Binary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Classification)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4572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statistical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method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problems.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probability that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input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belongs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particular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malignant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benign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tumor)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sigmoid function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2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probabilities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which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mapped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threshold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5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(commonly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0.5).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When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Regression?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when: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dependent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variable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(Yes/No,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0/1,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True/False,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Malignant/Benign).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want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probability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outcome.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120390" indent="390525">
                        <a:lnSpc>
                          <a:spcPts val="1390"/>
                        </a:lnSpc>
                        <a:spcBef>
                          <a:spcPts val="60"/>
                        </a:spcBef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You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dealing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linearly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separable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classes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Mathematics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Behind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4325" indent="-244475">
                        <a:lnSpc>
                          <a:spcPts val="1435"/>
                        </a:lnSpc>
                        <a:spcBef>
                          <a:spcPts val="85"/>
                        </a:spcBef>
                        <a:buClr>
                          <a:srgbClr val="0074B9"/>
                        </a:buClr>
                        <a:buFont typeface="Segoe UI Emoji"/>
                        <a:buChar char="◆"/>
                        <a:tabLst>
                          <a:tab pos="314325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Just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Regression,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starts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combination: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z=w0+w1x1+w2x2+…+wnxn=w^Txz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4325" indent="-244475">
                        <a:lnSpc>
                          <a:spcPts val="1435"/>
                        </a:lnSpc>
                        <a:spcBef>
                          <a:spcPts val="120"/>
                        </a:spcBef>
                        <a:buClr>
                          <a:srgbClr val="0074B9"/>
                        </a:buClr>
                        <a:buFont typeface="Segoe UI Emoji"/>
                        <a:buChar char="◆"/>
                        <a:tabLst>
                          <a:tab pos="314325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Sigmoid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Activation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Function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0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linear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combination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passed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through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sigmoid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function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produce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probability: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5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σ(z)=1/1+e^-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z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maps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real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z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(0,1)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range,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making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probability-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14325" indent="-244475">
                        <a:lnSpc>
                          <a:spcPts val="1435"/>
                        </a:lnSpc>
                        <a:buClr>
                          <a:srgbClr val="0074B9"/>
                        </a:buClr>
                        <a:buFont typeface="Segoe UI Emoji"/>
                        <a:buChar char="◆"/>
                        <a:tabLst>
                          <a:tab pos="314325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Metrics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lvl="1" indent="-227965">
                        <a:lnSpc>
                          <a:spcPts val="1405"/>
                        </a:lnSpc>
                        <a:buFont typeface="Times New Roman"/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3422650" indent="389890">
                        <a:lnSpc>
                          <a:spcPts val="1380"/>
                        </a:lnSpc>
                        <a:spcBef>
                          <a:spcPts val="6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Proportion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correctly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classified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instances: Accuracy=TP+TN/TP+TN+FP+FN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lvl="1" indent="-227965">
                        <a:lnSpc>
                          <a:spcPts val="1325"/>
                        </a:lnSpc>
                        <a:buFont typeface="Times New Roman"/>
                        <a:buAutoNum type="arabicPeriod" startAt="2"/>
                        <a:tabLst>
                          <a:tab pos="459740" algn="l"/>
                        </a:tabLst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395605">
                        <a:lnSpc>
                          <a:spcPts val="138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table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Positives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(TP)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Negatives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(TN)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Positives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(FP)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False Negatives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(FN)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lvl="1" indent="-227965">
                        <a:lnSpc>
                          <a:spcPts val="1315"/>
                        </a:lnSpc>
                        <a:buAutoNum type="arabicPeriod" startAt="3"/>
                        <a:tabLst>
                          <a:tab pos="459740" algn="l"/>
                        </a:tabLst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Curve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AUC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(Area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Under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Curve)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255904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graph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trade-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off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between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True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Positive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Positive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Rate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different threshold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settings.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AUC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closer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indicates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classifier.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1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loaded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sklearn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661670">
                        <a:lnSpc>
                          <a:spcPts val="1380"/>
                        </a:lnSpc>
                        <a:spcBef>
                          <a:spcPts val="5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model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911351"/>
          <a:ext cx="6482079" cy="40335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923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calculated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displayed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curve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plotted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364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9425">
                <a:tc gridSpan="5">
                  <a:txBody>
                    <a:bodyPr/>
                    <a:lstStyle/>
                    <a:p>
                      <a:pPr marL="2540">
                        <a:lnSpc>
                          <a:spcPts val="136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(Using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Pandas/Scikit-learn)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98475" indent="-266700">
                        <a:lnSpc>
                          <a:spcPts val="1265"/>
                        </a:lnSpc>
                        <a:buAutoNum type="arabicPeriod"/>
                        <a:tabLst>
                          <a:tab pos="4984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necessary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libraries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breast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cancer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sets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0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85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Confusion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Matrix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360"/>
                        </a:lnSpc>
                        <a:buSzPct val="83333"/>
                        <a:buFont typeface="Courier New"/>
                        <a:buChar char="o"/>
                        <a:tabLst>
                          <a:tab pos="9175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Curve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&amp;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AUC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89405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6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Conclusion: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experiment,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successfully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built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binary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the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Breast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Cancer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dataset.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2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Accuracy: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indicates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Matrix: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Showed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minimal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false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positives/negatives.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ROC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Curve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AUC: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AUC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close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1.0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confirmed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model’s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effectiveness.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confirms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Logistic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Regression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suitable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medical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involving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binary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outcomes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like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disease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detection.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890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449577"/>
            <a:ext cx="7559040" cy="831837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044" y="4378233"/>
            <a:ext cx="59598" cy="7938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044" y="4854520"/>
            <a:ext cx="49665" cy="7938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044" y="5469722"/>
            <a:ext cx="59598" cy="7938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35044" y="5946009"/>
            <a:ext cx="49665" cy="7938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044" y="6561211"/>
            <a:ext cx="59598" cy="793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044" y="7652702"/>
            <a:ext cx="59598" cy="7938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10834" y="1150599"/>
            <a:ext cx="3611879" cy="15240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#</a:t>
            </a:r>
            <a:r>
              <a:rPr sz="950" i="1" spc="42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St</a:t>
            </a:r>
            <a:r>
              <a:rPr sz="950" i="1" spc="4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ep</a:t>
            </a:r>
            <a:r>
              <a:rPr sz="950" i="1" spc="305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12:</a:t>
            </a:r>
            <a:r>
              <a:rPr sz="950" i="1" spc="190" dirty="0">
                <a:solidFill>
                  <a:srgbClr val="3F8080"/>
                </a:solidFill>
                <a:latin typeface="Calibri"/>
                <a:cs typeface="Calibri"/>
              </a:rPr>
              <a:t> 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PL</a:t>
            </a:r>
            <a:r>
              <a:rPr sz="950" i="1" spc="-11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o</a:t>
            </a:r>
            <a:r>
              <a:rPr sz="950" i="1" spc="-12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I</a:t>
            </a:r>
            <a:r>
              <a:rPr sz="950" i="1" spc="155" dirty="0">
                <a:solidFill>
                  <a:srgbClr val="3F8080"/>
                </a:solidFill>
                <a:latin typeface="Calibri"/>
                <a:cs typeface="Calibri"/>
              </a:rPr>
              <a:t>  </a:t>
            </a:r>
            <a:r>
              <a:rPr sz="950" i="1" spc="-95" dirty="0">
                <a:solidFill>
                  <a:srgbClr val="3F8080"/>
                </a:solidFill>
                <a:latin typeface="Calibri"/>
                <a:cs typeface="Calibri"/>
              </a:rPr>
              <a:t>RO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C</a:t>
            </a:r>
            <a:r>
              <a:rPr sz="950" i="1" spc="38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Cu</a:t>
            </a:r>
            <a:r>
              <a:rPr sz="950" i="1" spc="-9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dirty="0">
                <a:solidFill>
                  <a:srgbClr val="3F8080"/>
                </a:solidFill>
                <a:latin typeface="Calibri"/>
                <a:cs typeface="Calibri"/>
              </a:rPr>
              <a:t>in</a:t>
            </a:r>
            <a:r>
              <a:rPr sz="950" i="1" spc="110" dirty="0">
                <a:solidFill>
                  <a:srgbClr val="3F8080"/>
                </a:solidFill>
                <a:latin typeface="Calibri"/>
                <a:cs typeface="Calibri"/>
              </a:rPr>
              <a:t> </a:t>
            </a:r>
            <a:r>
              <a:rPr sz="950" i="1" spc="-50" dirty="0">
                <a:solidFill>
                  <a:srgbClr val="3F8080"/>
                </a:solidFill>
                <a:latin typeface="Calibri"/>
                <a:cs typeface="Calibri"/>
              </a:rPr>
              <a:t>e</a:t>
            </a:r>
            <a:endParaRPr sz="95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190"/>
              </a:spcBef>
            </a:pPr>
            <a:r>
              <a:rPr sz="950" spc="-25" dirty="0">
                <a:solidFill>
                  <a:srgbClr val="1F1F1F"/>
                </a:solidFill>
                <a:latin typeface="Courier New"/>
                <a:cs typeface="Courier New"/>
              </a:rPr>
              <a:t>plt.figure(figsize=(6,6))</a:t>
            </a:r>
            <a:endParaRPr sz="950">
              <a:latin typeface="Courier New"/>
              <a:cs typeface="Courier New"/>
            </a:endParaRPr>
          </a:p>
          <a:p>
            <a:pPr marL="20955">
              <a:lnSpc>
                <a:spcPct val="100000"/>
              </a:lnSpc>
              <a:spcBef>
                <a:spcPts val="110"/>
              </a:spcBef>
            </a:pPr>
            <a:r>
              <a:rPr sz="950" spc="-70" dirty="0">
                <a:solidFill>
                  <a:srgbClr val="1F1F1F"/>
                </a:solidFill>
                <a:latin typeface="Courier New"/>
                <a:cs typeface="Courier New"/>
              </a:rPr>
              <a:t>plt.plot(fpr,</a:t>
            </a:r>
            <a:r>
              <a:rPr sz="950" spc="-60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45" dirty="0">
                <a:solidFill>
                  <a:srgbClr val="1F1F1F"/>
                </a:solidFill>
                <a:latin typeface="Courier New"/>
                <a:cs typeface="Courier New"/>
              </a:rPr>
              <a:t>tpr, </a:t>
            </a:r>
            <a:r>
              <a:rPr sz="950" spc="-65" dirty="0">
                <a:solidFill>
                  <a:srgbClr val="1F1F1F"/>
                </a:solidFill>
                <a:latin typeface="Courier New"/>
                <a:cs typeface="Courier New"/>
              </a:rPr>
              <a:t>co1or='b1ue',</a:t>
            </a:r>
            <a:r>
              <a:rPr sz="950" spc="-55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60" dirty="0">
                <a:solidFill>
                  <a:srgbClr val="1F1F1F"/>
                </a:solidFill>
                <a:latin typeface="Courier New"/>
                <a:cs typeface="Courier New"/>
              </a:rPr>
              <a:t>1w=2,</a:t>
            </a:r>
            <a:r>
              <a:rPr sz="950" spc="-85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1F1F1F"/>
                </a:solidFill>
                <a:latin typeface="Courier New"/>
                <a:cs typeface="Courier New"/>
              </a:rPr>
              <a:t>1abe1=f'ROC</a:t>
            </a:r>
            <a:endParaRPr sz="950">
              <a:latin typeface="Courier New"/>
              <a:cs typeface="Courier New"/>
            </a:endParaRPr>
          </a:p>
          <a:p>
            <a:pPr marL="20955" marR="5080">
              <a:lnSpc>
                <a:spcPct val="113100"/>
              </a:lnSpc>
              <a:spcBef>
                <a:spcPts val="40"/>
              </a:spcBef>
              <a:tabLst>
                <a:tab pos="1806575" algn="l"/>
                <a:tab pos="3461385" algn="l"/>
              </a:tabLst>
            </a:pPr>
            <a:r>
              <a:rPr sz="950" spc="-105" dirty="0">
                <a:solidFill>
                  <a:srgbClr val="1F1F1F"/>
                </a:solidFill>
                <a:latin typeface="Courier New"/>
                <a:cs typeface="Courier New"/>
              </a:rPr>
              <a:t>plt.</a:t>
            </a:r>
            <a:r>
              <a:rPr sz="950" spc="-409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70" dirty="0">
                <a:solidFill>
                  <a:srgbClr val="0054AA"/>
                </a:solidFill>
                <a:latin typeface="Courier New"/>
                <a:cs typeface="Courier New"/>
              </a:rPr>
              <a:t>plot</a:t>
            </a:r>
            <a:r>
              <a:rPr sz="950" spc="-70" dirty="0">
                <a:solidFill>
                  <a:srgbClr val="1F1F1F"/>
                </a:solidFill>
                <a:latin typeface="Courier New"/>
                <a:cs typeface="Courier New"/>
              </a:rPr>
              <a:t>([0, </a:t>
            </a:r>
            <a:r>
              <a:rPr sz="950" spc="-80" dirty="0">
                <a:solidFill>
                  <a:srgbClr val="1F1F1F"/>
                </a:solidFill>
                <a:latin typeface="Courier New"/>
                <a:cs typeface="Courier New"/>
              </a:rPr>
              <a:t>1],</a:t>
            </a:r>
            <a:r>
              <a:rPr sz="950" spc="-155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1F1F1F"/>
                </a:solidFill>
                <a:latin typeface="Courier New"/>
                <a:cs typeface="Courier New"/>
              </a:rPr>
              <a:t>[0,</a:t>
            </a:r>
            <a:r>
              <a:rPr sz="950" spc="-110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1F1F1F"/>
                </a:solidFill>
                <a:latin typeface="Courier New"/>
                <a:cs typeface="Courier New"/>
              </a:rPr>
              <a:t>1],</a:t>
            </a:r>
            <a:r>
              <a:rPr sz="950" spc="35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85" dirty="0">
                <a:solidFill>
                  <a:srgbClr val="1F1F1F"/>
                </a:solidFill>
                <a:latin typeface="Courier New"/>
                <a:cs typeface="Courier New"/>
              </a:rPr>
              <a:t>color=</a:t>
            </a:r>
            <a:r>
              <a:rPr sz="950" spc="-459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105" dirty="0">
                <a:solidFill>
                  <a:srgbClr val="BA2121"/>
                </a:solidFill>
                <a:latin typeface="Courier New"/>
                <a:cs typeface="Courier New"/>
              </a:rPr>
              <a:t>'gray</a:t>
            </a:r>
            <a:r>
              <a:rPr sz="950" spc="-42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1F1F1F"/>
                </a:solidFill>
                <a:latin typeface="Courier New"/>
                <a:cs typeface="Courier New"/>
              </a:rPr>
              <a:t>',</a:t>
            </a:r>
            <a:r>
              <a:rPr sz="950" spc="-40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80" dirty="0">
                <a:solidFill>
                  <a:srgbClr val="1F1F1F"/>
                </a:solidFill>
                <a:latin typeface="Courier New"/>
                <a:cs typeface="Courier New"/>
              </a:rPr>
              <a:t>linestyle=</a:t>
            </a:r>
            <a:r>
              <a:rPr sz="950" spc="-420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A2121"/>
                </a:solidFill>
                <a:latin typeface="Courier New"/>
                <a:cs typeface="Courier New"/>
              </a:rPr>
              <a:t>'</a:t>
            </a:r>
            <a:r>
              <a:rPr sz="950" dirty="0">
                <a:solidFill>
                  <a:srgbClr val="BA2121"/>
                </a:solidFill>
                <a:latin typeface="Courier New"/>
                <a:cs typeface="Courier New"/>
              </a:rPr>
              <a:t>	</a:t>
            </a:r>
            <a:r>
              <a:rPr sz="950" spc="-60" dirty="0">
                <a:solidFill>
                  <a:srgbClr val="1F1F1F"/>
                </a:solidFill>
                <a:latin typeface="Courier New"/>
                <a:cs typeface="Courier New"/>
              </a:rPr>
              <a:t>') </a:t>
            </a:r>
            <a:r>
              <a:rPr sz="950" spc="-65" dirty="0">
                <a:solidFill>
                  <a:srgbClr val="1F1F1F"/>
                </a:solidFill>
                <a:latin typeface="Courier New"/>
                <a:cs typeface="Courier New"/>
              </a:rPr>
              <a:t>p1t.title(”ROC</a:t>
            </a:r>
            <a:r>
              <a:rPr sz="950" spc="-100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BA2121"/>
                </a:solidFill>
                <a:latin typeface="Courier New"/>
                <a:cs typeface="Courier New"/>
              </a:rPr>
              <a:t>Curve</a:t>
            </a:r>
            <a:r>
              <a:rPr sz="950" spc="-4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150" dirty="0">
                <a:solidFill>
                  <a:srgbClr val="BA2121"/>
                </a:solidFill>
                <a:latin typeface="Courier New"/>
                <a:cs typeface="Courier New"/>
              </a:rPr>
              <a:t>-</a:t>
            </a:r>
            <a:r>
              <a:rPr sz="950" spc="-4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65" dirty="0">
                <a:solidFill>
                  <a:srgbClr val="BA2121"/>
                </a:solidFill>
                <a:latin typeface="Courier New"/>
                <a:cs typeface="Courier New"/>
              </a:rPr>
              <a:t>Logistic</a:t>
            </a:r>
            <a:r>
              <a:rPr sz="950" spc="15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1F1F1F"/>
                </a:solidFill>
                <a:latin typeface="Courier New"/>
                <a:cs typeface="Courier New"/>
              </a:rPr>
              <a:t>Regression”) p1t.x1abe1(”False</a:t>
            </a:r>
            <a:r>
              <a:rPr sz="950" dirty="0">
                <a:solidFill>
                  <a:srgbClr val="1F1F1F"/>
                </a:solidFill>
                <a:latin typeface="Courier New"/>
                <a:cs typeface="Courier New"/>
              </a:rPr>
              <a:t>	</a:t>
            </a:r>
            <a:r>
              <a:rPr sz="950" spc="-10" dirty="0">
                <a:solidFill>
                  <a:srgbClr val="1F1F1F"/>
                </a:solidFill>
                <a:latin typeface="Courier New"/>
                <a:cs typeface="Courier New"/>
              </a:rPr>
              <a:t>Rate”)</a:t>
            </a:r>
            <a:endParaRPr sz="950">
              <a:latin typeface="Courier New"/>
              <a:cs typeface="Courier New"/>
            </a:endParaRPr>
          </a:p>
          <a:p>
            <a:pPr marL="20955" marR="1459230">
              <a:lnSpc>
                <a:spcPct val="113100"/>
              </a:lnSpc>
              <a:spcBef>
                <a:spcPts val="114"/>
              </a:spcBef>
            </a:pPr>
            <a:r>
              <a:rPr sz="950" spc="-70" dirty="0">
                <a:solidFill>
                  <a:srgbClr val="1F1F1F"/>
                </a:solidFill>
                <a:latin typeface="Courier New"/>
                <a:cs typeface="Courier New"/>
              </a:rPr>
              <a:t>p1t.y1abe1(”True</a:t>
            </a:r>
            <a:r>
              <a:rPr sz="950" spc="-75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55" dirty="0">
                <a:solidFill>
                  <a:srgbClr val="BA2121"/>
                </a:solidFill>
                <a:latin typeface="Courier New"/>
                <a:cs typeface="Courier New"/>
              </a:rPr>
              <a:t>Positive</a:t>
            </a:r>
            <a:r>
              <a:rPr sz="950" spc="-2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20" dirty="0">
                <a:solidFill>
                  <a:srgbClr val="1F1F1F"/>
                </a:solidFill>
                <a:latin typeface="Courier New"/>
                <a:cs typeface="Courier New"/>
              </a:rPr>
              <a:t>Rate”) </a:t>
            </a:r>
            <a:r>
              <a:rPr sz="950" spc="-65" dirty="0">
                <a:solidFill>
                  <a:srgbClr val="1F1F1F"/>
                </a:solidFill>
                <a:latin typeface="Courier New"/>
                <a:cs typeface="Courier New"/>
              </a:rPr>
              <a:t>plt.legend(1oc=”lower</a:t>
            </a:r>
            <a:r>
              <a:rPr sz="950" spc="5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110" dirty="0">
                <a:solidFill>
                  <a:srgbClr val="BA2121"/>
                </a:solidFill>
                <a:latin typeface="Courier New"/>
                <a:cs typeface="Courier New"/>
              </a:rPr>
              <a:t>right</a:t>
            </a:r>
            <a:r>
              <a:rPr sz="950" spc="-340" dirty="0">
                <a:solidFill>
                  <a:srgbClr val="BA2121"/>
                </a:solidFill>
                <a:latin typeface="Courier New"/>
                <a:cs typeface="Courier New"/>
              </a:rPr>
              <a:t> </a:t>
            </a:r>
            <a:r>
              <a:rPr sz="950" spc="-25" dirty="0">
                <a:solidFill>
                  <a:srgbClr val="1F1F1F"/>
                </a:solidFill>
                <a:latin typeface="Courier New"/>
                <a:cs typeface="Courier New"/>
              </a:rPr>
              <a:t>”) </a:t>
            </a:r>
            <a:r>
              <a:rPr sz="950" spc="-10" dirty="0">
                <a:solidFill>
                  <a:srgbClr val="1F1F1F"/>
                </a:solidFill>
                <a:latin typeface="Courier New"/>
                <a:cs typeface="Courier New"/>
              </a:rPr>
              <a:t>p1t.show()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88096" y="1497891"/>
            <a:ext cx="120967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-130" dirty="0">
                <a:solidFill>
                  <a:srgbClr val="770087"/>
                </a:solidFill>
                <a:latin typeface="Courier New"/>
                <a:cs typeface="Courier New"/>
              </a:rPr>
              <a:t>=</a:t>
            </a:r>
            <a:r>
              <a:rPr sz="950" spc="-254" dirty="0">
                <a:solidFill>
                  <a:srgbClr val="770087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1F1F1F"/>
                </a:solidFill>
                <a:latin typeface="Courier New"/>
                <a:cs typeface="Courier New"/>
              </a:rPr>
              <a:t>(roc</a:t>
            </a:r>
            <a:r>
              <a:rPr sz="950" spc="-100" dirty="0">
                <a:solidFill>
                  <a:srgbClr val="1F1F1F"/>
                </a:solidFill>
                <a:latin typeface="Courier New"/>
                <a:cs typeface="Courier New"/>
              </a:rPr>
              <a:t> </a:t>
            </a:r>
            <a:r>
              <a:rPr sz="950" spc="-50" dirty="0">
                <a:solidFill>
                  <a:srgbClr val="1F1F1F"/>
                </a:solidFill>
                <a:latin typeface="Courier New"/>
                <a:cs typeface="Courier New"/>
              </a:rPr>
              <a:t>auc:.2C})')</a:t>
            </a:r>
            <a:endParaRPr sz="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5736" y="2906904"/>
            <a:ext cx="1406525" cy="34353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204"/>
              </a:spcBef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Data</a:t>
            </a:r>
            <a:r>
              <a:rPr sz="950" spc="-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shape:</a:t>
            </a:r>
            <a:r>
              <a:rPr sz="95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(569,</a:t>
            </a:r>
            <a:r>
              <a:rPr sz="950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-25" dirty="0">
                <a:solidFill>
                  <a:srgbClr val="212121"/>
                </a:solidFill>
                <a:latin typeface="Consolas"/>
                <a:cs typeface="Consolas"/>
              </a:rPr>
              <a:t>33)</a:t>
            </a:r>
            <a:endParaRPr sz="950">
              <a:latin typeface="Consolas"/>
              <a:cs typeface="Consolas"/>
            </a:endParaRPr>
          </a:p>
          <a:p>
            <a:pPr marR="20320" algn="r">
              <a:lnSpc>
                <a:spcPct val="100000"/>
              </a:lnSpc>
              <a:spcBef>
                <a:spcPts val="110"/>
              </a:spcBef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id</a:t>
            </a:r>
            <a:r>
              <a:rPr sz="950" spc="1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Consolas"/>
                <a:cs typeface="Consolas"/>
              </a:rPr>
              <a:t>diagnosis</a:t>
            </a:r>
            <a:endParaRPr sz="9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29914" y="3075591"/>
            <a:ext cx="758190" cy="958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radius</a:t>
            </a:r>
            <a:r>
              <a:rPr sz="950" spc="2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onsolas"/>
                <a:cs typeface="Consolas"/>
              </a:rPr>
              <a:t>mean</a:t>
            </a:r>
            <a:endParaRPr sz="950">
              <a:latin typeface="Consolas"/>
              <a:cs typeface="Consolas"/>
            </a:endParaRPr>
          </a:p>
          <a:p>
            <a:pPr marL="411480">
              <a:lnSpc>
                <a:spcPct val="100000"/>
              </a:lnSpc>
              <a:spcBef>
                <a:spcPts val="30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17.99</a:t>
            </a:r>
            <a:endParaRPr sz="950">
              <a:latin typeface="Calibri"/>
              <a:cs typeface="Calibri"/>
            </a:endParaRPr>
          </a:p>
          <a:p>
            <a:pPr marL="415290">
              <a:lnSpc>
                <a:spcPct val="100000"/>
              </a:lnSpc>
              <a:spcBef>
                <a:spcPts val="110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20.57</a:t>
            </a:r>
            <a:endParaRPr sz="950">
              <a:latin typeface="Calibri"/>
              <a:cs typeface="Calibri"/>
            </a:endParaRPr>
          </a:p>
          <a:p>
            <a:pPr marL="411480">
              <a:lnSpc>
                <a:spcPct val="100000"/>
              </a:lnSpc>
              <a:spcBef>
                <a:spcPts val="35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19.69</a:t>
            </a:r>
            <a:endParaRPr sz="950">
              <a:latin typeface="Calibri"/>
              <a:cs typeface="Calibri"/>
            </a:endParaRPr>
          </a:p>
          <a:p>
            <a:pPr marL="411480">
              <a:lnSpc>
                <a:spcPct val="100000"/>
              </a:lnSpc>
              <a:spcBef>
                <a:spcPts val="110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11.42</a:t>
            </a:r>
            <a:endParaRPr sz="950">
              <a:latin typeface="Calibri"/>
              <a:cs typeface="Calibri"/>
            </a:endParaRPr>
          </a:p>
          <a:p>
            <a:pPr marL="415290">
              <a:lnSpc>
                <a:spcPct val="100000"/>
              </a:lnSpc>
              <a:spcBef>
                <a:spcPts val="185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20.29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92519" y="3075591"/>
            <a:ext cx="818515" cy="958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70" dirty="0">
                <a:solidFill>
                  <a:srgbClr val="212121"/>
                </a:solidFill>
                <a:latin typeface="Consolas"/>
                <a:cs typeface="Consolas"/>
              </a:rPr>
              <a:t>trture </a:t>
            </a:r>
            <a:r>
              <a:rPr sz="950" spc="-20" dirty="0">
                <a:solidFill>
                  <a:srgbClr val="212121"/>
                </a:solidFill>
                <a:latin typeface="Consolas"/>
                <a:cs typeface="Consolas"/>
              </a:rPr>
              <a:t>mean</a:t>
            </a:r>
            <a:endParaRPr sz="950">
              <a:latin typeface="Consolas"/>
              <a:cs typeface="Consolas"/>
            </a:endParaRPr>
          </a:p>
          <a:p>
            <a:pPr marL="482600">
              <a:lnSpc>
                <a:spcPct val="100000"/>
              </a:lnSpc>
              <a:spcBef>
                <a:spcPts val="30"/>
              </a:spcBef>
            </a:pPr>
            <a:r>
              <a:rPr sz="950" spc="50" dirty="0">
                <a:solidFill>
                  <a:srgbClr val="212121"/>
                </a:solidFill>
                <a:latin typeface="Calibri"/>
                <a:cs typeface="Calibri"/>
              </a:rPr>
              <a:t>10.38</a:t>
            </a:r>
            <a:endParaRPr sz="950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  <a:spcBef>
                <a:spcPts val="110"/>
              </a:spcBef>
            </a:pPr>
            <a:r>
              <a:rPr sz="950" spc="55" dirty="0">
                <a:solidFill>
                  <a:srgbClr val="212121"/>
                </a:solidFill>
                <a:latin typeface="Calibri"/>
                <a:cs typeface="Calibri"/>
              </a:rPr>
              <a:t>17.77</a:t>
            </a:r>
            <a:endParaRPr sz="95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35"/>
              </a:spcBef>
            </a:pPr>
            <a:r>
              <a:rPr sz="950" spc="50" dirty="0">
                <a:solidFill>
                  <a:srgbClr val="212121"/>
                </a:solidFill>
                <a:latin typeface="Calibri"/>
                <a:cs typeface="Calibri"/>
              </a:rPr>
              <a:t>21.25</a:t>
            </a:r>
            <a:endParaRPr sz="950">
              <a:latin typeface="Calibri"/>
              <a:cs typeface="Calibri"/>
            </a:endParaRPr>
          </a:p>
          <a:p>
            <a:pPr marL="485775">
              <a:lnSpc>
                <a:spcPct val="100000"/>
              </a:lnSpc>
              <a:spcBef>
                <a:spcPts val="110"/>
              </a:spcBef>
            </a:pPr>
            <a:r>
              <a:rPr sz="950" spc="45" dirty="0">
                <a:solidFill>
                  <a:srgbClr val="212121"/>
                </a:solidFill>
                <a:latin typeface="Calibri"/>
                <a:cs typeface="Calibri"/>
              </a:rPr>
              <a:t>20.38</a:t>
            </a:r>
            <a:endParaRPr sz="950">
              <a:latin typeface="Calibri"/>
              <a:cs typeface="Calibri"/>
            </a:endParaRPr>
          </a:p>
          <a:p>
            <a:pPr marL="482600">
              <a:lnSpc>
                <a:spcPct val="100000"/>
              </a:lnSpc>
              <a:spcBef>
                <a:spcPts val="185"/>
              </a:spcBef>
            </a:pPr>
            <a:r>
              <a:rPr sz="950" spc="50" dirty="0">
                <a:solidFill>
                  <a:srgbClr val="212121"/>
                </a:solidFill>
                <a:latin typeface="Calibri"/>
                <a:cs typeface="Calibri"/>
              </a:rPr>
              <a:t>14.34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0344" y="3075591"/>
            <a:ext cx="958850" cy="958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perimeter</a:t>
            </a:r>
            <a:r>
              <a:rPr sz="950" spc="-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onsolas"/>
                <a:cs typeface="Consolas"/>
              </a:rPr>
              <a:t>mean</a:t>
            </a:r>
            <a:endParaRPr sz="950">
              <a:latin typeface="Consolas"/>
              <a:cs typeface="Consolas"/>
            </a:endParaRPr>
          </a:p>
          <a:p>
            <a:pPr marR="5080" algn="r">
              <a:lnSpc>
                <a:spcPct val="100000"/>
              </a:lnSpc>
              <a:spcBef>
                <a:spcPts val="30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122.80</a:t>
            </a:r>
            <a:endParaRPr sz="9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10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132.90</a:t>
            </a:r>
            <a:endParaRPr sz="9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130.00</a:t>
            </a:r>
            <a:endParaRPr sz="950">
              <a:latin typeface="Calibri"/>
              <a:cs typeface="Calibri"/>
            </a:endParaRPr>
          </a:p>
          <a:p>
            <a:pPr marR="13335" algn="r">
              <a:lnSpc>
                <a:spcPct val="100000"/>
              </a:lnSpc>
              <a:spcBef>
                <a:spcPts val="110"/>
              </a:spcBef>
            </a:pPr>
            <a:r>
              <a:rPr sz="950" spc="55" dirty="0">
                <a:solidFill>
                  <a:srgbClr val="212121"/>
                </a:solidFill>
                <a:latin typeface="Calibri"/>
                <a:cs typeface="Calibri"/>
              </a:rPr>
              <a:t>77.58</a:t>
            </a:r>
            <a:endParaRPr sz="95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85"/>
              </a:spcBef>
            </a:pPr>
            <a:r>
              <a:rPr sz="950" spc="70" dirty="0">
                <a:solidFill>
                  <a:srgbClr val="212121"/>
                </a:solidFill>
                <a:latin typeface="Calibri"/>
                <a:cs typeface="Calibri"/>
              </a:rPr>
              <a:t>135.10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084817" y="3075591"/>
            <a:ext cx="813435" cy="9582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35965" algn="l"/>
              </a:tabLst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area</a:t>
            </a:r>
            <a:r>
              <a:rPr sz="95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onsolas"/>
                <a:cs typeface="Consolas"/>
              </a:rPr>
              <a:t>mean</a:t>
            </a: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	</a:t>
            </a:r>
            <a:r>
              <a:rPr sz="950" spc="-50" dirty="0">
                <a:solidFill>
                  <a:srgbClr val="212121"/>
                </a:solidFill>
                <a:latin typeface="Consolas"/>
                <a:cs typeface="Consolas"/>
              </a:rPr>
              <a:t>\</a:t>
            </a:r>
            <a:endParaRPr sz="950">
              <a:latin typeface="Consolas"/>
              <a:cs typeface="Consolas"/>
            </a:endParaRPr>
          </a:p>
          <a:p>
            <a:pPr marR="198755" algn="r">
              <a:lnSpc>
                <a:spcPct val="100000"/>
              </a:lnSpc>
              <a:spcBef>
                <a:spcPts val="30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1001.0</a:t>
            </a:r>
            <a:endParaRPr sz="950">
              <a:latin typeface="Calibri"/>
              <a:cs typeface="Calibri"/>
            </a:endParaRPr>
          </a:p>
          <a:p>
            <a:pPr marR="198755" algn="r">
              <a:lnSpc>
                <a:spcPct val="100000"/>
              </a:lnSpc>
              <a:spcBef>
                <a:spcPts val="110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1326.0</a:t>
            </a:r>
            <a:endParaRPr sz="950">
              <a:latin typeface="Calibri"/>
              <a:cs typeface="Calibri"/>
            </a:endParaRPr>
          </a:p>
          <a:p>
            <a:pPr marR="198755" algn="r">
              <a:lnSpc>
                <a:spcPct val="100000"/>
              </a:lnSpc>
              <a:spcBef>
                <a:spcPts val="35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1203.0</a:t>
            </a:r>
            <a:endParaRPr sz="950">
              <a:latin typeface="Calibri"/>
              <a:cs typeface="Calibri"/>
            </a:endParaRPr>
          </a:p>
          <a:p>
            <a:pPr marR="204470" algn="r">
              <a:lnSpc>
                <a:spcPct val="100000"/>
              </a:lnSpc>
              <a:spcBef>
                <a:spcPts val="110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386.1</a:t>
            </a:r>
            <a:endParaRPr sz="950">
              <a:latin typeface="Calibri"/>
              <a:cs typeface="Calibri"/>
            </a:endParaRPr>
          </a:p>
          <a:p>
            <a:pPr marR="198755" algn="r">
              <a:lnSpc>
                <a:spcPct val="100000"/>
              </a:lnSpc>
              <a:spcBef>
                <a:spcPts val="185"/>
              </a:spcBef>
            </a:pPr>
            <a:r>
              <a:rPr sz="950" spc="60" dirty="0">
                <a:solidFill>
                  <a:srgbClr val="212121"/>
                </a:solidFill>
                <a:latin typeface="Calibri"/>
                <a:cs typeface="Calibri"/>
              </a:rPr>
              <a:t>1297.0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9501" y="3214507"/>
            <a:ext cx="751840" cy="81978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204"/>
              </a:spcBef>
              <a:tabLst>
                <a:tab pos="358140" algn="l"/>
              </a:tabLst>
            </a:pP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0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842302</a:t>
            </a:r>
            <a:endParaRPr sz="950">
              <a:latin typeface="Calibri"/>
              <a:cs typeface="Calibri"/>
            </a:endParaRPr>
          </a:p>
          <a:p>
            <a:pPr marL="14604">
              <a:lnSpc>
                <a:spcPct val="100000"/>
              </a:lnSpc>
              <a:spcBef>
                <a:spcPts val="110"/>
              </a:spcBef>
              <a:tabLst>
                <a:tab pos="358140" algn="l"/>
              </a:tabLst>
            </a:pP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1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842517</a:t>
            </a:r>
            <a:endParaRPr sz="9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30"/>
              </a:spcBef>
              <a:tabLst>
                <a:tab pos="219075" algn="l"/>
              </a:tabLst>
            </a:pP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2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84300903</a:t>
            </a:r>
            <a:endParaRPr sz="95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110"/>
              </a:spcBef>
              <a:tabLst>
                <a:tab pos="219075" algn="l"/>
              </a:tabLst>
            </a:pP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3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84348301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  <a:tabLst>
                <a:tab pos="219075" algn="l"/>
              </a:tabLst>
            </a:pP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4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84358402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34162" y="3214507"/>
            <a:ext cx="99060" cy="819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9700"/>
              </a:lnSpc>
              <a:spcBef>
                <a:spcPts val="95"/>
              </a:spcBef>
            </a:pPr>
            <a:r>
              <a:rPr sz="950" spc="-114" dirty="0">
                <a:solidFill>
                  <a:srgbClr val="212121"/>
                </a:solidFill>
                <a:latin typeface="Calibri"/>
                <a:cs typeface="Calibri"/>
              </a:rPr>
              <a:t>kt</a:t>
            </a:r>
            <a:r>
              <a:rPr sz="95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14" dirty="0">
                <a:solidFill>
                  <a:srgbClr val="212121"/>
                </a:solidFill>
                <a:latin typeface="Calibri"/>
                <a:cs typeface="Calibri"/>
              </a:rPr>
              <a:t>kt</a:t>
            </a:r>
            <a:r>
              <a:rPr sz="95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65" dirty="0">
                <a:solidFill>
                  <a:srgbClr val="212121"/>
                </a:solidFill>
                <a:latin typeface="Calibri"/>
                <a:cs typeface="Calibri"/>
              </a:rPr>
              <a:t>fil</a:t>
            </a:r>
            <a:r>
              <a:rPr sz="95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14" dirty="0">
                <a:solidFill>
                  <a:srgbClr val="212121"/>
                </a:solidFill>
                <a:latin typeface="Calibri"/>
                <a:cs typeface="Calibri"/>
              </a:rPr>
              <a:t>kt</a:t>
            </a:r>
            <a:r>
              <a:rPr sz="950" spc="5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65" dirty="0">
                <a:solidFill>
                  <a:srgbClr val="212121"/>
                </a:solidFill>
                <a:latin typeface="Calibri"/>
                <a:cs typeface="Calibri"/>
              </a:rPr>
              <a:t>fil</a:t>
            </a:r>
            <a:endParaRPr sz="95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690451" y="4359628"/>
          <a:ext cx="5228586" cy="29279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64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8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2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96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41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5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9339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4986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40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5155">
                        <a:lnSpc>
                          <a:spcPts val="919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11840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ts val="9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27760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99745" marR="3175">
                        <a:lnSpc>
                          <a:spcPts val="9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30B1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929005">
                        <a:lnSpc>
                          <a:spcPts val="9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14710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33655">
                        <a:lnSpc>
                          <a:spcPts val="1060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5155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6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08474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ts val="1060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i="1" spc="-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87</a:t>
                      </a:r>
                      <a:r>
                        <a:rPr sz="950" i="1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i="1" spc="-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8</a:t>
                      </a:r>
                      <a:r>
                        <a:rPr sz="950" i="1" spc="-1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i="1" spc="-3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64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99745" marR="3175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6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0869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929640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6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07017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 gridSpan="2">
                  <a:txBody>
                    <a:bodyPr/>
                    <a:lstStyle/>
                    <a:p>
                      <a:pPr marL="605155">
                        <a:lnSpc>
                          <a:spcPts val="1019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10960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ts val="10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9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15990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99745" marR="3175">
                        <a:lnSpc>
                          <a:spcPts val="10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1974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929005">
                        <a:lnSpc>
                          <a:spcPts val="10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12790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5155">
                        <a:lnSpc>
                          <a:spcPts val="1100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14250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ts val="1100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28390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99745" marR="3175">
                        <a:lnSpc>
                          <a:spcPts val="1100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2414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929005">
                        <a:lnSpc>
                          <a:spcPts val="1100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1€E20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890">
                <a:tc>
                  <a:txBody>
                    <a:bodyPr/>
                    <a:lstStyle/>
                    <a:p>
                      <a:pPr marL="31750">
                        <a:lnSpc>
                          <a:spcPts val="975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605155">
                        <a:lnSpc>
                          <a:spcPts val="975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10B30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93395">
                        <a:lnSpc>
                          <a:spcPts val="975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9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13280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99745">
                        <a:lnSpc>
                          <a:spcPts val="975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1980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6">
                  <a:txBody>
                    <a:bodyPr/>
                    <a:lstStyle/>
                    <a:p>
                      <a:pPr marL="929005">
                        <a:lnSpc>
                          <a:spcPts val="975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10430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0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229235">
                        <a:lnSpc>
                          <a:spcPct val="100000"/>
                        </a:lnSpc>
                        <a:tabLst>
                          <a:tab pos="567055" algn="l"/>
                        </a:tabLst>
                      </a:pPr>
                      <a:r>
                        <a:rPr sz="9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...</a:t>
                      </a:r>
                      <a:r>
                        <a:rPr sz="9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	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texture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2540" algn="ctr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worst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40640" algn="r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perimeter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worst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99060" marR="3175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area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worst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950" spc="-3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smoothness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52069" algn="r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worst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\</a:t>
                      </a:r>
                      <a:endParaRPr sz="950">
                        <a:latin typeface="Consolas"/>
                        <a:cs typeface="Consolas"/>
                      </a:endParaRPr>
                    </a:p>
                  </a:txBody>
                  <a:tcPr marL="0" marR="0" marT="2667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03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ts val="1015"/>
                        </a:lnSpc>
                      </a:pPr>
                      <a:r>
                        <a:rPr sz="950" spc="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17.33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15"/>
                        </a:lnSpc>
                      </a:pPr>
                      <a:r>
                        <a:rPr sz="95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184.60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58140" marR="3175">
                        <a:lnSpc>
                          <a:spcPts val="1015"/>
                        </a:lnSpc>
                      </a:pPr>
                      <a:r>
                        <a:rPr sz="950" spc="6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2019.0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815" algn="r">
                        <a:lnSpc>
                          <a:spcPts val="1015"/>
                        </a:lnSpc>
                      </a:pPr>
                      <a:r>
                        <a:rPr sz="950" spc="4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0.1622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3670">
                <a:tc gridSpan="2">
                  <a:txBody>
                    <a:bodyPr/>
                    <a:lstStyle/>
                    <a:p>
                      <a:pPr marL="33655">
                        <a:lnSpc>
                          <a:spcPts val="1060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60"/>
                        </a:lnSpc>
                      </a:pPr>
                      <a:r>
                        <a:rPr sz="950" spc="4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23.41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</a:pPr>
                      <a:r>
                        <a:rPr sz="95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158.80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54330" marR="3175">
                        <a:lnSpc>
                          <a:spcPts val="1060"/>
                        </a:lnSpc>
                      </a:pPr>
                      <a:r>
                        <a:rPr sz="95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1956.0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106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0.1238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8750">
                <a:tc gridSpan="2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1016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19"/>
                        </a:lnSpc>
                      </a:pPr>
                      <a:r>
                        <a:rPr sz="950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25.53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19"/>
                        </a:lnSpc>
                      </a:pPr>
                      <a:r>
                        <a:rPr sz="95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152.50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54330" marR="3175">
                        <a:lnSpc>
                          <a:spcPts val="1019"/>
                        </a:lnSpc>
                      </a:pPr>
                      <a:r>
                        <a:rPr sz="95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1709.0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1019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0.1444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8750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ts val="11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26.</a:t>
                      </a:r>
                      <a:r>
                        <a:rPr sz="950" spc="13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50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845" algn="r">
                        <a:lnSpc>
                          <a:spcPts val="11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98.</a:t>
                      </a:r>
                      <a:r>
                        <a:rPr sz="950" spc="1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87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28625" marR="3175">
                        <a:lnSpc>
                          <a:spcPts val="11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567.</a:t>
                      </a:r>
                      <a:r>
                        <a:rPr sz="950" spc="17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990" algn="r">
                        <a:lnSpc>
                          <a:spcPts val="110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0.2098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5890">
                <a:tc gridSpan="2">
                  <a:txBody>
                    <a:bodyPr/>
                    <a:lstStyle/>
                    <a:p>
                      <a:pPr marL="31750">
                        <a:lnSpc>
                          <a:spcPts val="975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560">
                        <a:lnSpc>
                          <a:spcPts val="975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16.</a:t>
                      </a:r>
                      <a:r>
                        <a:rPr sz="950" spc="1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67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975"/>
                        </a:lnSpc>
                      </a:pPr>
                      <a:r>
                        <a:rPr sz="950" spc="7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152.20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54330" marR="3175">
                        <a:lnSpc>
                          <a:spcPts val="975"/>
                        </a:lnSpc>
                      </a:pPr>
                      <a:r>
                        <a:rPr sz="950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1575.</a:t>
                      </a:r>
                      <a:r>
                        <a:rPr sz="950" spc="3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085" algn="r">
                        <a:lnSpc>
                          <a:spcPts val="975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1374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compact</a:t>
                      </a:r>
                      <a:r>
                        <a:rPr sz="950" spc="-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nes</a:t>
                      </a: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</a:t>
                      </a:r>
                      <a:r>
                        <a:rPr sz="950" spc="48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uorst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950" spc="3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concav</a:t>
                      </a:r>
                      <a:r>
                        <a:rPr sz="950" spc="-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3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950" spc="2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950" spc="3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uorst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concave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36195">
                        <a:lnSpc>
                          <a:spcPct val="100000"/>
                        </a:lnSpc>
                      </a:pPr>
                      <a:r>
                        <a:rPr sz="950" spc="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point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6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R="6985" algn="ctr">
                        <a:lnSpc>
                          <a:spcPct val="100000"/>
                        </a:lnSpc>
                      </a:pPr>
                      <a:r>
                        <a:rPr sz="950" spc="6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uorst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950" spc="6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sy</a:t>
                      </a:r>
                      <a:r>
                        <a:rPr sz="950" spc="-8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1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mmet</a:t>
                      </a:r>
                      <a:r>
                        <a:rPr sz="950" spc="-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ry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spc="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uorst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endParaRPr sz="950">
                        <a:latin typeface="Times New Roman"/>
                        <a:cs typeface="Times New Roman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\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1714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03910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4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6656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3095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7119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ts val="106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0.2654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-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4601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33655">
                        <a:lnSpc>
                          <a:spcPts val="1019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03910">
                        <a:lnSpc>
                          <a:spcPts val="1019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1866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2460">
                        <a:lnSpc>
                          <a:spcPts val="10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2416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10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1860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1019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2750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319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19685" marB="0"/>
                </a:tc>
                <a:tc gridSpan="2">
                  <a:txBody>
                    <a:bodyPr/>
                    <a:lstStyle/>
                    <a:p>
                      <a:pPr marL="803910">
                        <a:lnSpc>
                          <a:spcPts val="11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-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4245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3095">
                        <a:lnSpc>
                          <a:spcPts val="11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-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4504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5244" algn="ctr">
                        <a:lnSpc>
                          <a:spcPts val="1100"/>
                        </a:lnSpc>
                      </a:pPr>
                      <a:r>
                        <a:rPr sz="950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0.2430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10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4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3613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38100">
                        <a:lnSpc>
                          <a:spcPts val="1060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03910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5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8663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3095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4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6869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1594" algn="ctr">
                        <a:lnSpc>
                          <a:spcPts val="1060"/>
                        </a:lnSpc>
                      </a:pPr>
                      <a:r>
                        <a:rPr sz="950" spc="4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0.2575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0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4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6638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5890">
                <a:tc>
                  <a:txBody>
                    <a:bodyPr/>
                    <a:lstStyle/>
                    <a:p>
                      <a:pPr marL="31750">
                        <a:lnSpc>
                          <a:spcPts val="975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03910">
                        <a:lnSpc>
                          <a:spcPts val="975"/>
                        </a:lnSpc>
                      </a:pPr>
                      <a:r>
                        <a:rPr sz="950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0.2050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2460">
                        <a:lnSpc>
                          <a:spcPts val="975"/>
                        </a:lnSpc>
                      </a:pPr>
                      <a:r>
                        <a:rPr sz="950" i="1" spc="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-10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40B0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>
                        <a:lnSpc>
                          <a:spcPts val="975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1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1625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115">
                        <a:lnSpc>
                          <a:spcPts val="975"/>
                        </a:lnSpc>
                      </a:pPr>
                      <a:r>
                        <a:rPr sz="950" i="1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i="1" spc="4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2364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690451" y="7475335"/>
          <a:ext cx="2642868" cy="9067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3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97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025" algn="r">
                        <a:lnSpc>
                          <a:spcPts val="919"/>
                        </a:lnSpc>
                      </a:pP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-Eract</a:t>
                      </a:r>
                      <a:r>
                        <a:rPr sz="950" spc="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a1</a:t>
                      </a:r>
                      <a:r>
                        <a:rPr sz="950" spc="49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dimens</a:t>
                      </a:r>
                      <a:r>
                        <a:rPr sz="950" spc="-10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950" spc="16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on</a:t>
                      </a:r>
                      <a:r>
                        <a:rPr sz="950" spc="34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uorst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919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Unnamed:</a:t>
                      </a:r>
                      <a:r>
                        <a:rPr sz="950" spc="38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75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11890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</a:pP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35560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63500" algn="r">
                        <a:lnSpc>
                          <a:spcPts val="1060"/>
                        </a:lnSpc>
                      </a:pPr>
                      <a:r>
                        <a:rPr sz="950" spc="4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0.08902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</a:pP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8750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7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750">
                        <a:latin typeface="Calibri"/>
                        <a:cs typeface="Calibri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1060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0.08758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</a:pP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70"/>
                        </a:spcBef>
                      </a:pPr>
                      <a:r>
                        <a:rPr sz="80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800">
                        <a:latin typeface="Calibri"/>
                        <a:cs typeface="Calibri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57785" algn="r">
                        <a:lnSpc>
                          <a:spcPts val="1060"/>
                        </a:lnSpc>
                      </a:pPr>
                      <a:r>
                        <a:rPr sz="9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</a:t>
                      </a:r>
                      <a:r>
                        <a:rPr sz="950" spc="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950" spc="-2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17300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060"/>
                        </a:lnSpc>
                      </a:pP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5890">
                <a:tc>
                  <a:txBody>
                    <a:bodyPr/>
                    <a:lstStyle/>
                    <a:p>
                      <a:pPr marL="31750">
                        <a:lnSpc>
                          <a:spcPts val="975"/>
                        </a:lnSpc>
                      </a:pPr>
                      <a:r>
                        <a:rPr sz="950" spc="-5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ts val="975"/>
                        </a:lnSpc>
                      </a:pPr>
                      <a:r>
                        <a:rPr sz="950" spc="-10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0.07678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975"/>
                        </a:lnSpc>
                      </a:pPr>
                      <a:r>
                        <a:rPr sz="950" spc="-25" dirty="0">
                          <a:solidFill>
                            <a:srgbClr val="212121"/>
                          </a:solidFill>
                          <a:latin typeface="Calibri"/>
                          <a:cs typeface="Calibri"/>
                        </a:rPr>
                        <a:t>NaN</a:t>
                      </a:r>
                      <a:endParaRPr sz="95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916095" y="4167081"/>
            <a:ext cx="6654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s</a:t>
            </a:r>
            <a:r>
              <a:rPr sz="950" spc="-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55" dirty="0">
                <a:solidFill>
                  <a:srgbClr val="212121"/>
                </a:solidFill>
                <a:latin typeface="Calibri"/>
                <a:cs typeface="Calibri"/>
              </a:rPr>
              <a:t>moot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hness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46774" y="4167081"/>
            <a:ext cx="4116704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03225" algn="l"/>
                <a:tab pos="1595755" algn="l"/>
                <a:tab pos="2658110" algn="l"/>
                <a:tab pos="4053840" algn="l"/>
              </a:tabLst>
            </a:pPr>
            <a:r>
              <a:rPr sz="950" spc="-20" dirty="0">
                <a:solidFill>
                  <a:srgbClr val="212121"/>
                </a:solidFill>
                <a:latin typeface="Calibri"/>
                <a:cs typeface="Calibri"/>
              </a:rPr>
              <a:t>mean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sz="950" spc="-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14" dirty="0">
                <a:solidFill>
                  <a:srgbClr val="212121"/>
                </a:solidFill>
                <a:latin typeface="Calibri"/>
                <a:cs typeface="Calibri"/>
              </a:rPr>
              <a:t>omp</a:t>
            </a:r>
            <a:r>
              <a:rPr sz="950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act</a:t>
            </a:r>
            <a:r>
              <a:rPr sz="950" spc="3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nes</a:t>
            </a: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s</a:t>
            </a:r>
            <a:r>
              <a:rPr sz="950" spc="3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alibri"/>
                <a:cs typeface="Calibri"/>
              </a:rPr>
              <a:t>mean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25" dirty="0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sz="950" spc="-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Calibri"/>
                <a:cs typeface="Calibri"/>
              </a:rPr>
              <a:t>one</a:t>
            </a:r>
            <a:r>
              <a:rPr sz="950" spc="-1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125" dirty="0">
                <a:solidFill>
                  <a:srgbClr val="212121"/>
                </a:solidFill>
                <a:latin typeface="Calibri"/>
                <a:cs typeface="Calibri"/>
              </a:rPr>
              <a:t>avit</a:t>
            </a:r>
            <a:r>
              <a:rPr sz="950" spc="-9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160" dirty="0">
                <a:solidFill>
                  <a:srgbClr val="212121"/>
                </a:solidFill>
                <a:latin typeface="Calibri"/>
                <a:cs typeface="Calibri"/>
              </a:rPr>
              <a:t>y</a:t>
            </a:r>
            <a:r>
              <a:rPr sz="950" spc="2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alibri"/>
                <a:cs typeface="Calibri"/>
              </a:rPr>
              <a:t>mean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45" dirty="0">
                <a:solidFill>
                  <a:srgbClr val="212121"/>
                </a:solidFill>
                <a:latin typeface="Calibri"/>
                <a:cs typeface="Calibri"/>
              </a:rPr>
              <a:t>concave</a:t>
            </a:r>
            <a:r>
              <a:rPr sz="950" spc="3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90" dirty="0">
                <a:solidFill>
                  <a:srgbClr val="212121"/>
                </a:solidFill>
                <a:latin typeface="Calibri"/>
                <a:cs typeface="Calibri"/>
              </a:rPr>
              <a:t>points</a:t>
            </a:r>
            <a:r>
              <a:rPr sz="950" spc="4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alibri"/>
                <a:cs typeface="Calibri"/>
              </a:rPr>
              <a:t>mean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</a:t>
            </a: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\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1362" y="8523117"/>
            <a:ext cx="1403985" cy="11074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[5</a:t>
            </a:r>
            <a:r>
              <a:rPr sz="950" spc="-8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rows</a:t>
            </a:r>
            <a:r>
              <a:rPr sz="950" spc="5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a</a:t>
            </a:r>
            <a:r>
              <a:rPr sz="950" spc="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33</a:t>
            </a:r>
            <a:r>
              <a:rPr sz="950" spc="-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-10" dirty="0">
                <a:solidFill>
                  <a:srgbClr val="212121"/>
                </a:solidFill>
                <a:latin typeface="Consolas"/>
                <a:cs typeface="Consolas"/>
              </a:rPr>
              <a:t>columns]</a:t>
            </a:r>
            <a:endParaRPr sz="9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950">
              <a:latin typeface="Consolas"/>
              <a:cs typeface="Consolas"/>
            </a:endParaRPr>
          </a:p>
          <a:p>
            <a:pPr marL="20955">
              <a:lnSpc>
                <a:spcPct val="100000"/>
              </a:lnSpc>
              <a:spcBef>
                <a:spcPts val="5"/>
              </a:spcBef>
            </a:pPr>
            <a:r>
              <a:rPr sz="950" spc="80" dirty="0">
                <a:solidFill>
                  <a:srgbClr val="212121"/>
                </a:solidFill>
                <a:latin typeface="Calibri"/>
                <a:cs typeface="Calibri"/>
              </a:rPr>
              <a:t>Accuracy:</a:t>
            </a:r>
            <a:r>
              <a:rPr sz="950" spc="160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950" spc="65" dirty="0">
                <a:solidFill>
                  <a:srgbClr val="212121"/>
                </a:solidFill>
                <a:latin typeface="Calibri"/>
                <a:cs typeface="Calibri"/>
              </a:rPr>
              <a:t>0.</a:t>
            </a:r>
            <a:r>
              <a:rPr sz="95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20" dirty="0">
                <a:solidFill>
                  <a:srgbClr val="212121"/>
                </a:solidFill>
                <a:latin typeface="Calibri"/>
                <a:cs typeface="Calibri"/>
              </a:rPr>
              <a:t>9649</a:t>
            </a:r>
            <a:endParaRPr sz="9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95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</a:pPr>
            <a:r>
              <a:rPr sz="950" dirty="0">
                <a:solidFill>
                  <a:srgbClr val="212121"/>
                </a:solidFill>
                <a:latin typeface="Consolas"/>
                <a:cs typeface="Consolas"/>
              </a:rPr>
              <a:t>Confusion</a:t>
            </a:r>
            <a:r>
              <a:rPr sz="950" spc="-3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950" spc="45" dirty="0">
                <a:solidFill>
                  <a:srgbClr val="212121"/>
                </a:solidFill>
                <a:latin typeface="Consolas"/>
                <a:cs typeface="Consolas"/>
              </a:rPr>
              <a:t>Matri:</a:t>
            </a:r>
            <a:endParaRPr sz="950">
              <a:latin typeface="Consolas"/>
              <a:cs typeface="Consolas"/>
            </a:endParaRPr>
          </a:p>
          <a:p>
            <a:pPr marL="91440">
              <a:lnSpc>
                <a:spcPct val="100000"/>
              </a:lnSpc>
              <a:spcBef>
                <a:spcPts val="110"/>
              </a:spcBef>
              <a:tabLst>
                <a:tab pos="479425" algn="l"/>
              </a:tabLst>
            </a:pP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[</a:t>
            </a:r>
            <a:r>
              <a:rPr sz="95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212121"/>
                </a:solidFill>
                <a:latin typeface="Calibri"/>
                <a:cs typeface="Calibri"/>
              </a:rPr>
              <a:t>[71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	1</a:t>
            </a:r>
            <a:r>
              <a:rPr sz="950" spc="-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§</a:t>
            </a:r>
            <a:endParaRPr sz="950">
              <a:latin typeface="Calibri"/>
              <a:cs typeface="Calibri"/>
            </a:endParaRPr>
          </a:p>
          <a:p>
            <a:pPr marL="91440">
              <a:lnSpc>
                <a:spcPct val="100000"/>
              </a:lnSpc>
              <a:spcBef>
                <a:spcPts val="30"/>
              </a:spcBef>
            </a:pP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[</a:t>
            </a:r>
            <a:r>
              <a:rPr sz="950" spc="150" dirty="0">
                <a:solidFill>
                  <a:srgbClr val="212121"/>
                </a:solidFill>
                <a:latin typeface="Calibri"/>
                <a:cs typeface="Calibri"/>
              </a:rPr>
              <a:t>  </a:t>
            </a:r>
            <a:r>
              <a:rPr sz="950" dirty="0">
                <a:solidFill>
                  <a:srgbClr val="212121"/>
                </a:solidFill>
                <a:latin typeface="Calibri"/>
                <a:cs typeface="Calibri"/>
              </a:rPr>
              <a:t>3</a:t>
            </a:r>
            <a:r>
              <a:rPr sz="950" spc="3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30" dirty="0">
                <a:solidFill>
                  <a:srgbClr val="212121"/>
                </a:solidFill>
                <a:latin typeface="Calibri"/>
                <a:cs typeface="Calibri"/>
              </a:rPr>
              <a:t>39</a:t>
            </a:r>
            <a:r>
              <a:rPr sz="95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195" dirty="0">
                <a:solidFill>
                  <a:srgbClr val="212121"/>
                </a:solidFill>
                <a:latin typeface="Calibri"/>
                <a:cs typeface="Calibri"/>
              </a:rPr>
              <a:t>§</a:t>
            </a:r>
            <a:r>
              <a:rPr sz="95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950" spc="-50" dirty="0">
                <a:solidFill>
                  <a:srgbClr val="212121"/>
                </a:solidFill>
                <a:latin typeface="Calibri"/>
                <a:cs typeface="Calibri"/>
              </a:rPr>
              <a:t>§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9419031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7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207" y="914399"/>
            <a:ext cx="5238390" cy="8470599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12088" y="3239379"/>
            <a:ext cx="4839335" cy="4549775"/>
            <a:chOff x="1012088" y="3239379"/>
            <a:chExt cx="4839335" cy="45497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2088" y="3239379"/>
              <a:ext cx="4839050" cy="454961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68822" y="7524302"/>
              <a:ext cx="287020" cy="0"/>
            </a:xfrm>
            <a:custGeom>
              <a:avLst/>
              <a:gdLst/>
              <a:ahLst/>
              <a:cxnLst/>
              <a:rect l="l" t="t" r="r" b="b"/>
              <a:pathLst>
                <a:path w="287020">
                  <a:moveTo>
                    <a:pt x="0" y="0"/>
                  </a:moveTo>
                  <a:lnTo>
                    <a:pt x="286758" y="0"/>
                  </a:lnTo>
                </a:path>
              </a:pathLst>
            </a:custGeom>
            <a:ln w="22467">
              <a:solidFill>
                <a:srgbClr val="0C0C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766831" y="1418184"/>
            <a:ext cx="4125595" cy="1777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dirty="0">
                <a:solidFill>
                  <a:srgbClr val="212121"/>
                </a:solidFill>
                <a:latin typeface="Consolas"/>
                <a:cs typeface="Consolas"/>
              </a:rPr>
              <a:t>[5</a:t>
            </a:r>
            <a:r>
              <a:rPr sz="1000" spc="-6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212121"/>
                </a:solidFill>
                <a:latin typeface="Consolas"/>
                <a:cs typeface="Consolas"/>
              </a:rPr>
              <a:t>rows</a:t>
            </a:r>
            <a:r>
              <a:rPr sz="1000" spc="8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212121"/>
                </a:solidFill>
                <a:latin typeface="Consolas"/>
                <a:cs typeface="Consolas"/>
              </a:rPr>
              <a:t>a</a:t>
            </a:r>
            <a:r>
              <a:rPr sz="1000" spc="4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212121"/>
                </a:solidFill>
                <a:latin typeface="Consolas"/>
                <a:cs typeface="Consolas"/>
              </a:rPr>
              <a:t>33</a:t>
            </a:r>
            <a:r>
              <a:rPr sz="1000" spc="-3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212121"/>
                </a:solidFill>
                <a:latin typeface="Consolas"/>
                <a:cs typeface="Consolas"/>
              </a:rPr>
              <a:t>columns]</a:t>
            </a:r>
            <a:endParaRPr sz="10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000">
              <a:latin typeface="Consolas"/>
              <a:cs typeface="Consolas"/>
            </a:endParaRPr>
          </a:p>
          <a:p>
            <a:pPr marL="21590">
              <a:lnSpc>
                <a:spcPct val="100000"/>
              </a:lnSpc>
            </a:pPr>
            <a:r>
              <a:rPr sz="1000" spc="-155" dirty="0">
                <a:solidFill>
                  <a:srgbClr val="212121"/>
                </a:solidFill>
                <a:latin typeface="Calibri"/>
                <a:cs typeface="Calibri"/>
              </a:rPr>
              <a:t>A</a:t>
            </a:r>
            <a:r>
              <a:rPr sz="1000" spc="-10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120" dirty="0">
                <a:solidFill>
                  <a:srgbClr val="212121"/>
                </a:solidFill>
                <a:latin typeface="Calibri"/>
                <a:cs typeface="Calibri"/>
              </a:rPr>
              <a:t>c</a:t>
            </a:r>
            <a:r>
              <a:rPr sz="100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45" dirty="0">
                <a:solidFill>
                  <a:srgbClr val="212121"/>
                </a:solidFill>
                <a:latin typeface="Calibri"/>
                <a:cs typeface="Calibri"/>
              </a:rPr>
              <a:t>cur</a:t>
            </a:r>
            <a:r>
              <a:rPr sz="1000" spc="34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95" dirty="0">
                <a:solidFill>
                  <a:srgbClr val="212121"/>
                </a:solidFill>
                <a:latin typeface="Calibri"/>
                <a:cs typeface="Calibri"/>
              </a:rPr>
              <a:t>acy:</a:t>
            </a:r>
            <a:r>
              <a:rPr sz="1000" spc="42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85" dirty="0">
                <a:solidFill>
                  <a:srgbClr val="212121"/>
                </a:solidFill>
                <a:latin typeface="Calibri"/>
                <a:cs typeface="Calibri"/>
              </a:rPr>
              <a:t>0.</a:t>
            </a:r>
            <a:r>
              <a:rPr sz="1000" spc="-10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Calibri"/>
                <a:cs typeface="Calibri"/>
              </a:rPr>
              <a:t>9649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0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</a:pPr>
            <a:r>
              <a:rPr sz="1000" dirty="0">
                <a:solidFill>
                  <a:srgbClr val="212121"/>
                </a:solidFill>
                <a:latin typeface="Consolas"/>
                <a:cs typeface="Consolas"/>
              </a:rPr>
              <a:t>Confusion</a:t>
            </a:r>
            <a:r>
              <a:rPr sz="1000" spc="25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000" spc="60" dirty="0">
                <a:solidFill>
                  <a:srgbClr val="212121"/>
                </a:solidFill>
                <a:latin typeface="Consolas"/>
                <a:cs typeface="Consolas"/>
              </a:rPr>
              <a:t>Matri:</a:t>
            </a:r>
            <a:endParaRPr sz="1000">
              <a:latin typeface="Consolas"/>
              <a:cs typeface="Consolas"/>
            </a:endParaRPr>
          </a:p>
          <a:p>
            <a:pPr marL="95250">
              <a:lnSpc>
                <a:spcPts val="1250"/>
              </a:lnSpc>
              <a:spcBef>
                <a:spcPts val="75"/>
              </a:spcBef>
              <a:tabLst>
                <a:tab pos="507365" algn="l"/>
              </a:tabLst>
            </a:pPr>
            <a:r>
              <a:rPr sz="1050" dirty="0">
                <a:solidFill>
                  <a:srgbClr val="212121"/>
                </a:solidFill>
                <a:latin typeface="Calibri"/>
                <a:cs typeface="Calibri"/>
              </a:rPr>
              <a:t>[</a:t>
            </a:r>
            <a:r>
              <a:rPr sz="1050" spc="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spc="30" dirty="0">
                <a:solidFill>
                  <a:srgbClr val="212121"/>
                </a:solidFill>
                <a:latin typeface="Calibri"/>
                <a:cs typeface="Calibri"/>
              </a:rPr>
              <a:t>[71</a:t>
            </a:r>
            <a:r>
              <a:rPr sz="1050" dirty="0">
                <a:solidFill>
                  <a:srgbClr val="212121"/>
                </a:solidFill>
                <a:latin typeface="Calibri"/>
                <a:cs typeface="Calibri"/>
              </a:rPr>
              <a:t>	1</a:t>
            </a:r>
            <a:r>
              <a:rPr sz="1050" spc="-7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212121"/>
                </a:solidFill>
                <a:latin typeface="Calibri"/>
                <a:cs typeface="Calibri"/>
              </a:rPr>
              <a:t>]</a:t>
            </a:r>
            <a:endParaRPr sz="1050">
              <a:latin typeface="Calibri"/>
              <a:cs typeface="Calibri"/>
            </a:endParaRPr>
          </a:p>
          <a:p>
            <a:pPr marL="95250">
              <a:lnSpc>
                <a:spcPts val="1250"/>
              </a:lnSpc>
            </a:pPr>
            <a:r>
              <a:rPr sz="1050" dirty="0">
                <a:solidFill>
                  <a:srgbClr val="212121"/>
                </a:solidFill>
                <a:latin typeface="Calibri"/>
                <a:cs typeface="Calibri"/>
              </a:rPr>
              <a:t>[</a:t>
            </a:r>
            <a:r>
              <a:rPr sz="1050" spc="459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12121"/>
                </a:solidFill>
                <a:latin typeface="Calibri"/>
                <a:cs typeface="Calibri"/>
              </a:rPr>
              <a:t>3</a:t>
            </a:r>
            <a:r>
              <a:rPr sz="1050" spc="3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spc="-55" dirty="0">
                <a:solidFill>
                  <a:srgbClr val="212121"/>
                </a:solidFill>
                <a:latin typeface="Calibri"/>
                <a:cs typeface="Calibri"/>
              </a:rPr>
              <a:t>39</a:t>
            </a:r>
            <a:r>
              <a:rPr sz="1050" spc="-6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12121"/>
                </a:solidFill>
                <a:latin typeface="Calibri"/>
                <a:cs typeface="Calibri"/>
              </a:rPr>
              <a:t>]</a:t>
            </a:r>
            <a:r>
              <a:rPr sz="105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050" spc="-50" dirty="0">
                <a:solidFill>
                  <a:srgbClr val="212121"/>
                </a:solidFill>
                <a:latin typeface="Calibri"/>
                <a:cs typeface="Calibri"/>
              </a:rPr>
              <a:t>]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5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tabLst>
                <a:tab pos="1070610" algn="l"/>
              </a:tabLst>
            </a:pPr>
            <a:r>
              <a:rPr sz="1000" dirty="0">
                <a:solidFill>
                  <a:srgbClr val="212121"/>
                </a:solidFill>
                <a:latin typeface="Cambria"/>
                <a:cs typeface="Cambria"/>
              </a:rPr>
              <a:t>ROC</a:t>
            </a:r>
            <a:r>
              <a:rPr sz="1000" spc="2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00" spc="-40" dirty="0">
                <a:solidFill>
                  <a:srgbClr val="212121"/>
                </a:solidFill>
                <a:latin typeface="Cambria"/>
                <a:cs typeface="Cambria"/>
              </a:rPr>
              <a:t>AUC</a:t>
            </a:r>
            <a:r>
              <a:rPr sz="1000" spc="29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00" dirty="0">
                <a:solidFill>
                  <a:srgbClr val="212121"/>
                </a:solidFill>
                <a:latin typeface="Cambria"/>
                <a:cs typeface="Cambria"/>
              </a:rPr>
              <a:t>Sc</a:t>
            </a:r>
            <a:r>
              <a:rPr sz="1000" spc="-1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solidFill>
                  <a:srgbClr val="212121"/>
                </a:solidFill>
                <a:latin typeface="Cambria"/>
                <a:cs typeface="Cambria"/>
              </a:rPr>
              <a:t>ore:</a:t>
            </a:r>
            <a:r>
              <a:rPr sz="1000" dirty="0">
                <a:solidFill>
                  <a:srgbClr val="212121"/>
                </a:solidFill>
                <a:latin typeface="Cambria"/>
                <a:cs typeface="Cambria"/>
              </a:rPr>
              <a:t>	8.</a:t>
            </a:r>
            <a:r>
              <a:rPr sz="1000" spc="1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solidFill>
                  <a:srgbClr val="212121"/>
                </a:solidFill>
                <a:latin typeface="Cambria"/>
                <a:cs typeface="Cambria"/>
              </a:rPr>
              <a:t>996</a:t>
            </a:r>
            <a:endParaRPr sz="1000">
              <a:latin typeface="Cambria"/>
              <a:cs typeface="Cambria"/>
            </a:endParaRPr>
          </a:p>
          <a:p>
            <a:pPr marL="1507490">
              <a:lnSpc>
                <a:spcPct val="100000"/>
              </a:lnSpc>
              <a:spcBef>
                <a:spcPts val="540"/>
              </a:spcBef>
            </a:pPr>
            <a:r>
              <a:rPr sz="1250" dirty="0">
                <a:solidFill>
                  <a:srgbClr val="212121"/>
                </a:solidFill>
                <a:latin typeface="Arial MT"/>
                <a:cs typeface="Arial MT"/>
              </a:rPr>
              <a:t>ROC</a:t>
            </a:r>
            <a:r>
              <a:rPr sz="1250" spc="26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0F0F0F"/>
                </a:solidFill>
                <a:latin typeface="Arial MT"/>
                <a:cs typeface="Arial MT"/>
              </a:rPr>
              <a:t>Curve</a:t>
            </a:r>
            <a:r>
              <a:rPr sz="1250" spc="30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3B3B3B"/>
                </a:solidFill>
                <a:latin typeface="Arial MT"/>
                <a:cs typeface="Arial MT"/>
              </a:rPr>
              <a:t>-</a:t>
            </a:r>
            <a:r>
              <a:rPr sz="1250" spc="19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A1A1A"/>
                </a:solidFill>
                <a:latin typeface="Arial MT"/>
                <a:cs typeface="Arial MT"/>
              </a:rPr>
              <a:t>Log</a:t>
            </a:r>
            <a:r>
              <a:rPr sz="1250" spc="-215" dirty="0">
                <a:solidFill>
                  <a:srgbClr val="1A1A1A"/>
                </a:solidFill>
                <a:latin typeface="Arial MT"/>
                <a:cs typeface="Arial MT"/>
              </a:rPr>
              <a:t> </a:t>
            </a:r>
            <a:r>
              <a:rPr sz="1250" spc="-80" dirty="0">
                <a:latin typeface="Arial MT"/>
                <a:cs typeface="Arial MT"/>
              </a:rPr>
              <a:t>i</a:t>
            </a:r>
            <a:r>
              <a:rPr sz="1250" spc="-145" dirty="0"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0F0F0F"/>
                </a:solidFill>
                <a:latin typeface="Arial MT"/>
                <a:cs typeface="Arial MT"/>
              </a:rPr>
              <a:t>stic</a:t>
            </a:r>
            <a:r>
              <a:rPr sz="1250" spc="335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latin typeface="Arial MT"/>
                <a:cs typeface="Arial MT"/>
              </a:rPr>
              <a:t>Reg</a:t>
            </a:r>
            <a:r>
              <a:rPr sz="1250" spc="-195" dirty="0"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31313"/>
                </a:solidFill>
                <a:latin typeface="Arial MT"/>
                <a:cs typeface="Arial MT"/>
              </a:rPr>
              <a:t>ress</a:t>
            </a:r>
            <a:r>
              <a:rPr sz="1250" spc="-160" dirty="0">
                <a:solidFill>
                  <a:srgbClr val="131313"/>
                </a:solidFill>
                <a:latin typeface="Arial MT"/>
                <a:cs typeface="Arial MT"/>
              </a:rPr>
              <a:t> </a:t>
            </a:r>
            <a:r>
              <a:rPr sz="1250" spc="-80" dirty="0">
                <a:solidFill>
                  <a:srgbClr val="181818"/>
                </a:solidFill>
                <a:latin typeface="Arial MT"/>
                <a:cs typeface="Arial MT"/>
              </a:rPr>
              <a:t>i</a:t>
            </a:r>
            <a:r>
              <a:rPr sz="1250" spc="-15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1250" spc="25" dirty="0">
                <a:solidFill>
                  <a:srgbClr val="0C0C0C"/>
                </a:solidFill>
                <a:latin typeface="Arial MT"/>
                <a:cs typeface="Arial MT"/>
              </a:rPr>
              <a:t>on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3829" y="5775306"/>
            <a:ext cx="22161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5" dirty="0">
                <a:solidFill>
                  <a:srgbClr val="5B5B5B"/>
                </a:solidFill>
                <a:latin typeface="Calibri"/>
                <a:cs typeface="Calibri"/>
              </a:rPr>
              <a:t>0.4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92213" y="7754645"/>
            <a:ext cx="218440" cy="2222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250" spc="-25" dirty="0">
                <a:solidFill>
                  <a:srgbClr val="424242"/>
                </a:solidFill>
                <a:latin typeface="Courier New"/>
                <a:cs typeface="Courier New"/>
              </a:rPr>
              <a:t>00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7930" y="7778048"/>
            <a:ext cx="213995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161616"/>
                </a:solidFill>
                <a:latin typeface="Calibri"/>
                <a:cs typeface="Calibri"/>
              </a:rPr>
              <a:t>0.2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32918" y="7412956"/>
            <a:ext cx="142494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dirty="0">
                <a:solidFill>
                  <a:srgbClr val="0C0C0C"/>
                </a:solidFill>
                <a:latin typeface="Calibri"/>
                <a:cs typeface="Calibri"/>
              </a:rPr>
              <a:t>ROC</a:t>
            </a:r>
            <a:r>
              <a:rPr sz="1250" spc="2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curve</a:t>
            </a:r>
            <a:r>
              <a:rPr sz="1250" spc="204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(are</a:t>
            </a:r>
            <a:r>
              <a:rPr sz="1250" dirty="0">
                <a:solidFill>
                  <a:srgbClr val="242424"/>
                </a:solidFill>
                <a:latin typeface="Calibri"/>
                <a:cs typeface="Calibri"/>
              </a:rPr>
              <a:t>a</a:t>
            </a:r>
            <a:r>
              <a:rPr sz="1250" spc="17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250" spc="-480" dirty="0">
                <a:solidFill>
                  <a:srgbClr val="464646"/>
                </a:solidFill>
                <a:latin typeface="Calibri"/>
                <a:cs typeface="Calibri"/>
              </a:rPr>
              <a:t>—</a:t>
            </a:r>
            <a:r>
              <a:rPr sz="1250" spc="37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latin typeface="Calibri"/>
                <a:cs typeface="Calibri"/>
              </a:rPr>
              <a:t>1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32591" y="7772197"/>
            <a:ext cx="1273175" cy="405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100"/>
              </a:spcBef>
              <a:tabLst>
                <a:tab pos="961390" algn="l"/>
              </a:tabLst>
            </a:pPr>
            <a:r>
              <a:rPr sz="1150" spc="-25" dirty="0">
                <a:solidFill>
                  <a:srgbClr val="181818"/>
                </a:solidFill>
                <a:latin typeface="Consolas"/>
                <a:cs typeface="Consolas"/>
              </a:rPr>
              <a:t>0.4</a:t>
            </a:r>
            <a:r>
              <a:rPr sz="1150" dirty="0">
                <a:solidFill>
                  <a:srgbClr val="181818"/>
                </a:solidFill>
                <a:latin typeface="Consolas"/>
                <a:cs typeface="Consolas"/>
              </a:rPr>
              <a:t>	</a:t>
            </a:r>
            <a:r>
              <a:rPr sz="1150" spc="-25" dirty="0">
                <a:solidFill>
                  <a:srgbClr val="2A2A2A"/>
                </a:solidFill>
                <a:latin typeface="Consolas"/>
                <a:cs typeface="Consolas"/>
              </a:rPr>
              <a:t>0.6</a:t>
            </a:r>
            <a:endParaRPr sz="11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300" spc="-204" dirty="0">
                <a:solidFill>
                  <a:srgbClr val="0F0F0F"/>
                </a:solidFill>
                <a:latin typeface="Consolas"/>
                <a:cs typeface="Consolas"/>
              </a:rPr>
              <a:t>false</a:t>
            </a:r>
            <a:r>
              <a:rPr sz="1300" spc="-270" dirty="0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sz="1300" spc="-160" dirty="0">
                <a:solidFill>
                  <a:srgbClr val="0F0F0F"/>
                </a:solidFill>
                <a:latin typeface="Consolas"/>
                <a:cs typeface="Consolas"/>
              </a:rPr>
              <a:t>PosCive</a:t>
            </a:r>
            <a:r>
              <a:rPr sz="1300" spc="-145" dirty="0">
                <a:solidFill>
                  <a:srgbClr val="0F0F0F"/>
                </a:solidFill>
                <a:latin typeface="Consolas"/>
                <a:cs typeface="Consolas"/>
              </a:rPr>
              <a:t> </a:t>
            </a:r>
            <a:r>
              <a:rPr sz="1300" spc="-105" dirty="0">
                <a:solidFill>
                  <a:srgbClr val="1A1A1A"/>
                </a:solidFill>
                <a:latin typeface="Consolas"/>
                <a:cs typeface="Consolas"/>
              </a:rPr>
              <a:t>hate</a:t>
            </a:r>
            <a:endParaRPr sz="13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03243" y="7760496"/>
            <a:ext cx="22479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20" dirty="0">
                <a:solidFill>
                  <a:srgbClr val="424242"/>
                </a:solidFill>
                <a:latin typeface="Courier New"/>
                <a:cs typeface="Courier New"/>
              </a:rPr>
              <a:t>0.8</a:t>
            </a:r>
            <a:endParaRPr sz="125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525641" y="7760496"/>
            <a:ext cx="22479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20" dirty="0">
                <a:solidFill>
                  <a:srgbClr val="3D3D3D"/>
                </a:solidFill>
                <a:latin typeface="Courier New"/>
                <a:cs typeface="Courier New"/>
              </a:rPr>
              <a:t>1.0</a:t>
            </a:r>
            <a:endParaRPr sz="12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013459"/>
          <a:ext cx="6480810" cy="8630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8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Bayesian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analyse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2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200" spc="2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2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Matrix,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519430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Bayesian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analyse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Accuracy,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Matrix,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09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66040">
                        <a:lnSpc>
                          <a:spcPct val="96400"/>
                        </a:lnSpc>
                        <a:spcBef>
                          <a:spcPts val="2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Bayes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probabilistic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classifier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Bayes’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Theorem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strong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assumption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of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independence.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especially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effective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text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works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surprisingly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real-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world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problems.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7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Bayes'</a:t>
                      </a:r>
                      <a:r>
                        <a:rPr sz="12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Theorem: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P(C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X)=P(X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C)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⋅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P(C)/P(X)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40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Where: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41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P(C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X):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Posterior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probability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CCC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predictor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XXX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40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P(X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C):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Likelihood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P(C):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Prior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probability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class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0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P(X):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Evidence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(constant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classes)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267970">
                        <a:lnSpc>
                          <a:spcPts val="138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Assumption: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2834005">
                        <a:lnSpc>
                          <a:spcPts val="1420"/>
                        </a:lnSpc>
                        <a:spcBef>
                          <a:spcPts val="4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Assumes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are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independent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given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class: P(X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C)=P(x1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C)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⋅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P(x2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C)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⋅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…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⋅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P(xn</a:t>
                      </a:r>
                      <a:r>
                        <a:rPr sz="1200" spc="-10" dirty="0">
                          <a:latin typeface="Cambria Math"/>
                          <a:cs typeface="Cambria Math"/>
                        </a:rPr>
                        <a:t>∣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415"/>
                        </a:lnSpc>
                        <a:spcBef>
                          <a:spcPts val="127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Evaluation</a:t>
                      </a:r>
                      <a:r>
                        <a:rPr sz="12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Metrics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Explained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5"/>
                        </a:lnSpc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806450" marR="2788285" indent="-346075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Measures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overall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correctness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model: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Accuracy=Correct</a:t>
                      </a:r>
                      <a:r>
                        <a:rPr sz="12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Predictions/Total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25"/>
                        </a:lnSpc>
                        <a:buAutoNum type="arabicPeriod" startAt="2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200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Matrix: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showing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vs.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assess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classification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0"/>
                        </a:lnSpc>
                        <a:buAutoNum type="arabicPeriod" startAt="3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Precision: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52500" marR="2296160" indent="-492759">
                        <a:lnSpc>
                          <a:spcPts val="138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predicted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instances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correct: Precision=TP/TP+FP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25"/>
                        </a:lnSpc>
                        <a:buAutoNum type="arabicPeriod" startAt="4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(Sensitivity):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5669" marR="1786889" indent="-455930">
                        <a:lnSpc>
                          <a:spcPts val="1380"/>
                        </a:lnSpc>
                        <a:spcBef>
                          <a:spcPts val="65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instances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were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correctly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predicted: Recall=TP/TP+FN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25"/>
                        </a:lnSpc>
                        <a:buAutoNum type="arabicPeriod" startAt="5"/>
                        <a:tabLst>
                          <a:tab pos="459740" algn="l"/>
                        </a:tabLst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F1-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Score: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41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Harmonic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22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0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4353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loaded (Iris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1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sklearn), Train-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test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1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done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trained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GaussianNB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Predictions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made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5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calculated,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Confusion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911351"/>
          <a:ext cx="6482079" cy="40297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3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19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32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8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matrix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plotted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5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8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374015">
                        <a:lnSpc>
                          <a:spcPts val="139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computed, Output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interpreted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985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9925">
                <a:tc gridSpan="5">
                  <a:txBody>
                    <a:bodyPr/>
                    <a:lstStyle/>
                    <a:p>
                      <a:pPr marL="2540">
                        <a:lnSpc>
                          <a:spcPts val="135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(Using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Pandas/Scikit-learn)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385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Import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libraries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385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385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Preprocess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(if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needed)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385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Split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training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testing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sets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380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Train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model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385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Make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predictions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26415" indent="-227965">
                        <a:lnSpc>
                          <a:spcPts val="1415"/>
                        </a:lnSpc>
                        <a:buAutoNum type="arabicParenR"/>
                        <a:tabLst>
                          <a:tab pos="52641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ct val="100000"/>
                        </a:lnSpc>
                        <a:spcBef>
                          <a:spcPts val="25"/>
                        </a:spcBef>
                        <a:buFont typeface="Symbol"/>
                        <a:buChar char=""/>
                        <a:tabLst>
                          <a:tab pos="917575" algn="l"/>
                        </a:tabLst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ct val="100000"/>
                        </a:lnSpc>
                        <a:spcBef>
                          <a:spcPts val="40"/>
                        </a:spcBef>
                        <a:buFont typeface="Symbol"/>
                        <a:buChar char=""/>
                        <a:tabLst>
                          <a:tab pos="9175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Confusion</a:t>
                      </a:r>
                      <a:r>
                        <a:rPr sz="11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Matrix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917575" lvl="1" indent="-228600">
                        <a:lnSpc>
                          <a:spcPts val="1265"/>
                        </a:lnSpc>
                        <a:spcBef>
                          <a:spcPts val="135"/>
                        </a:spcBef>
                        <a:buSzPct val="109090"/>
                        <a:buFont typeface="Symbol"/>
                        <a:buChar char=""/>
                        <a:tabLst>
                          <a:tab pos="917575" algn="l"/>
                        </a:tabLst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Recall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0970">
                <a:tc gridSpan="5">
                  <a:txBody>
                    <a:bodyPr/>
                    <a:lstStyle/>
                    <a:p>
                      <a:pPr marL="69850">
                        <a:lnSpc>
                          <a:spcPts val="135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Conclusion: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ct val="96300"/>
                        </a:lnSpc>
                        <a:spcBef>
                          <a:spcPts val="2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experiment,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implemented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Classifier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Gaussian</a:t>
                      </a:r>
                      <a:r>
                        <a:rPr sz="1200" spc="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Naive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Bayes.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model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achieved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high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accuracy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(around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97–98%),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excellent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precision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recall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across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all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three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flower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(Setosa,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Versicolor,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Virginica).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  <a:spcBef>
                          <a:spcPts val="4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shows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Naive</a:t>
                      </a:r>
                      <a:r>
                        <a:rPr sz="1200" spc="3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Bayes,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despite</a:t>
                      </a:r>
                      <a:r>
                        <a:rPr sz="12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its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assumptions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3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3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independence,</a:t>
                      </a:r>
                      <a:r>
                        <a:rPr sz="1200" spc="3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surprisingly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structured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with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clearly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distinguishable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classes.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efficient,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interpretable,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great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baseline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many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classification problems.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1185418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62072"/>
            <a:ext cx="7559040" cy="523557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0190" y="5410743"/>
            <a:ext cx="134025" cy="9367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0190" y="5598091"/>
            <a:ext cx="134025" cy="9367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0190" y="5785439"/>
            <a:ext cx="134025" cy="9367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763" y="5584709"/>
            <a:ext cx="1192827" cy="3211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00190" y="6548212"/>
            <a:ext cx="134025" cy="93673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804608" y="1173319"/>
          <a:ext cx="6175371" cy="11258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3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52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5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71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62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115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6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415"/>
                        </a:lnSpc>
                      </a:pPr>
                      <a:r>
                        <a:rPr sz="12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Id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83820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Sepal</a:t>
                      </a:r>
                      <a:r>
                        <a:rPr sz="12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L</a:t>
                      </a:r>
                      <a:r>
                        <a:rPr sz="1200" spc="-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200" spc="-6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200" spc="-25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sz="12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r>
                        <a:rPr sz="12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</a:t>
                      </a:r>
                      <a:r>
                        <a:rPr sz="1200" spc="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415"/>
                        </a:lnSpc>
                      </a:pPr>
                      <a:r>
                        <a:rPr sz="1200" spc="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Sepal</a:t>
                      </a:r>
                      <a:r>
                        <a:rPr sz="1200" spc="-10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200" spc="-81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sz="1200" spc="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200" spc="-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öt</a:t>
                      </a:r>
                      <a:r>
                        <a:rPr sz="12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</a:t>
                      </a:r>
                      <a:r>
                        <a:rPr sz="12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35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€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185">
                        <a:lnSpc>
                          <a:spcPts val="1415"/>
                        </a:lnSpc>
                      </a:pPr>
                      <a:r>
                        <a:rPr sz="12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Pet</a:t>
                      </a:r>
                      <a:r>
                        <a:rPr sz="12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ad</a:t>
                      </a:r>
                      <a:r>
                        <a:rPr sz="12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1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L</a:t>
                      </a:r>
                      <a:r>
                        <a:rPr sz="1200" spc="-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200" spc="-6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200" spc="-25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sz="12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r>
                        <a:rPr sz="12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</a:t>
                      </a:r>
                      <a:r>
                        <a:rPr sz="1200" spc="-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0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</a:t>
                      </a:r>
                      <a:r>
                        <a:rPr sz="12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3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€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1415"/>
                        </a:lnSpc>
                      </a:pPr>
                      <a:r>
                        <a:rPr sz="12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sz="1200" spc="1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sz="12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sz="1200" spc="-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200" spc="-7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sz="12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2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öt</a:t>
                      </a:r>
                      <a:r>
                        <a:rPr sz="1200" spc="-1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he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05130">
                        <a:lnSpc>
                          <a:spcPts val="1415"/>
                        </a:lnSpc>
                      </a:pPr>
                      <a:r>
                        <a:rPr sz="12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Spec</a:t>
                      </a:r>
                      <a:r>
                        <a:rPr sz="1200" spc="-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200" spc="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200" spc="-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es</a:t>
                      </a:r>
                      <a:endParaRPr sz="12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31750">
                        <a:lnSpc>
                          <a:spcPts val="112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1120"/>
                        </a:lnSpc>
                        <a:spcBef>
                          <a:spcPts val="125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 gridSpan="2">
                  <a:txBody>
                    <a:bodyPr/>
                    <a:lstStyle/>
                    <a:p>
                      <a:pPr marR="80645" algn="r">
                        <a:lnSpc>
                          <a:spcPts val="112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5</a:t>
                      </a: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112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112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000" spc="2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ts val="1120"/>
                        </a:lnSpc>
                        <a:spcBef>
                          <a:spcPts val="125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0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 gridSpan="2">
                  <a:txBody>
                    <a:bodyPr/>
                    <a:lstStyle/>
                    <a:p>
                      <a:pPr marL="84455">
                        <a:lnSpc>
                          <a:spcPts val="1120"/>
                        </a:lnSpc>
                        <a:spcBef>
                          <a:spcPts val="125"/>
                        </a:spcBef>
                        <a:tabLst>
                          <a:tab pos="727075" algn="l"/>
                        </a:tabLst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000" spc="1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1s</a:t>
                      </a:r>
                      <a:r>
                        <a:rPr sz="10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000" spc="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	0s</a:t>
                      </a:r>
                      <a:r>
                        <a:rPr sz="10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587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6375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3873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476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9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-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000" spc="2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0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000" spc="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1s</a:t>
                      </a:r>
                      <a:r>
                        <a:rPr sz="10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000" spc="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0s</a:t>
                      </a:r>
                      <a:r>
                        <a:rPr sz="10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3175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2705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7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000" spc="3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0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000" spc="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1s</a:t>
                      </a:r>
                      <a:r>
                        <a:rPr sz="10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000" spc="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0s</a:t>
                      </a:r>
                      <a:r>
                        <a:rPr sz="10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0800"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000" spc="30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0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000" spc="1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1s</a:t>
                      </a:r>
                      <a:r>
                        <a:rPr sz="10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000" spc="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0s</a:t>
                      </a:r>
                      <a:r>
                        <a:rPr sz="10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7640">
                <a:tc>
                  <a:txBody>
                    <a:bodyPr/>
                    <a:lstStyle/>
                    <a:p>
                      <a:pPr marL="34925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5080" algn="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5</a:t>
                      </a:r>
                      <a:r>
                        <a:rPr sz="10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8105" algn="ct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r>
                        <a:rPr sz="10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000" spc="2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sz="10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sz="1000" spc="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1s</a:t>
                      </a:r>
                      <a:r>
                        <a:rPr sz="10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000" spc="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120"/>
                        </a:lnSpc>
                        <a:spcBef>
                          <a:spcPts val="100"/>
                        </a:spcBef>
                      </a:pPr>
                      <a:r>
                        <a:rPr sz="10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0s</a:t>
                      </a:r>
                      <a:r>
                        <a:rPr sz="10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000">
                        <a:latin typeface="Cambria"/>
                        <a:cs typeface="Cambria"/>
                      </a:endParaRPr>
                    </a:p>
                  </a:txBody>
                  <a:tcPr marL="0" marR="0" marT="1270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819458" y="2290265"/>
            <a:ext cx="6269990" cy="26790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135"/>
              </a:spcBef>
              <a:tabLst>
                <a:tab pos="920750" algn="l"/>
                <a:tab pos="1091565" algn="l"/>
                <a:tab pos="2458085" algn="l"/>
                <a:tab pos="3745229" algn="l"/>
                <a:tab pos="5111750" algn="l"/>
              </a:tabLst>
            </a:pP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In</a:t>
            </a:r>
            <a:r>
              <a:rPr sz="1200" spc="-1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da(</a:t>
            </a:r>
            <a:r>
              <a:rPr sz="1200" spc="120" dirty="0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[</a:t>
            </a:r>
            <a:r>
              <a:rPr sz="1200" spc="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200" spc="10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Cambria"/>
                <a:cs typeface="Cambria"/>
              </a:rPr>
              <a:t>Id’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2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200" spc="9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Sepal</a:t>
            </a:r>
            <a:r>
              <a:rPr sz="1200" spc="-114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170" dirty="0">
                <a:solidFill>
                  <a:srgbClr val="212121"/>
                </a:solidFill>
                <a:latin typeface="Cambria"/>
                <a:cs typeface="Cambria"/>
              </a:rPr>
              <a:t>L</a:t>
            </a:r>
            <a:r>
              <a:rPr sz="1200" spc="-10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Cambria"/>
                <a:cs typeface="Cambria"/>
              </a:rPr>
              <a:t>en</a:t>
            </a:r>
            <a:r>
              <a:rPr sz="1200" spc="-9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gt</a:t>
            </a:r>
            <a:r>
              <a:rPr sz="1200" spc="-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Cambria"/>
                <a:cs typeface="Cambria"/>
              </a:rPr>
              <a:t>here’</a:t>
            </a:r>
            <a:r>
              <a:rPr sz="1200" spc="17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200" spc="-3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Cambria"/>
                <a:cs typeface="Cambria"/>
              </a:rPr>
              <a:t>SepalNi</a:t>
            </a:r>
            <a:r>
              <a:rPr sz="1200" spc="-10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öt</a:t>
            </a:r>
            <a:r>
              <a:rPr sz="1200" spc="-7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Cambria"/>
                <a:cs typeface="Cambria"/>
              </a:rPr>
              <a:t>here’</a:t>
            </a:r>
            <a:r>
              <a:rPr sz="1200" spc="8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200" spc="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Pet</a:t>
            </a:r>
            <a:r>
              <a:rPr sz="1200" spc="-7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85" dirty="0">
                <a:solidFill>
                  <a:srgbClr val="212121"/>
                </a:solidFill>
                <a:latin typeface="Cambria"/>
                <a:cs typeface="Cambria"/>
              </a:rPr>
              <a:t>ad</a:t>
            </a:r>
            <a:r>
              <a:rPr sz="1200" spc="-1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170" dirty="0">
                <a:solidFill>
                  <a:srgbClr val="212121"/>
                </a:solidFill>
                <a:latin typeface="Cambria"/>
                <a:cs typeface="Cambria"/>
              </a:rPr>
              <a:t>L</a:t>
            </a:r>
            <a:r>
              <a:rPr sz="1200" spc="-114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80" dirty="0">
                <a:solidFill>
                  <a:srgbClr val="212121"/>
                </a:solidFill>
                <a:latin typeface="Cambria"/>
                <a:cs typeface="Cambria"/>
              </a:rPr>
              <a:t>en</a:t>
            </a:r>
            <a:r>
              <a:rPr sz="1200" spc="-10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gt</a:t>
            </a:r>
            <a:r>
              <a:rPr sz="1200" spc="-6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75" dirty="0">
                <a:solidFill>
                  <a:srgbClr val="212121"/>
                </a:solidFill>
                <a:latin typeface="Cambria"/>
                <a:cs typeface="Cambria"/>
              </a:rPr>
              <a:t>here’</a:t>
            </a:r>
            <a:r>
              <a:rPr sz="1200" spc="1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200" spc="7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PMa1Ni</a:t>
            </a:r>
            <a:r>
              <a:rPr sz="1200" spc="-1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dirty="0">
                <a:solidFill>
                  <a:srgbClr val="212121"/>
                </a:solidFill>
                <a:latin typeface="Cambria"/>
                <a:cs typeface="Cambria"/>
              </a:rPr>
              <a:t>dt</a:t>
            </a:r>
            <a:r>
              <a:rPr sz="1200" spc="-6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Cambria"/>
                <a:cs typeface="Cambria"/>
              </a:rPr>
              <a:t>hire’</a:t>
            </a:r>
            <a:r>
              <a:rPr sz="1200" spc="1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endParaRPr sz="1200">
              <a:latin typeface="Cambria"/>
              <a:cs typeface="Cambria"/>
            </a:endParaRPr>
          </a:p>
          <a:p>
            <a:pPr marL="608330">
              <a:lnSpc>
                <a:spcPts val="1490"/>
              </a:lnSpc>
              <a:spcBef>
                <a:spcPts val="90"/>
              </a:spcBef>
            </a:pPr>
            <a:r>
              <a:rPr sz="125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250" spc="-5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50" spc="-40" dirty="0">
                <a:solidFill>
                  <a:srgbClr val="212121"/>
                </a:solidFill>
                <a:latin typeface="Cambria"/>
                <a:cs typeface="Cambria"/>
              </a:rPr>
              <a:t>Spec</a:t>
            </a:r>
            <a:r>
              <a:rPr sz="1250" spc="-9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5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250" spc="-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50" dirty="0">
                <a:solidFill>
                  <a:srgbClr val="212121"/>
                </a:solidFill>
                <a:latin typeface="Cambria"/>
                <a:cs typeface="Cambria"/>
              </a:rPr>
              <a:t>es</a:t>
            </a:r>
            <a:r>
              <a:rPr sz="1250" spc="-7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5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250" spc="6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50" spc="-180" dirty="0">
                <a:solidFill>
                  <a:srgbClr val="212121"/>
                </a:solidFill>
                <a:latin typeface="Cambria"/>
                <a:cs typeface="Cambria"/>
              </a:rPr>
              <a:t>]</a:t>
            </a:r>
            <a:r>
              <a:rPr sz="1250" spc="10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25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endParaRPr sz="1250">
              <a:latin typeface="Cambria"/>
              <a:cs typeface="Cambria"/>
            </a:endParaRPr>
          </a:p>
          <a:p>
            <a:pPr marL="511809">
              <a:lnSpc>
                <a:spcPts val="1490"/>
              </a:lnSpc>
            </a:pPr>
            <a:r>
              <a:rPr sz="1250" spc="-10" dirty="0">
                <a:solidFill>
                  <a:srgbClr val="212121"/>
                </a:solidFill>
                <a:latin typeface="Consolas"/>
                <a:cs typeface="Consolas"/>
              </a:rPr>
              <a:t>dtype='object')</a:t>
            </a:r>
            <a:endParaRPr sz="12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450"/>
              </a:spcBef>
            </a:pPr>
            <a:r>
              <a:rPr sz="1250" dirty="0">
                <a:solidFill>
                  <a:srgbClr val="212121"/>
                </a:solidFill>
                <a:latin typeface="Calibri"/>
                <a:cs typeface="Calibri"/>
              </a:rPr>
              <a:t>model</a:t>
            </a:r>
            <a:r>
              <a:rPr sz="1250" spc="39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12121"/>
                </a:solidFill>
                <a:latin typeface="Calibri"/>
                <a:cs typeface="Calibri"/>
              </a:rPr>
              <a:t>E</a:t>
            </a:r>
            <a:r>
              <a:rPr sz="1250" spc="-1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50" spc="65" dirty="0">
                <a:solidFill>
                  <a:srgbClr val="212121"/>
                </a:solidFill>
                <a:latin typeface="Calibri"/>
                <a:cs typeface="Calibri"/>
              </a:rPr>
              <a:t>vatuati</a:t>
            </a:r>
            <a:r>
              <a:rPr sz="1250" spc="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12121"/>
                </a:solidFill>
                <a:latin typeface="Calibri"/>
                <a:cs typeface="Calibri"/>
              </a:rPr>
              <a:t>on:</a:t>
            </a:r>
            <a:endParaRPr sz="1250">
              <a:latin typeface="Calibri"/>
              <a:cs typeface="Calibri"/>
            </a:endParaRPr>
          </a:p>
          <a:p>
            <a:pPr marL="37465">
              <a:lnSpc>
                <a:spcPct val="100000"/>
              </a:lnSpc>
              <a:spcBef>
                <a:spcPts val="125"/>
              </a:spcBef>
            </a:pPr>
            <a:r>
              <a:rPr sz="1100" spc="-70" dirty="0">
                <a:solidFill>
                  <a:srgbClr val="212121"/>
                </a:solidFill>
                <a:latin typeface="Cambria"/>
                <a:cs typeface="Cambria"/>
              </a:rPr>
              <a:t>Ac</a:t>
            </a:r>
            <a:r>
              <a:rPr sz="1100" spc="-8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212121"/>
                </a:solidFill>
                <a:latin typeface="Cambria"/>
                <a:cs typeface="Cambria"/>
              </a:rPr>
              <a:t>c</a:t>
            </a:r>
            <a:r>
              <a:rPr sz="1100" spc="-9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100" spc="-150" dirty="0">
                <a:solidFill>
                  <a:srgbClr val="212121"/>
                </a:solidFill>
                <a:latin typeface="Cambria"/>
                <a:cs typeface="Cambria"/>
              </a:rPr>
              <a:t>u</a:t>
            </a:r>
            <a:r>
              <a:rPr sz="1100" spc="-7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100" spc="-100" dirty="0">
                <a:solidFill>
                  <a:srgbClr val="212121"/>
                </a:solidFill>
                <a:latin typeface="Cambria"/>
                <a:cs typeface="Cambria"/>
              </a:rPr>
              <a:t>£ </a:t>
            </a:r>
            <a:r>
              <a:rPr sz="1100" spc="114" dirty="0">
                <a:solidFill>
                  <a:srgbClr val="212121"/>
                </a:solidFill>
                <a:latin typeface="Cambria"/>
                <a:cs typeface="Cambria"/>
              </a:rPr>
              <a:t>acy:</a:t>
            </a:r>
            <a:r>
              <a:rPr sz="1100" spc="4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100" spc="145" dirty="0">
                <a:solidFill>
                  <a:srgbClr val="212121"/>
                </a:solidFill>
                <a:latin typeface="Cambria"/>
                <a:cs typeface="Cambria"/>
              </a:rPr>
              <a:t>0.</a:t>
            </a:r>
            <a:r>
              <a:rPr sz="1100" spc="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100" spc="-10" dirty="0">
                <a:solidFill>
                  <a:srgbClr val="212121"/>
                </a:solidFill>
                <a:latin typeface="Cambria"/>
                <a:cs typeface="Cambria"/>
              </a:rPr>
              <a:t>9666666666666667</a:t>
            </a:r>
            <a:endParaRPr sz="110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  <a:spcBef>
                <a:spcPts val="5"/>
              </a:spcBef>
            </a:pPr>
            <a:r>
              <a:rPr sz="1250" spc="-75" dirty="0">
                <a:solidFill>
                  <a:srgbClr val="212121"/>
                </a:solidFill>
                <a:latin typeface="Consolas"/>
                <a:cs typeface="Consolas"/>
              </a:rPr>
              <a:t>Confusion</a:t>
            </a:r>
            <a:r>
              <a:rPr sz="1250" spc="-4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250" spc="-10" dirty="0">
                <a:solidFill>
                  <a:srgbClr val="212121"/>
                </a:solidFill>
                <a:latin typeface="Consolas"/>
                <a:cs typeface="Consolas"/>
              </a:rPr>
              <a:t>matrix:</a:t>
            </a:r>
            <a:endParaRPr sz="125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250">
              <a:latin typeface="Consolas"/>
              <a:cs typeface="Consolas"/>
            </a:endParaRPr>
          </a:p>
          <a:p>
            <a:pPr marL="104139">
              <a:lnSpc>
                <a:spcPct val="100000"/>
              </a:lnSpc>
              <a:tabLst>
                <a:tab pos="512445" algn="l"/>
                <a:tab pos="748030" algn="l"/>
              </a:tabLst>
            </a:pPr>
            <a:r>
              <a:rPr sz="1250" dirty="0">
                <a:solidFill>
                  <a:srgbClr val="212121"/>
                </a:solidFill>
                <a:latin typeface="Consolas"/>
                <a:cs typeface="Consolas"/>
              </a:rPr>
              <a:t>[</a:t>
            </a:r>
            <a:r>
              <a:rPr sz="1250" spc="-170" dirty="0">
                <a:solidFill>
                  <a:srgbClr val="212121"/>
                </a:solidFill>
                <a:latin typeface="Consolas"/>
                <a:cs typeface="Consolas"/>
              </a:rPr>
              <a:t> </a:t>
            </a:r>
            <a:r>
              <a:rPr sz="1250" spc="-50" dirty="0">
                <a:solidFill>
                  <a:srgbClr val="212121"/>
                </a:solidFill>
                <a:latin typeface="Consolas"/>
                <a:cs typeface="Consolas"/>
              </a:rPr>
              <a:t>0</a:t>
            </a:r>
            <a:r>
              <a:rPr sz="1250" dirty="0">
                <a:solidFill>
                  <a:srgbClr val="212121"/>
                </a:solidFill>
                <a:latin typeface="Consolas"/>
                <a:cs typeface="Consolas"/>
              </a:rPr>
              <a:t>	</a:t>
            </a:r>
            <a:r>
              <a:rPr sz="1250" spc="-50" dirty="0">
                <a:solidFill>
                  <a:srgbClr val="212121"/>
                </a:solidFill>
                <a:latin typeface="Consolas"/>
                <a:cs typeface="Consolas"/>
              </a:rPr>
              <a:t>9</a:t>
            </a:r>
            <a:r>
              <a:rPr sz="1250" dirty="0">
                <a:solidFill>
                  <a:srgbClr val="212121"/>
                </a:solidFill>
                <a:latin typeface="Consolas"/>
                <a:cs typeface="Consolas"/>
              </a:rPr>
              <a:t>	</a:t>
            </a:r>
            <a:r>
              <a:rPr sz="1250" spc="-25" dirty="0">
                <a:solidFill>
                  <a:srgbClr val="212121"/>
                </a:solidFill>
                <a:latin typeface="Consolas"/>
                <a:cs typeface="Consolas"/>
              </a:rPr>
              <a:t>l]</a:t>
            </a:r>
            <a:endParaRPr sz="1250">
              <a:latin typeface="Consolas"/>
              <a:cs typeface="Consolas"/>
            </a:endParaRPr>
          </a:p>
          <a:p>
            <a:pPr marL="29845" marR="3257550">
              <a:lnSpc>
                <a:spcPct val="117100"/>
              </a:lnSpc>
              <a:spcBef>
                <a:spcPts val="1435"/>
              </a:spcBef>
              <a:tabLst>
                <a:tab pos="602615" algn="l"/>
              </a:tabLst>
            </a:pP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Pr</a:t>
            </a:r>
            <a:r>
              <a:rPr sz="1050" spc="-8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ec</a:t>
            </a:r>
            <a:r>
              <a:rPr sz="1050" spc="-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050" spc="8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s</a:t>
            </a:r>
            <a:r>
              <a:rPr sz="1050" spc="-8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050" spc="7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on</a:t>
            </a:r>
            <a:r>
              <a:rPr sz="1050" spc="185" dirty="0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(</a:t>
            </a:r>
            <a:r>
              <a:rPr sz="1050" spc="-8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spc="-60" dirty="0">
                <a:solidFill>
                  <a:srgbClr val="212121"/>
                </a:solidFill>
                <a:latin typeface="Cambria"/>
                <a:cs typeface="Cambria"/>
              </a:rPr>
              <a:t>mac</a:t>
            </a:r>
            <a:r>
              <a:rPr sz="1050" spc="-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r</a:t>
            </a:r>
            <a:r>
              <a:rPr sz="1050" spc="-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o)</a:t>
            </a:r>
            <a:r>
              <a:rPr sz="1050" spc="2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:</a:t>
            </a:r>
            <a:r>
              <a:rPr sz="1050" spc="185" dirty="0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e</a:t>
            </a:r>
            <a:r>
              <a:rPr sz="1050" spc="1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.</a:t>
            </a:r>
            <a:r>
              <a:rPr sz="1050" spc="10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Cambria"/>
                <a:cs typeface="Cambria"/>
              </a:rPr>
              <a:t>9696969696969697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Rec</a:t>
            </a:r>
            <a:r>
              <a:rPr sz="1050" spc="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spc="-25" dirty="0">
                <a:solidFill>
                  <a:srgbClr val="212121"/>
                </a:solidFill>
                <a:latin typeface="Cambria"/>
                <a:cs typeface="Cambria"/>
              </a:rPr>
              <a:t>at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	(</a:t>
            </a:r>
            <a:r>
              <a:rPr sz="1050" spc="-9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spc="-60" dirty="0">
                <a:solidFill>
                  <a:srgbClr val="212121"/>
                </a:solidFill>
                <a:latin typeface="Cambria"/>
                <a:cs typeface="Cambria"/>
              </a:rPr>
              <a:t>mac</a:t>
            </a:r>
            <a:r>
              <a:rPr sz="1050" spc="-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r</a:t>
            </a:r>
            <a:r>
              <a:rPr sz="1050" spc="-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o)</a:t>
            </a:r>
            <a:r>
              <a:rPr sz="1050" spc="18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:</a:t>
            </a:r>
            <a:r>
              <a:rPr sz="1050" spc="155" dirty="0">
                <a:solidFill>
                  <a:srgbClr val="212121"/>
                </a:solidFill>
                <a:latin typeface="Cambria"/>
                <a:cs typeface="Cambria"/>
              </a:rPr>
              <a:t> 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e</a:t>
            </a:r>
            <a:r>
              <a:rPr sz="1050" spc="10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dirty="0">
                <a:solidFill>
                  <a:srgbClr val="212121"/>
                </a:solidFill>
                <a:latin typeface="Cambria"/>
                <a:cs typeface="Cambria"/>
              </a:rPr>
              <a:t>.</a:t>
            </a:r>
            <a:r>
              <a:rPr sz="1050" spc="8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050" spc="-10" dirty="0">
                <a:solidFill>
                  <a:srgbClr val="212121"/>
                </a:solidFill>
                <a:latin typeface="Cambria"/>
                <a:cs typeface="Cambria"/>
              </a:rPr>
              <a:t>9666666666666667</a:t>
            </a:r>
            <a:endParaRPr sz="10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1050">
              <a:latin typeface="Cambria"/>
              <a:cs typeface="Cambria"/>
            </a:endParaRPr>
          </a:p>
          <a:p>
            <a:pPr marL="29209">
              <a:lnSpc>
                <a:spcPct val="100000"/>
              </a:lnSpc>
              <a:spcBef>
                <a:spcPts val="5"/>
              </a:spcBef>
            </a:pPr>
            <a:r>
              <a:rPr sz="1300" spc="-90" dirty="0">
                <a:solidFill>
                  <a:srgbClr val="212121"/>
                </a:solidFill>
                <a:latin typeface="Cambria"/>
                <a:cs typeface="Cambria"/>
              </a:rPr>
              <a:t>c</a:t>
            </a:r>
            <a:r>
              <a:rPr sz="1300" spc="-13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l</a:t>
            </a:r>
            <a:r>
              <a:rPr sz="1300" spc="-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assifi</a:t>
            </a:r>
            <a:r>
              <a:rPr sz="1300" spc="47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90" dirty="0">
                <a:solidFill>
                  <a:srgbClr val="212121"/>
                </a:solidFill>
                <a:latin typeface="Cambria"/>
                <a:cs typeface="Cambria"/>
              </a:rPr>
              <a:t>c</a:t>
            </a:r>
            <a:r>
              <a:rPr sz="1300" spc="-1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mbria"/>
                <a:cs typeface="Cambria"/>
              </a:rPr>
              <a:t>at</a:t>
            </a:r>
            <a:r>
              <a:rPr sz="1300" spc="-10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300" spc="-6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25" dirty="0">
                <a:solidFill>
                  <a:srgbClr val="212121"/>
                </a:solidFill>
                <a:latin typeface="Cambria"/>
                <a:cs typeface="Cambria"/>
              </a:rPr>
              <a:t>on</a:t>
            </a:r>
            <a:r>
              <a:rPr sz="1300" spc="4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10" dirty="0">
                <a:solidFill>
                  <a:srgbClr val="212121"/>
                </a:solidFill>
                <a:latin typeface="Cambria"/>
                <a:cs typeface="Cambria"/>
              </a:rPr>
              <a:t>Report:</a:t>
            </a:r>
            <a:endParaRPr sz="1300">
              <a:latin typeface="Cambria"/>
              <a:cs typeface="Cambria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050797" y="4962321"/>
          <a:ext cx="4389115" cy="1717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30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1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9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8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54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83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195" algn="r">
                        <a:lnSpc>
                          <a:spcPts val="1525"/>
                        </a:lnSpc>
                      </a:pPr>
                      <a:r>
                        <a:rPr sz="1300" spc="-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pr</a:t>
                      </a:r>
                      <a:r>
                        <a:rPr sz="13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ec</a:t>
                      </a:r>
                      <a:r>
                        <a:rPr sz="1300" spc="-1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300" spc="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si</a:t>
                      </a: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on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8740" algn="ctr">
                        <a:lnSpc>
                          <a:spcPts val="1525"/>
                        </a:lnSpc>
                      </a:pP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ec</a:t>
                      </a:r>
                      <a:r>
                        <a:rPr sz="1300" spc="-1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al</a:t>
                      </a:r>
                      <a:r>
                        <a:rPr sz="1300" spc="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l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525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fi-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230">
                        <a:lnSpc>
                          <a:spcPts val="15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scor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650">
                        <a:lnSpc>
                          <a:spcPts val="15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support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9460">
                <a:tc>
                  <a:txBody>
                    <a:bodyPr/>
                    <a:lstStyle/>
                    <a:p>
                      <a:pPr marR="130175" algn="r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150" spc="-1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I£lS-SAOSa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L="428625">
                        <a:lnSpc>
                          <a:spcPct val="100000"/>
                        </a:lnSpc>
                        <a:spcBef>
                          <a:spcPts val="670"/>
                        </a:spcBef>
                      </a:pPr>
                      <a:r>
                        <a:rPr sz="115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1.BB</a:t>
                      </a:r>
                      <a:endParaRPr sz="1150">
                        <a:latin typeface="Courier New"/>
                        <a:cs typeface="Courier New"/>
                      </a:endParaRPr>
                    </a:p>
                    <a:p>
                      <a:pPr marL="425450" marR="220345" indent="2540">
                        <a:lnSpc>
                          <a:spcPct val="106900"/>
                        </a:lnSpc>
                      </a:pPr>
                      <a:r>
                        <a:rPr sz="1150" spc="-4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1.BB </a:t>
                      </a:r>
                      <a:r>
                        <a:rPr sz="1150" spc="-4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B.91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85090" marB="0"/>
                </a:tc>
                <a:tc>
                  <a:txBody>
                    <a:bodyPr/>
                    <a:lstStyle/>
                    <a:p>
                      <a:pPr marL="238125" marR="142875" indent="2540" algn="just">
                        <a:lnSpc>
                          <a:spcPct val="106900"/>
                        </a:lnSpc>
                        <a:spcBef>
                          <a:spcPts val="575"/>
                        </a:spcBef>
                      </a:pPr>
                      <a:r>
                        <a:rPr sz="1150" spc="-8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1.BB </a:t>
                      </a:r>
                      <a:r>
                        <a:rPr sz="1150" spc="-7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B.9Z 1.BB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 marR="207010" indent="2540" algn="just">
                        <a:lnSpc>
                          <a:spcPct val="106900"/>
                        </a:lnSpc>
                        <a:spcBef>
                          <a:spcPts val="575"/>
                        </a:spcBef>
                      </a:pPr>
                      <a:r>
                        <a:rPr sz="1150" spc="-8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1.BB </a:t>
                      </a:r>
                      <a:r>
                        <a:rPr sz="1150" spc="-7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B.95 B.95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730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980">
                <a:tc>
                  <a:txBody>
                    <a:bodyPr/>
                    <a:lstStyle/>
                    <a:p>
                      <a:pPr marL="281940" marR="110489" indent="76835">
                        <a:lnSpc>
                          <a:spcPts val="1480"/>
                        </a:lnSpc>
                        <a:spcBef>
                          <a:spcPts val="660"/>
                        </a:spcBef>
                      </a:pPr>
                      <a:r>
                        <a:rPr sz="1300" spc="-8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accuracy </a:t>
                      </a:r>
                      <a:r>
                        <a:rPr sz="1300" spc="-9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macro</a:t>
                      </a:r>
                      <a:r>
                        <a:rPr sz="1300" spc="-6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 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avg</a:t>
                      </a:r>
                      <a:endParaRPr sz="1300">
                        <a:latin typeface="Consolas"/>
                        <a:cs typeface="Consolas"/>
                      </a:endParaRPr>
                    </a:p>
                  </a:txBody>
                  <a:tcPr marL="0" marR="0" marT="8382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R="220345" algn="r">
                        <a:lnSpc>
                          <a:spcPct val="100000"/>
                        </a:lnSpc>
                      </a:pPr>
                      <a:r>
                        <a:rPr sz="115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10731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44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105410" algn="ctr">
                        <a:lnSpc>
                          <a:spcPct val="100000"/>
                        </a:lnSpc>
                      </a:pPr>
                      <a:r>
                        <a:rPr sz="115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10731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 marR="189230">
                        <a:lnSpc>
                          <a:spcPct val="106900"/>
                        </a:lnSpc>
                        <a:spcBef>
                          <a:spcPts val="600"/>
                        </a:spcBef>
                      </a:pPr>
                      <a:r>
                        <a:rPr sz="1150" spc="-4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B.97 B.97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76200" marB="0"/>
                </a:tc>
                <a:tc>
                  <a:txBody>
                    <a:bodyPr/>
                    <a:lstStyle/>
                    <a:p>
                      <a:pPr marL="436880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1250" spc="-25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30</a:t>
                      </a:r>
                      <a:endParaRPr sz="1250">
                        <a:latin typeface="Consolas"/>
                        <a:cs typeface="Consolas"/>
                      </a:endParaRPr>
                    </a:p>
                    <a:p>
                      <a:pPr marL="435609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150" spc="-25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3B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755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070">
                <a:tc>
                  <a:txBody>
                    <a:bodyPr/>
                    <a:lstStyle/>
                    <a:p>
                      <a:pPr marR="118745" algn="r">
                        <a:lnSpc>
                          <a:spcPts val="131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onsolas"/>
                          <a:cs typeface="Consolas"/>
                        </a:rPr>
                        <a:t>weigttedavg</a:t>
                      </a:r>
                      <a:endParaRPr sz="1300">
                        <a:latin typeface="Consolas"/>
                        <a:cs typeface="Consola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20345" algn="r">
                        <a:lnSpc>
                          <a:spcPts val="1285"/>
                        </a:lnSpc>
                      </a:pPr>
                      <a:r>
                        <a:rPr sz="115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5410" algn="ctr">
                        <a:lnSpc>
                          <a:spcPts val="1285"/>
                        </a:lnSpc>
                      </a:pPr>
                      <a:r>
                        <a:rPr sz="115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165">
                        <a:lnSpc>
                          <a:spcPts val="1285"/>
                        </a:lnSpc>
                      </a:pPr>
                      <a:r>
                        <a:rPr sz="1150" spc="-20" dirty="0">
                          <a:solidFill>
                            <a:srgbClr val="212121"/>
                          </a:solidFill>
                          <a:latin typeface="Courier New"/>
                          <a:cs typeface="Courier New"/>
                        </a:rPr>
                        <a:t>B.97</a:t>
                      </a:r>
                      <a:endParaRPr sz="11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8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181" y="1643862"/>
            <a:ext cx="6467591" cy="468255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016507"/>
          <a:ext cx="6480810" cy="865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9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5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9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2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spc="2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229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2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multidimensional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repository</a:t>
                      </a:r>
                      <a:r>
                        <a:rPr sz="12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visualization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221615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multidimensional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 from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repository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analyze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visualization.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361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85"/>
                        </a:lnSpc>
                      </a:pP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Clustering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90"/>
                        </a:lnSpc>
                      </a:pP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unsupervised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learning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algorithm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distinct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groups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8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similarity.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6940" indent="-227965">
                        <a:lnSpc>
                          <a:spcPts val="1385"/>
                        </a:lnSpc>
                        <a:buFont typeface="Wingdings"/>
                        <a:buChar char=""/>
                        <a:tabLst>
                          <a:tab pos="916940" algn="l"/>
                        </a:tabLst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works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5"/>
                        </a:lnSpc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Choose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number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5"/>
                        </a:lnSpc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Initialize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centroids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randomly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5"/>
                        </a:lnSpc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each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point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nearest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centroid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0"/>
                        </a:lnSpc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Recompute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centroids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points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59740" indent="-227965">
                        <a:lnSpc>
                          <a:spcPts val="1385"/>
                        </a:lnSpc>
                        <a:buAutoNum type="arabicPeriod"/>
                        <a:tabLst>
                          <a:tab pos="459740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Repeat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steps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3–4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until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convergence (centroids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stop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changing)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916940" lvl="1" indent="-227965">
                        <a:lnSpc>
                          <a:spcPts val="1385"/>
                        </a:lnSpc>
                        <a:buFont typeface="Wingdings"/>
                        <a:buChar char=""/>
                        <a:tabLst>
                          <a:tab pos="916940" algn="l"/>
                        </a:tabLst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8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measure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quality</a:t>
                      </a:r>
                      <a:r>
                        <a:rPr sz="12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Ranges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+1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3390900" indent="-228600">
                        <a:lnSpc>
                          <a:spcPts val="1380"/>
                        </a:lnSpc>
                        <a:spcBef>
                          <a:spcPts val="65"/>
                        </a:spcBef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Closer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indicates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well-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separated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clusters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Score=b−a/max(a,b)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2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Where: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a: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intra-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distance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415"/>
                        </a:lnSpc>
                        <a:buSzPct val="83333"/>
                        <a:buFont typeface="Symbol"/>
                        <a:buChar char="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b: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nearest-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distance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3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8580" marR="1032510" indent="66675">
                        <a:lnSpc>
                          <a:spcPts val="127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loaded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UCI/sklearn,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6675">
                        <a:lnSpc>
                          <a:spcPts val="135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normalized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applied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814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9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524510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dimensionality reduction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385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8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458470">
                        <a:lnSpc>
                          <a:spcPts val="139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plot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generated,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Output interpreted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36980">
                <a:tc gridSpan="6">
                  <a:txBody>
                    <a:bodyPr/>
                    <a:lstStyle/>
                    <a:p>
                      <a:pPr marL="2540">
                        <a:lnSpc>
                          <a:spcPts val="135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(Using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Pandas/Scikit-learn)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5645" indent="-227965">
                        <a:lnSpc>
                          <a:spcPts val="1385"/>
                        </a:lnSpc>
                        <a:buAutoNum type="arabicParenR"/>
                        <a:tabLst>
                          <a:tab pos="71564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multidimensional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UCI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(e.g.,</a:t>
                      </a:r>
                      <a:r>
                        <a:rPr sz="12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Wine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Breast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Cancer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5645" indent="-227965">
                        <a:lnSpc>
                          <a:spcPts val="1385"/>
                        </a:lnSpc>
                        <a:buAutoNum type="arabicParenR"/>
                        <a:tabLst>
                          <a:tab pos="71564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Preprocess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(normalization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scaling)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5645" indent="-227965">
                        <a:lnSpc>
                          <a:spcPts val="1380"/>
                        </a:lnSpc>
                        <a:buAutoNum type="arabicParenR"/>
                        <a:tabLst>
                          <a:tab pos="71564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Choose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appropriate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value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K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5645" indent="-227965">
                        <a:lnSpc>
                          <a:spcPts val="1385"/>
                        </a:lnSpc>
                        <a:buAutoNum type="arabicParenR"/>
                        <a:tabLst>
                          <a:tab pos="71564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clustering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5645" indent="-227965">
                        <a:lnSpc>
                          <a:spcPts val="1385"/>
                        </a:lnSpc>
                        <a:buAutoNum type="arabicParenR"/>
                        <a:tabLst>
                          <a:tab pos="71564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Visualize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(use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if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&gt;2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dimensions)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15645" indent="-227965">
                        <a:lnSpc>
                          <a:spcPts val="1370"/>
                        </a:lnSpc>
                        <a:buAutoNum type="arabicParenR"/>
                        <a:tabLst>
                          <a:tab pos="71564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Evaluate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Score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6448" y="914399"/>
            <a:ext cx="6489065" cy="271780"/>
          </a:xfrm>
          <a:custGeom>
            <a:avLst/>
            <a:gdLst/>
            <a:ahLst/>
            <a:cxnLst/>
            <a:rect l="l" t="t" r="r" b="b"/>
            <a:pathLst>
              <a:path w="6489065" h="271780">
                <a:moveTo>
                  <a:pt x="6488938" y="0"/>
                </a:moveTo>
                <a:lnTo>
                  <a:pt x="6482842" y="0"/>
                </a:lnTo>
                <a:lnTo>
                  <a:pt x="6096" y="0"/>
                </a:lnTo>
                <a:lnTo>
                  <a:pt x="0" y="0"/>
                </a:lnTo>
                <a:lnTo>
                  <a:pt x="0" y="6045"/>
                </a:lnTo>
                <a:lnTo>
                  <a:pt x="0" y="271526"/>
                </a:lnTo>
                <a:lnTo>
                  <a:pt x="6096" y="271526"/>
                </a:lnTo>
                <a:lnTo>
                  <a:pt x="6096" y="6096"/>
                </a:lnTo>
                <a:lnTo>
                  <a:pt x="6482842" y="6096"/>
                </a:lnTo>
                <a:lnTo>
                  <a:pt x="6482842" y="271526"/>
                </a:lnTo>
                <a:lnTo>
                  <a:pt x="6488938" y="271526"/>
                </a:lnTo>
                <a:lnTo>
                  <a:pt x="6488938" y="6096"/>
                </a:lnTo>
                <a:lnTo>
                  <a:pt x="64889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9495" y="1188973"/>
            <a:ext cx="6483350" cy="158686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350"/>
              </a:lnSpc>
            </a:pPr>
            <a:r>
              <a:rPr sz="1200" b="1" spc="-10" dirty="0">
                <a:latin typeface="Times New Roman"/>
                <a:cs typeface="Times New Roman"/>
              </a:rPr>
              <a:t>Conclusion:</a:t>
            </a:r>
            <a:endParaRPr sz="1200">
              <a:latin typeface="Times New Roman"/>
              <a:cs typeface="Times New Roman"/>
            </a:endParaRPr>
          </a:p>
          <a:p>
            <a:pPr marL="69850" algn="just">
              <a:lnSpc>
                <a:spcPct val="96000"/>
              </a:lnSpc>
              <a:spcBef>
                <a:spcPts val="25"/>
              </a:spcBef>
            </a:pP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experiment,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2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applied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K-Means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Wine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</a:t>
            </a:r>
            <a:r>
              <a:rPr sz="1200" spc="2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from</a:t>
            </a:r>
            <a:r>
              <a:rPr sz="1200" spc="22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24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UCI </a:t>
            </a:r>
            <a:r>
              <a:rPr sz="1200" dirty="0">
                <a:latin typeface="Times New Roman"/>
                <a:cs typeface="Times New Roman"/>
              </a:rPr>
              <a:t>repository.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preprocessed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standardization,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were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visualized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PCA.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Silhouette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helped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evaluate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separation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cohesion.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Though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K-Means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does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not </a:t>
            </a:r>
            <a:r>
              <a:rPr sz="1200" dirty="0">
                <a:latin typeface="Times New Roman"/>
                <a:cs typeface="Times New Roman"/>
              </a:rPr>
              <a:t>use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label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able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meaningful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groupings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dataset,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1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its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utility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for </a:t>
            </a:r>
            <a:r>
              <a:rPr sz="1200" dirty="0">
                <a:latin typeface="Times New Roman"/>
                <a:cs typeface="Times New Roman"/>
              </a:rPr>
              <a:t>unsupervised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pattern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discovery.</a:t>
            </a:r>
            <a:endParaRPr sz="1200">
              <a:latin typeface="Times New Roman"/>
              <a:cs typeface="Times New Roman"/>
            </a:endParaRPr>
          </a:p>
          <a:p>
            <a:pPr marL="69850" algn="just">
              <a:lnSpc>
                <a:spcPts val="1380"/>
              </a:lnSpc>
              <a:spcBef>
                <a:spcPts val="3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practical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value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K-Means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clustering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multidimensional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usefulness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Silhouette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Score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model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evaluation.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890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869" y="1389037"/>
            <a:ext cx="7278171" cy="790710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996" y="1275338"/>
            <a:ext cx="7532370" cy="4605655"/>
            <a:chOff x="26996" y="1275338"/>
            <a:chExt cx="7532370" cy="4605655"/>
          </a:xfrm>
        </p:grpSpPr>
        <p:sp>
          <p:nvSpPr>
            <p:cNvPr id="3" name="object 3"/>
            <p:cNvSpPr/>
            <p:nvPr/>
          </p:nvSpPr>
          <p:spPr>
            <a:xfrm>
              <a:off x="28496" y="1275338"/>
              <a:ext cx="0" cy="4605655"/>
            </a:xfrm>
            <a:custGeom>
              <a:avLst/>
              <a:gdLst/>
              <a:ahLst/>
              <a:cxnLst/>
              <a:rect l="l" t="t" r="r" b="b"/>
              <a:pathLst>
                <a:path h="4605655">
                  <a:moveTo>
                    <a:pt x="0" y="46053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996" y="1290310"/>
              <a:ext cx="7532370" cy="3175"/>
            </a:xfrm>
            <a:custGeom>
              <a:avLst/>
              <a:gdLst/>
              <a:ahLst/>
              <a:cxnLst/>
              <a:rect l="l" t="t" r="r" b="b"/>
              <a:pathLst>
                <a:path w="7532370" h="3175">
                  <a:moveTo>
                    <a:pt x="7532043" y="2994"/>
                  </a:moveTo>
                  <a:lnTo>
                    <a:pt x="0" y="2994"/>
                  </a:lnTo>
                  <a:lnTo>
                    <a:pt x="0" y="0"/>
                  </a:lnTo>
                  <a:lnTo>
                    <a:pt x="7532043" y="0"/>
                  </a:lnTo>
                  <a:lnTo>
                    <a:pt x="7532043" y="29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2908" y="1291808"/>
          <a:ext cx="6156322" cy="2567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8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8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0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09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27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750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60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244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8991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93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age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332740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sa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 gridSpan="2">
                  <a:txBody>
                    <a:bodyPr/>
                    <a:lstStyle/>
                    <a:p>
                      <a:pPr marL="298450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dataset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R="152400" algn="r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cp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r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300" spc="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est</a:t>
                      </a:r>
                      <a:r>
                        <a:rPr sz="1300" spc="-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bps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 gridSpan="2">
                  <a:txBody>
                    <a:bodyPr/>
                    <a:lstStyle/>
                    <a:p>
                      <a:pPr marL="262890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ch</a:t>
                      </a:r>
                      <a:r>
                        <a:rPr sz="1300" spc="-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of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7790" algn="r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10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Fbs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1480"/>
                        </a:lnSpc>
                        <a:spcBef>
                          <a:spcPts val="160"/>
                        </a:spcBef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\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2032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R="59690" algn="ct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115" algn="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8265" algn="r">
                        <a:lnSpc>
                          <a:spcPts val="1425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1425"/>
                        </a:lnSpc>
                      </a:pP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make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2715">
                        <a:lnSpc>
                          <a:spcPts val="14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cleveland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165735" marR="3175">
                        <a:lnSpc>
                          <a:spcPts val="1425"/>
                        </a:lnSpc>
                      </a:pPr>
                      <a:r>
                        <a:rPr sz="1300" spc="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typical</a:t>
                      </a:r>
                      <a:r>
                        <a:rPr sz="1300" spc="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angina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810" algn="r">
                        <a:lnSpc>
                          <a:spcPts val="1230"/>
                        </a:lnSpc>
                        <a:spcBef>
                          <a:spcPts val="195"/>
                        </a:spcBef>
                      </a:pPr>
                      <a:r>
                        <a:rPr sz="10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145</a:t>
                      </a:r>
                      <a:r>
                        <a:rPr sz="1050" spc="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50" spc="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050">
                        <a:latin typeface="Cambria"/>
                        <a:cs typeface="Cambria"/>
                      </a:endParaRPr>
                    </a:p>
                  </a:txBody>
                  <a:tcPr marL="0" marR="0" marT="24765" marB="0"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ts val="1230"/>
                        </a:lnSpc>
                        <a:spcBef>
                          <a:spcPts val="195"/>
                        </a:spcBef>
                      </a:pPr>
                      <a:r>
                        <a:rPr sz="10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233</a:t>
                      </a:r>
                      <a:r>
                        <a:rPr sz="1050" spc="1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050" spc="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0</a:t>
                      </a:r>
                      <a:endParaRPr sz="1050">
                        <a:latin typeface="Cambria"/>
                        <a:cs typeface="Cambri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2075" algn="r">
                        <a:lnSpc>
                          <a:spcPts val="1230"/>
                        </a:lnSpc>
                        <a:spcBef>
                          <a:spcPts val="195"/>
                        </a:spcBef>
                      </a:pPr>
                      <a:r>
                        <a:rPr sz="10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Tr</a:t>
                      </a:r>
                      <a:r>
                        <a:rPr sz="1050" spc="-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05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ue</a:t>
                      </a:r>
                      <a:endParaRPr sz="1050">
                        <a:latin typeface="Cambria"/>
                        <a:cs typeface="Cambri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R="30480" algn="ct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020" algn="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ts val="1425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1425"/>
                        </a:lnSpc>
                      </a:pP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make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2715">
                        <a:lnSpc>
                          <a:spcPts val="14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cleveland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41630" marR="3175">
                        <a:lnSpc>
                          <a:spcPts val="14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asymptomatic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ts val="1280"/>
                        </a:lnSpc>
                        <a:spcBef>
                          <a:spcPts val="145"/>
                        </a:spcBef>
                      </a:pPr>
                      <a:r>
                        <a:rPr sz="1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16B</a:t>
                      </a:r>
                      <a:r>
                        <a:rPr sz="11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18415" marB="0"/>
                </a:tc>
                <a:tc gridSpan="2">
                  <a:txBody>
                    <a:bodyPr/>
                    <a:lstStyle/>
                    <a:p>
                      <a:pPr marL="179070">
                        <a:lnSpc>
                          <a:spcPts val="1280"/>
                        </a:lnSpc>
                        <a:spcBef>
                          <a:spcPts val="145"/>
                        </a:spcBef>
                      </a:pPr>
                      <a:r>
                        <a:rPr sz="110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286.0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184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80"/>
                        </a:lnSpc>
                        <a:spcBef>
                          <a:spcPts val="145"/>
                        </a:spcBef>
                      </a:pPr>
                      <a:r>
                        <a:rPr sz="11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100" spc="-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ad</a:t>
                      </a:r>
                      <a:r>
                        <a:rPr sz="11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r>
                        <a:rPr sz="11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R="27940" algn="ct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1480"/>
                        </a:lnSpc>
                      </a:pP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make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2715">
                        <a:lnSpc>
                          <a:spcPts val="148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cleveland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341630" marR="3175">
                        <a:lnSpc>
                          <a:spcPts val="148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asymptomatic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4925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12B</a:t>
                      </a:r>
                      <a:r>
                        <a:rPr sz="11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18415" marB="0"/>
                </a:tc>
                <a:tc gridSpan="2"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229.e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1841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1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100" spc="-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ad</a:t>
                      </a:r>
                      <a:r>
                        <a:rPr sz="11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r>
                        <a:rPr sz="11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184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R="48260" algn="ct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9370" algn="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200" algn="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37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1480"/>
                        </a:lnSpc>
                      </a:pP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make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2715">
                        <a:lnSpc>
                          <a:spcPts val="148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cleveland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424815" marR="3175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non-</a:t>
                      </a: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angIna1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0480" algn="r">
                        <a:lnSpc>
                          <a:spcPts val="1280"/>
                        </a:lnSpc>
                        <a:spcBef>
                          <a:spcPts val="195"/>
                        </a:spcBef>
                      </a:pPr>
                      <a:r>
                        <a:rPr sz="1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130</a:t>
                      </a:r>
                      <a:r>
                        <a:rPr sz="1100" spc="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.0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24765" marB="0"/>
                </a:tc>
                <a:tc gridSpan="2">
                  <a:txBody>
                    <a:bodyPr/>
                    <a:lstStyle/>
                    <a:p>
                      <a:pPr marL="179070">
                        <a:lnSpc>
                          <a:spcPts val="1280"/>
                        </a:lnSpc>
                        <a:spcBef>
                          <a:spcPts val="195"/>
                        </a:spcBef>
                      </a:pPr>
                      <a:r>
                        <a:rPr sz="1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250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100" spc="-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24765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1280"/>
                        </a:lnSpc>
                        <a:spcBef>
                          <a:spcPts val="195"/>
                        </a:spcBef>
                      </a:pPr>
                      <a:r>
                        <a:rPr sz="11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100" spc="-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ad</a:t>
                      </a:r>
                      <a:r>
                        <a:rPr sz="11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r>
                        <a:rPr sz="11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100">
                        <a:latin typeface="Cambria"/>
                        <a:cs typeface="Cambria"/>
                      </a:endParaRPr>
                    </a:p>
                  </a:txBody>
                  <a:tcPr marL="0" marR="0" marT="247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R="44450" algn="ct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2069" algn="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3660" algn="r">
                        <a:lnSpc>
                          <a:spcPts val="1440"/>
                        </a:lnSpc>
                      </a:pPr>
                      <a:r>
                        <a:rPr sz="1300" spc="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144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Female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132715">
                        <a:lnSpc>
                          <a:spcPts val="144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cleveland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marL="92710" marR="3175">
                        <a:lnSpc>
                          <a:spcPts val="1440"/>
                        </a:lnSpc>
                      </a:pPr>
                      <a:r>
                        <a:rPr sz="1300" spc="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atypical</a:t>
                      </a:r>
                      <a:r>
                        <a:rPr sz="1300" spc="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angina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440"/>
                        </a:lnSpc>
                      </a:pPr>
                      <a:r>
                        <a:rPr sz="13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13e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300" spc="-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34010">
                        <a:lnSpc>
                          <a:spcPts val="144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4.</a:t>
                      </a: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6835" algn="r">
                        <a:lnSpc>
                          <a:spcPts val="1440"/>
                        </a:lnSpc>
                      </a:pPr>
                      <a:r>
                        <a:rPr sz="1300" spc="-1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300" spc="-1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ad</a:t>
                      </a:r>
                      <a:r>
                        <a:rPr sz="1300" spc="-1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69570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est</a:t>
                      </a:r>
                      <a:r>
                        <a:rPr sz="1300" spc="-5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1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en</a:t>
                      </a: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360" algn="r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</a:t>
                      </a:r>
                      <a:r>
                        <a:rPr sz="1300" spc="-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hal</a:t>
                      </a:r>
                      <a:r>
                        <a:rPr sz="1300" spc="21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ch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R="635" algn="r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aan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L="15240" algn="ctr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R="101600" algn="r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of</a:t>
                      </a:r>
                      <a:r>
                        <a:rPr sz="1300" spc="-7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dpeaL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 marR="3175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r>
                        <a:rPr sz="1300" spc="4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spc="-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300" spc="-1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 gridSpan="3">
                  <a:txBody>
                    <a:bodyPr/>
                    <a:lstStyle/>
                    <a:p>
                      <a:pPr marL="85725">
                        <a:lnSpc>
                          <a:spcPts val="1480"/>
                        </a:lnSpc>
                        <a:spcBef>
                          <a:spcPts val="1450"/>
                        </a:spcBef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\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18415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R="59690" algn="ct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v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735">
                        <a:lnSpc>
                          <a:spcPts val="14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hypert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ophy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2550" algn="r">
                        <a:lnSpc>
                          <a:spcPts val="1425"/>
                        </a:lnSpc>
                      </a:pPr>
                      <a:r>
                        <a:rPr sz="1300" spc="-5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use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.</a:t>
                      </a:r>
                      <a:r>
                        <a:rPr sz="1300" spc="-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425"/>
                        </a:lnSpc>
                      </a:pPr>
                      <a:r>
                        <a:rPr sz="1300" spc="-1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al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ts val="1425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3185" algn="r">
                        <a:lnSpc>
                          <a:spcPts val="1425"/>
                        </a:lnSpc>
                      </a:pPr>
                      <a:r>
                        <a:rPr sz="1300" spc="3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2.3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425"/>
                        </a:lnSpc>
                      </a:pPr>
                      <a:r>
                        <a:rPr sz="13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dans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 marR="3175">
                        <a:lnSpc>
                          <a:spcPts val="1425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opi</a:t>
                      </a:r>
                      <a:r>
                        <a:rPr sz="13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3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425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R="30480" algn="ct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v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735">
                        <a:lnSpc>
                          <a:spcPts val="148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hypert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r</a:t>
                      </a:r>
                      <a:r>
                        <a:rPr sz="1300" spc="-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1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</a:t>
                      </a:r>
                      <a:r>
                        <a:rPr sz="1300" spc="-43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</a:t>
                      </a:r>
                      <a:r>
                        <a:rPr sz="1300" spc="13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y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0010" algn="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8.0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Tr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ue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48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3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 marR="3175">
                        <a:lnSpc>
                          <a:spcPts val="1480"/>
                        </a:lnSpc>
                      </a:pPr>
                      <a:r>
                        <a:rPr sz="1300" spc="-2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FMat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48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3.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R="27940" algn="ct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8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v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735">
                        <a:lnSpc>
                          <a:spcPts val="148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hypert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ophy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6995" algn="r">
                        <a:lnSpc>
                          <a:spcPts val="148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129.0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45" algn="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Tr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1120" algn="ctr">
                        <a:lnSpc>
                          <a:spcPts val="148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ue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4930" algn="r">
                        <a:lnSpc>
                          <a:spcPts val="148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2.</a:t>
                      </a:r>
                      <a:r>
                        <a:rPr sz="1300" spc="1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6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7005" marR="3175">
                        <a:lnSpc>
                          <a:spcPts val="1480"/>
                        </a:lnSpc>
                      </a:pPr>
                      <a:r>
                        <a:rPr sz="1300" spc="-2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-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FMat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5725" algn="r">
                        <a:lnSpc>
                          <a:spcPts val="1480"/>
                        </a:lnSpc>
                      </a:pPr>
                      <a:r>
                        <a:rPr sz="1300" spc="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2.0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R="48260" algn="ct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452755">
                        <a:lnSpc>
                          <a:spcPts val="1425"/>
                        </a:lnSpc>
                      </a:pP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nor</a:t>
                      </a:r>
                      <a:r>
                        <a:rPr sz="1300" spc="-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real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25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187.e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425"/>
                        </a:lnSpc>
                      </a:pPr>
                      <a:r>
                        <a:rPr sz="1300" spc="-1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al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ts val="1425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7630" algn="r">
                        <a:lnSpc>
                          <a:spcPts val="1425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3.</a:t>
                      </a:r>
                      <a:r>
                        <a:rPr sz="1300" spc="5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ts val="1425"/>
                        </a:lnSpc>
                      </a:pPr>
                      <a:r>
                        <a:rPr sz="1300" spc="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dans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 marR="3175">
                        <a:lnSpc>
                          <a:spcPts val="1425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opi</a:t>
                      </a:r>
                      <a:r>
                        <a:rPr sz="13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3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425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R="44450" algn="ct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6355" algn="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v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38735">
                        <a:lnSpc>
                          <a:spcPts val="144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hypert</a:t>
                      </a:r>
                      <a:r>
                        <a:rPr sz="1300" spc="-6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4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ophy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170" algn="r">
                        <a:lnSpc>
                          <a:spcPts val="1440"/>
                        </a:lnSpc>
                      </a:pP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172.e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440"/>
                        </a:lnSpc>
                      </a:pPr>
                      <a:r>
                        <a:rPr sz="1300" spc="-1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al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0485" algn="ctr">
                        <a:lnSpc>
                          <a:spcPts val="144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5565" algn="r">
                        <a:lnSpc>
                          <a:spcPts val="144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1.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5080" algn="r">
                        <a:lnSpc>
                          <a:spcPts val="1440"/>
                        </a:lnSpc>
                      </a:pP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ups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7790" marR="3175">
                        <a:lnSpc>
                          <a:spcPts val="144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opi</a:t>
                      </a:r>
                      <a:r>
                        <a:rPr sz="1300" spc="-1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30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g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88900" algn="r">
                        <a:lnSpc>
                          <a:spcPts val="1440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.</a:t>
                      </a:r>
                      <a:r>
                        <a:rPr sz="1300" spc="-114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34650" y="4053471"/>
          <a:ext cx="2160903" cy="1176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4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130">
                <a:tc>
                  <a:txBody>
                    <a:bodyPr/>
                    <a:lstStyle/>
                    <a:p>
                      <a:pPr marR="60960" algn="ct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35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R="37465" algn="r">
                        <a:lnSpc>
                          <a:spcPct val="100000"/>
                        </a:lnSpc>
                        <a:spcBef>
                          <a:spcPts val="1430"/>
                        </a:spcBef>
                      </a:pPr>
                      <a:r>
                        <a:rPr sz="1350" spc="8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fixed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T="181610" marB="0"/>
                </a:tc>
                <a:tc>
                  <a:txBody>
                    <a:bodyPr/>
                    <a:lstStyle/>
                    <a:p>
                      <a:pPr marR="149225" algn="r">
                        <a:lnSpc>
                          <a:spcPts val="1475"/>
                        </a:lnSpc>
                      </a:pPr>
                      <a:r>
                        <a:rPr sz="13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sz="1300" spc="7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fial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R="98425" algn="r">
                        <a:lnSpc>
                          <a:spcPts val="1575"/>
                        </a:lnSpc>
                      </a:pPr>
                      <a:r>
                        <a:rPr sz="135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de£ect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1475"/>
                        </a:lnSpc>
                      </a:pP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nuin</a:t>
                      </a:r>
                      <a:endParaRPr sz="1300">
                        <a:latin typeface="Cambria"/>
                        <a:cs typeface="Cambria"/>
                      </a:endParaRPr>
                    </a:p>
                    <a:p>
                      <a:pPr marR="45085" algn="r">
                        <a:lnSpc>
                          <a:spcPts val="1575"/>
                        </a:lnSpc>
                      </a:pPr>
                      <a:r>
                        <a:rPr sz="135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5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R="43815" algn="ctr">
                        <a:lnSpc>
                          <a:spcPts val="1315"/>
                        </a:lnSpc>
                        <a:spcBef>
                          <a:spcPts val="70"/>
                        </a:spcBef>
                      </a:pPr>
                      <a:r>
                        <a:rPr sz="115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>
                        <a:lnSpc>
                          <a:spcPts val="1315"/>
                        </a:lnSpc>
                        <a:spcBef>
                          <a:spcPts val="70"/>
                        </a:spcBef>
                      </a:pPr>
                      <a:r>
                        <a:rPr sz="1150" spc="-15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sz="1150" spc="-8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sz="1150" spc="-5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15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real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T="8890" marB="0"/>
                </a:tc>
                <a:tc>
                  <a:txBody>
                    <a:bodyPr/>
                    <a:lstStyle/>
                    <a:p>
                      <a:pPr marR="40005" algn="r">
                        <a:lnSpc>
                          <a:spcPts val="1315"/>
                        </a:lnSpc>
                        <a:spcBef>
                          <a:spcPts val="70"/>
                        </a:spcBef>
                      </a:pPr>
                      <a:r>
                        <a:rPr sz="115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150">
                        <a:latin typeface="Cambria"/>
                        <a:cs typeface="Cambria"/>
                      </a:endParaRPr>
                    </a:p>
                  </a:txBody>
                  <a:tcPr marL="0" marR="0" marT="88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R="29209" algn="ct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2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33655" algn="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r</a:t>
                      </a:r>
                      <a:r>
                        <a:rPr sz="1300" spc="-14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ever</a:t>
                      </a:r>
                      <a:r>
                        <a:rPr sz="1300" spc="-10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1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sab1e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ts val="1440"/>
                        </a:lnSpc>
                      </a:pPr>
                      <a:r>
                        <a:rPr sz="1300" spc="-9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de-</a:t>
                      </a:r>
                      <a:r>
                        <a:rPr sz="1300" spc="-2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Feet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R="48895" algn="ct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1425"/>
                        </a:lnSpc>
                      </a:pP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nor</a:t>
                      </a:r>
                      <a:r>
                        <a:rPr sz="1300" spc="-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mab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25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945">
                <a:tc>
                  <a:txBody>
                    <a:bodyPr/>
                    <a:lstStyle/>
                    <a:p>
                      <a:pPr marR="45085" algn="ct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4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ts val="1440"/>
                        </a:lnSpc>
                      </a:pPr>
                      <a:r>
                        <a:rPr sz="1300" spc="-6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nor</a:t>
                      </a:r>
                      <a:r>
                        <a:rPr sz="1300" spc="-9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300" spc="-25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mab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5720" algn="r">
                        <a:lnSpc>
                          <a:spcPts val="1440"/>
                        </a:lnSpc>
                      </a:pPr>
                      <a:r>
                        <a:rPr sz="1300" spc="-50" dirty="0">
                          <a:solidFill>
                            <a:srgbClr val="212121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13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66462" y="5207101"/>
            <a:ext cx="578548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34085" algn="l"/>
                <a:tab pos="1109980" algn="l"/>
                <a:tab pos="1691639" algn="l"/>
                <a:tab pos="2096770" algn="l"/>
                <a:tab pos="2273300" algn="l"/>
                <a:tab pos="3187065" algn="l"/>
                <a:tab pos="3684904" algn="l"/>
                <a:tab pos="4681855" algn="l"/>
                <a:tab pos="5346700" algn="l"/>
              </a:tabLst>
            </a:pP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In</a:t>
            </a:r>
            <a:r>
              <a:rPr sz="1300" spc="-16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da(</a:t>
            </a:r>
            <a:r>
              <a:rPr sz="1300" spc="41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[</a:t>
            </a:r>
            <a:r>
              <a:rPr sz="1300" spc="-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25" dirty="0">
                <a:solidFill>
                  <a:srgbClr val="212121"/>
                </a:solidFill>
                <a:latin typeface="Cambria"/>
                <a:cs typeface="Cambria"/>
              </a:rPr>
              <a:t>Id’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age’</a:t>
            </a:r>
            <a:r>
              <a:rPr sz="1300" spc="6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-5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25" dirty="0">
                <a:solidFill>
                  <a:srgbClr val="212121"/>
                </a:solidFill>
                <a:latin typeface="Cambria"/>
                <a:cs typeface="Cambria"/>
              </a:rPr>
              <a:t>sa’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30" dirty="0">
                <a:solidFill>
                  <a:srgbClr val="212121"/>
                </a:solidFill>
                <a:latin typeface="Cambria"/>
                <a:cs typeface="Cambria"/>
              </a:rPr>
              <a:t>dat</a:t>
            </a:r>
            <a:r>
              <a:rPr sz="1300" spc="-7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aset</a:t>
            </a:r>
            <a:r>
              <a:rPr sz="1300" spc="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8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-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70" dirty="0">
                <a:solidFill>
                  <a:srgbClr val="212121"/>
                </a:solidFill>
                <a:latin typeface="Cambria"/>
                <a:cs typeface="Cambria"/>
              </a:rPr>
              <a:t>c</a:t>
            </a:r>
            <a:r>
              <a:rPr sz="1300" spc="-13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p’</a:t>
            </a:r>
            <a:r>
              <a:rPr sz="1300" spc="1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300" spc="-114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-6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300" spc="1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r</a:t>
            </a:r>
            <a:r>
              <a:rPr sz="1300" spc="-1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est</a:t>
            </a:r>
            <a:r>
              <a:rPr sz="1300" spc="-7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85" dirty="0">
                <a:solidFill>
                  <a:srgbClr val="212121"/>
                </a:solidFill>
                <a:latin typeface="Cambria"/>
                <a:cs typeface="Cambria"/>
              </a:rPr>
              <a:t>bps</a:t>
            </a:r>
            <a:r>
              <a:rPr sz="1300" spc="-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9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-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70" dirty="0">
                <a:solidFill>
                  <a:srgbClr val="212121"/>
                </a:solidFill>
                <a:latin typeface="Cambria"/>
                <a:cs typeface="Cambria"/>
              </a:rPr>
              <a:t>ch</a:t>
            </a:r>
            <a:r>
              <a:rPr sz="1300" spc="-15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of</a:t>
            </a:r>
            <a:r>
              <a:rPr sz="1300" spc="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300" spc="-114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105" dirty="0">
                <a:solidFill>
                  <a:srgbClr val="212121"/>
                </a:solidFill>
                <a:latin typeface="Cambria"/>
                <a:cs typeface="Cambria"/>
              </a:rPr>
              <a:t>-</a:t>
            </a:r>
            <a:r>
              <a:rPr sz="1300" spc="-150" dirty="0">
                <a:solidFill>
                  <a:srgbClr val="212121"/>
                </a:solidFill>
                <a:latin typeface="Cambria"/>
                <a:cs typeface="Cambria"/>
              </a:rPr>
              <a:t>Fbs</a:t>
            </a:r>
            <a:r>
              <a:rPr sz="1300" spc="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3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65888" y="5400584"/>
            <a:ext cx="5186045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25830" algn="l"/>
                <a:tab pos="1756410" algn="l"/>
                <a:tab pos="2159000" algn="l"/>
                <a:tab pos="2504440" algn="l"/>
                <a:tab pos="3418204" algn="l"/>
                <a:tab pos="4165600" algn="l"/>
                <a:tab pos="4664075" algn="l"/>
              </a:tabLst>
            </a:pP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9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r</a:t>
            </a:r>
            <a:r>
              <a:rPr sz="1300" spc="-1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est</a:t>
            </a:r>
            <a:r>
              <a:rPr sz="1300" spc="-10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40" dirty="0">
                <a:solidFill>
                  <a:srgbClr val="212121"/>
                </a:solidFill>
                <a:latin typeface="Cambria"/>
                <a:cs typeface="Cambria"/>
              </a:rPr>
              <a:t>ec</a:t>
            </a:r>
            <a:r>
              <a:rPr sz="1300" spc="-10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g’</a:t>
            </a:r>
            <a:r>
              <a:rPr sz="1300" spc="10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300" spc="-114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-6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300" spc="6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110" dirty="0">
                <a:solidFill>
                  <a:srgbClr val="212121"/>
                </a:solidFill>
                <a:latin typeface="Cambria"/>
                <a:cs typeface="Cambria"/>
              </a:rPr>
              <a:t>had</a:t>
            </a:r>
            <a:r>
              <a:rPr sz="1300" spc="-1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65" dirty="0">
                <a:solidFill>
                  <a:srgbClr val="212121"/>
                </a:solidFill>
                <a:latin typeface="Cambria"/>
                <a:cs typeface="Cambria"/>
              </a:rPr>
              <a:t>ch</a:t>
            </a:r>
            <a:r>
              <a:rPr sz="1300" spc="-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-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295" dirty="0">
                <a:solidFill>
                  <a:srgbClr val="212121"/>
                </a:solidFill>
                <a:latin typeface="Cambria"/>
                <a:cs typeface="Cambria"/>
              </a:rPr>
              <a:t>aan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g’</a:t>
            </a:r>
            <a:r>
              <a:rPr sz="1300" spc="10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-6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of</a:t>
            </a:r>
            <a:r>
              <a:rPr sz="1300" spc="-7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75" dirty="0">
                <a:solidFill>
                  <a:srgbClr val="212121"/>
                </a:solidFill>
                <a:latin typeface="Cambria"/>
                <a:cs typeface="Cambria"/>
              </a:rPr>
              <a:t>dpeaL</a:t>
            </a:r>
            <a:r>
              <a:rPr sz="1300" spc="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3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6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1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s</a:t>
            </a:r>
            <a:r>
              <a:rPr sz="1300" spc="3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ope’</a:t>
            </a:r>
            <a:r>
              <a:rPr sz="1300" spc="5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’</a:t>
            </a:r>
            <a:r>
              <a:rPr sz="1300" spc="2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70" dirty="0">
                <a:solidFill>
                  <a:srgbClr val="212121"/>
                </a:solidFill>
                <a:latin typeface="Cambria"/>
                <a:cs typeface="Cambria"/>
              </a:rPr>
              <a:t>c</a:t>
            </a:r>
            <a:r>
              <a:rPr sz="1300" spc="-1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a’</a:t>
            </a:r>
            <a:r>
              <a:rPr sz="1300" spc="4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1300" spc="-114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-6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I</a:t>
            </a:r>
            <a:r>
              <a:rPr sz="1300" spc="6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110" dirty="0">
                <a:solidFill>
                  <a:srgbClr val="212121"/>
                </a:solidFill>
                <a:latin typeface="Cambria"/>
                <a:cs typeface="Cambria"/>
              </a:rPr>
              <a:t>had</a:t>
            </a:r>
            <a:r>
              <a:rPr sz="1300" spc="-1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4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2137" y="5400584"/>
            <a:ext cx="54483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dirty="0">
                <a:solidFill>
                  <a:srgbClr val="212121"/>
                </a:solidFill>
                <a:latin typeface="Cambria"/>
                <a:cs typeface="Cambria"/>
              </a:rPr>
              <a:t>’</a:t>
            </a:r>
            <a:r>
              <a:rPr sz="1300" spc="-5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30" dirty="0">
                <a:solidFill>
                  <a:srgbClr val="212121"/>
                </a:solidFill>
                <a:latin typeface="Cambria"/>
                <a:cs typeface="Cambria"/>
              </a:rPr>
              <a:t>nun’</a:t>
            </a:r>
            <a:r>
              <a:rPr sz="1300" spc="2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]</a:t>
            </a:r>
            <a:r>
              <a:rPr sz="1300" spc="-35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1300" spc="-50" dirty="0">
                <a:solidFill>
                  <a:srgbClr val="212121"/>
                </a:solidFill>
                <a:latin typeface="Cambria"/>
                <a:cs typeface="Cambria"/>
              </a:rPr>
              <a:t>,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5849" y="5594067"/>
            <a:ext cx="1262380" cy="227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300" spc="-65" dirty="0">
                <a:solidFill>
                  <a:srgbClr val="212121"/>
                </a:solidFill>
                <a:latin typeface="Consolas"/>
                <a:cs typeface="Consolas"/>
              </a:rPr>
              <a:t>dtype='object')</a:t>
            </a:r>
            <a:endParaRPr sz="13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2556"/>
            <a:ext cx="965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50" dirty="0">
                <a:latin typeface="Calibri"/>
                <a:cs typeface="Calibri"/>
              </a:rPr>
              <a:t>9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071" y="1579085"/>
            <a:ext cx="6772492" cy="5585053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36447" y="1016507"/>
          <a:ext cx="6481445" cy="8684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6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9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13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3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No.</a:t>
                      </a:r>
                      <a:r>
                        <a:rPr sz="12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10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Assignment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4375">
                <a:tc gridSpan="4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Title: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Wine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dataset.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2D,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visualize</a:t>
                      </a:r>
                      <a:r>
                        <a:rPr sz="1200" spc="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spc="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means.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how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preserved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73025">
                        <a:lnSpc>
                          <a:spcPts val="126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Submission</a:t>
                      </a:r>
                      <a:r>
                        <a:rPr sz="1200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Date: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73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40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sz="12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Statement: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marR="167005">
                        <a:lnSpc>
                          <a:spcPts val="1400"/>
                        </a:lnSpc>
                        <a:spcBef>
                          <a:spcPts val="1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Wine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dataset.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2D,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visualize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using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means.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how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well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preserved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91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0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Theory: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>
                        <a:lnSpc>
                          <a:spcPts val="1385"/>
                        </a:lnSpc>
                      </a:pP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Principal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Component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Analysis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(PCA)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241935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dimensionality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technique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transforms high-dimensional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fewer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dimensions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while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retaining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much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variance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(information)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possible.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77595" indent="-541020">
                        <a:lnSpc>
                          <a:spcPts val="1325"/>
                        </a:lnSpc>
                        <a:buSzPct val="83333"/>
                        <a:buFont typeface="Symbol"/>
                        <a:buChar char=""/>
                        <a:tabLst>
                          <a:tab pos="107759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finds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new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orthogonal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axes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(principal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components).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marR="236854" indent="617220">
                        <a:lnSpc>
                          <a:spcPts val="1380"/>
                        </a:lnSpc>
                        <a:spcBef>
                          <a:spcPts val="70"/>
                        </a:spcBef>
                        <a:buSzPct val="83333"/>
                        <a:buFont typeface="Symbol"/>
                        <a:buChar char=""/>
                        <a:tabLst>
                          <a:tab pos="107759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first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principal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component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captures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most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variance,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second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captures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next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most,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on.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77595" indent="-541020">
                        <a:lnSpc>
                          <a:spcPts val="1345"/>
                        </a:lnSpc>
                        <a:buSzPct val="83333"/>
                        <a:buFont typeface="Symbol"/>
                        <a:buChar char=""/>
                        <a:tabLst>
                          <a:tab pos="107759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unsupervised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does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labels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781050" indent="-244475">
                        <a:lnSpc>
                          <a:spcPts val="1430"/>
                        </a:lnSpc>
                        <a:spcBef>
                          <a:spcPts val="135"/>
                        </a:spcBef>
                        <a:buClr>
                          <a:srgbClr val="0074B9"/>
                        </a:buClr>
                        <a:buFont typeface="Segoe UI Emoji"/>
                        <a:buChar char="◆"/>
                        <a:tabLst>
                          <a:tab pos="781050" algn="l"/>
                        </a:tabLst>
                      </a:pP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Clustering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536575">
                        <a:lnSpc>
                          <a:spcPts val="140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groups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into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K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clusters</a:t>
                      </a:r>
                      <a:r>
                        <a:rPr sz="12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based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feature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similarity.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77595" indent="-541020">
                        <a:lnSpc>
                          <a:spcPts val="1385"/>
                        </a:lnSpc>
                        <a:buSzPct val="83333"/>
                        <a:buFont typeface="Symbol"/>
                        <a:buChar char=""/>
                        <a:tabLst>
                          <a:tab pos="107759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It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minimizes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intra-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distance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077595" indent="-541020">
                        <a:lnSpc>
                          <a:spcPts val="1415"/>
                        </a:lnSpc>
                        <a:buSzPct val="83333"/>
                        <a:buFont typeface="Symbol"/>
                        <a:buChar char=""/>
                        <a:tabLst>
                          <a:tab pos="107759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clustering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can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visualized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better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after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PCA.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 gridSpan="6">
                  <a:txBody>
                    <a:bodyPr/>
                    <a:lstStyle/>
                    <a:p>
                      <a:pPr marL="69850">
                        <a:lnSpc>
                          <a:spcPts val="125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Criteria: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9850">
                        <a:lnSpc>
                          <a:spcPts val="129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(list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scenarios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be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completed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1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solution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for completing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assignments)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60"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4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Sr.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67945">
                        <a:lnSpc>
                          <a:spcPts val="1235"/>
                        </a:lnSpc>
                      </a:pPr>
                      <a:r>
                        <a:rPr sz="11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275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Acceptance</a:t>
                      </a:r>
                      <a:r>
                        <a:rPr sz="1100" b="1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Criteria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67945" marR="582930" indent="66675">
                        <a:lnSpc>
                          <a:spcPts val="1260"/>
                        </a:lnSpc>
                      </a:pP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Remarks</a:t>
                      </a:r>
                      <a:r>
                        <a:rPr sz="11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Instructor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(completed/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1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b="1" spc="-10" dirty="0">
                          <a:latin typeface="Times New Roman"/>
                          <a:cs typeface="Times New Roman"/>
                        </a:rPr>
                        <a:t>completed)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9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275"/>
                        </a:lnSpc>
                      </a:pP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 marR="140335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used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(Wine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Iris),</a:t>
                      </a:r>
                      <a:r>
                        <a:rPr sz="1100" spc="25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and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explained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variance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shown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97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3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30"/>
                        </a:lnSpc>
                      </a:pP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2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visualization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created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40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40"/>
                        </a:lnSpc>
                      </a:pP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computed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7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ts val="1375"/>
                        </a:lnSpc>
                      </a:pP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ts val="1375"/>
                        </a:lnSpc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Result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analyzed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89405">
                <a:tc gridSpan="6">
                  <a:txBody>
                    <a:bodyPr/>
                    <a:lstStyle/>
                    <a:p>
                      <a:pPr marL="2540">
                        <a:lnSpc>
                          <a:spcPts val="1355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Workflow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(Using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Python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Pandas/Scikit-learn)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Load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Wine</a:t>
                      </a:r>
                      <a:r>
                        <a:rPr sz="12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Iris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Standardize</a:t>
                      </a:r>
                      <a:r>
                        <a:rPr sz="12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90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Apply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dimensions</a:t>
                      </a:r>
                      <a:r>
                        <a:rPr sz="12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0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Use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b="1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2D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Visualize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clusters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385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Compare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actual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labels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analyze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separation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460375" indent="-228600">
                        <a:lnSpc>
                          <a:spcPts val="1410"/>
                        </a:lnSpc>
                        <a:buAutoNum type="arabicPeriod"/>
                        <a:tabLst>
                          <a:tab pos="460375" algn="l"/>
                        </a:tabLst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Compute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measure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quality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60450">
                <a:tc gridSpan="6">
                  <a:txBody>
                    <a:bodyPr/>
                    <a:lstStyle/>
                    <a:p>
                      <a:pPr marL="69850">
                        <a:lnSpc>
                          <a:spcPts val="135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Conclusion: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  <a:spcBef>
                          <a:spcPts val="70"/>
                        </a:spcBef>
                      </a:pP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experiment,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we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applied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Wine</a:t>
                      </a:r>
                      <a:r>
                        <a:rPr sz="12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dataset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from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13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features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principal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components. Although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some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variance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lost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(only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~55%</a:t>
                      </a:r>
                      <a:r>
                        <a:rPr sz="12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retained),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PCA-transformed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20" dirty="0">
                          <a:latin typeface="Times New Roman"/>
                          <a:cs typeface="Times New Roman"/>
                        </a:rPr>
                        <a:t>data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still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preserved</a:t>
                      </a:r>
                      <a:r>
                        <a:rPr sz="12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meaningful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structure,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allowing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K-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Means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produce</a:t>
                      </a:r>
                      <a:r>
                        <a:rPr sz="12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visibly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distinct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clusters.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9850" algn="just">
                        <a:lnSpc>
                          <a:spcPts val="1380"/>
                        </a:lnSpc>
                      </a:pP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Silhouette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sz="12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further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confirmed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good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clustering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performance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reduced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2D</a:t>
                      </a:r>
                      <a:r>
                        <a:rPr sz="12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space.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This</a:t>
                      </a:r>
                      <a:r>
                        <a:rPr sz="12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shows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that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PCA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effective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not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only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visualization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but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for</a:t>
                      </a:r>
                      <a:r>
                        <a:rPr sz="1200" spc="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dimensionality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reduction</a:t>
                      </a:r>
                      <a:r>
                        <a:rPr sz="1200" spc="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dirty="0">
                          <a:latin typeface="Times New Roman"/>
                          <a:cs typeface="Times New Roman"/>
                        </a:rPr>
                        <a:t>before</a:t>
                      </a:r>
                      <a:r>
                        <a:rPr sz="12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spc="-10" dirty="0">
                          <a:latin typeface="Times New Roman"/>
                          <a:cs typeface="Times New Roman"/>
                        </a:rPr>
                        <a:t>clustering,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89728" y="182371"/>
            <a:ext cx="27324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MIT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Art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Design</a:t>
            </a:r>
            <a:r>
              <a:rPr sz="11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1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Technology</a:t>
            </a:r>
            <a:r>
              <a:rPr sz="11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FFFFFF"/>
                </a:solidFill>
                <a:latin typeface="Calibri"/>
                <a:cs typeface="Calibri"/>
              </a:rPr>
              <a:t>University,</a:t>
            </a:r>
            <a:r>
              <a:rPr sz="11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Calibri"/>
                <a:cs typeface="Calibri"/>
              </a:rPr>
              <a:t>Pune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495" y="917447"/>
            <a:ext cx="6483350" cy="680085"/>
          </a:xfrm>
          <a:prstGeom prst="rect">
            <a:avLst/>
          </a:prstGeom>
          <a:ln w="6096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9850">
              <a:lnSpc>
                <a:spcPts val="1380"/>
              </a:lnSpc>
            </a:pPr>
            <a:r>
              <a:rPr sz="1200" dirty="0">
                <a:latin typeface="Times New Roman"/>
                <a:cs typeface="Times New Roman"/>
              </a:rPr>
              <a:t>especially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high-dimensional.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8906"/>
            <a:ext cx="1657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alibri"/>
                <a:cs typeface="Calibri"/>
              </a:rPr>
              <a:t>10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019045"/>
            <a:ext cx="7559040" cy="6654673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03184" y="2395489"/>
            <a:ext cx="0" cy="4136390"/>
          </a:xfrm>
          <a:custGeom>
            <a:avLst/>
            <a:gdLst/>
            <a:ahLst/>
            <a:cxnLst/>
            <a:rect l="l" t="t" r="r" b="b"/>
            <a:pathLst>
              <a:path h="4136390">
                <a:moveTo>
                  <a:pt x="0" y="4136039"/>
                </a:moveTo>
                <a:lnTo>
                  <a:pt x="0" y="0"/>
                </a:lnTo>
              </a:path>
            </a:pathLst>
          </a:custGeom>
          <a:ln w="9894">
            <a:solidFill>
              <a:srgbClr val="2F2F2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0674" y="2395489"/>
            <a:ext cx="5765165" cy="4136390"/>
            <a:chOff x="870674" y="2395489"/>
            <a:chExt cx="5765165" cy="4136390"/>
          </a:xfrm>
        </p:grpSpPr>
        <p:sp>
          <p:nvSpPr>
            <p:cNvPr id="4" name="object 4"/>
            <p:cNvSpPr/>
            <p:nvPr/>
          </p:nvSpPr>
          <p:spPr>
            <a:xfrm>
              <a:off x="6630650" y="2395489"/>
              <a:ext cx="0" cy="4136390"/>
            </a:xfrm>
            <a:custGeom>
              <a:avLst/>
              <a:gdLst/>
              <a:ahLst/>
              <a:cxnLst/>
              <a:rect l="l" t="t" r="r" b="b"/>
              <a:pathLst>
                <a:path h="4136390">
                  <a:moveTo>
                    <a:pt x="0" y="4136039"/>
                  </a:moveTo>
                  <a:lnTo>
                    <a:pt x="0" y="0"/>
                  </a:lnTo>
                </a:path>
              </a:pathLst>
            </a:custGeom>
            <a:ln w="989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98237" y="2400436"/>
              <a:ext cx="5537835" cy="0"/>
            </a:xfrm>
            <a:custGeom>
              <a:avLst/>
              <a:gdLst/>
              <a:ahLst/>
              <a:cxnLst/>
              <a:rect l="l" t="t" r="r" b="b"/>
              <a:pathLst>
                <a:path w="5537834">
                  <a:moveTo>
                    <a:pt x="0" y="0"/>
                  </a:moveTo>
                  <a:lnTo>
                    <a:pt x="5537362" y="0"/>
                  </a:lnTo>
                </a:path>
              </a:pathLst>
            </a:custGeom>
            <a:ln w="989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98237" y="6526581"/>
              <a:ext cx="5537835" cy="0"/>
            </a:xfrm>
            <a:custGeom>
              <a:avLst/>
              <a:gdLst/>
              <a:ahLst/>
              <a:cxnLst/>
              <a:rect l="l" t="t" r="r" b="b"/>
              <a:pathLst>
                <a:path w="5537834">
                  <a:moveTo>
                    <a:pt x="0" y="0"/>
                  </a:moveTo>
                  <a:lnTo>
                    <a:pt x="5537362" y="0"/>
                  </a:lnTo>
                </a:path>
              </a:pathLst>
            </a:custGeom>
            <a:ln w="9894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69615" y="3609255"/>
              <a:ext cx="1187283" cy="138527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0674" y="5044006"/>
              <a:ext cx="4610619" cy="217686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79163" y="6587600"/>
            <a:ext cx="148410" cy="98948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7864" y="4371157"/>
            <a:ext cx="1563256" cy="25726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65041" y="6587600"/>
            <a:ext cx="69258" cy="108843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44869" y="5742909"/>
            <a:ext cx="202565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2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83815" y="6538343"/>
            <a:ext cx="186055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110" dirty="0">
                <a:solidFill>
                  <a:srgbClr val="131313"/>
                </a:solidFill>
                <a:latin typeface="Calibri"/>
                <a:cs typeface="Calibri"/>
              </a:rPr>
              <a:t>—</a:t>
            </a:r>
            <a:r>
              <a:rPr sz="1000" spc="-50" dirty="0">
                <a:solidFill>
                  <a:srgbClr val="131313"/>
                </a:solidFill>
                <a:latin typeface="Calibri"/>
                <a:cs typeface="Calibri"/>
              </a:rPr>
              <a:t>3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63326" y="2106833"/>
            <a:ext cx="342900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5" dirty="0">
                <a:latin typeface="Cambria"/>
                <a:cs typeface="Cambria"/>
              </a:rPr>
              <a:t>PCA </a:t>
            </a:r>
            <a:r>
              <a:rPr sz="1400" spc="-40" dirty="0">
                <a:solidFill>
                  <a:srgbClr val="181818"/>
                </a:solidFill>
                <a:latin typeface="Cambria"/>
                <a:cs typeface="Cambria"/>
              </a:rPr>
              <a:t>(2D)</a:t>
            </a:r>
            <a:r>
              <a:rPr sz="1400" spc="70" dirty="0">
                <a:solidFill>
                  <a:srgbClr val="181818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525252"/>
                </a:solidFill>
                <a:latin typeface="Cambria"/>
                <a:cs typeface="Cambria"/>
              </a:rPr>
              <a:t>+</a:t>
            </a:r>
            <a:r>
              <a:rPr sz="1400" spc="114" dirty="0">
                <a:solidFill>
                  <a:srgbClr val="525252"/>
                </a:solidFill>
                <a:latin typeface="Cambria"/>
                <a:cs typeface="Cambria"/>
              </a:rPr>
              <a:t> </a:t>
            </a:r>
            <a:r>
              <a:rPr sz="1400" spc="-55" dirty="0">
                <a:latin typeface="Cambria"/>
                <a:cs typeface="Cambria"/>
              </a:rPr>
              <a:t>K-</a:t>
            </a:r>
            <a:r>
              <a:rPr sz="1400" spc="-30" dirty="0">
                <a:latin typeface="Cambria"/>
                <a:cs typeface="Cambria"/>
              </a:rPr>
              <a:t>means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-35" dirty="0">
                <a:solidFill>
                  <a:srgbClr val="232323"/>
                </a:solidFill>
                <a:latin typeface="Cambria"/>
                <a:cs typeface="Cambria"/>
              </a:rPr>
              <a:t>clustering</a:t>
            </a:r>
            <a:r>
              <a:rPr sz="1400" spc="135" dirty="0">
                <a:solidFill>
                  <a:srgbClr val="232323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313131"/>
                </a:solidFill>
                <a:latin typeface="Cambria"/>
                <a:cs typeface="Cambria"/>
              </a:rPr>
              <a:t>on</a:t>
            </a:r>
            <a:r>
              <a:rPr sz="1400" spc="4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1400" spc="-60" dirty="0">
                <a:solidFill>
                  <a:srgbClr val="111111"/>
                </a:solidFill>
                <a:latin typeface="Cambria"/>
                <a:cs typeface="Cambria"/>
              </a:rPr>
              <a:t>Iris</a:t>
            </a:r>
            <a:r>
              <a:rPr sz="1400" spc="-15" dirty="0">
                <a:solidFill>
                  <a:srgbClr val="111111"/>
                </a:solidFill>
                <a:latin typeface="Cambria"/>
                <a:cs typeface="Cambria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mbria"/>
                <a:cs typeface="Cambria"/>
              </a:rPr>
              <a:t>dataset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75337" y="6538343"/>
            <a:ext cx="186055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110" dirty="0">
                <a:solidFill>
                  <a:srgbClr val="3F3F3F"/>
                </a:solidFill>
                <a:latin typeface="Calibri"/>
                <a:cs typeface="Calibri"/>
              </a:rPr>
              <a:t>—</a:t>
            </a:r>
            <a:r>
              <a:rPr sz="1000" spc="-50" dirty="0">
                <a:solidFill>
                  <a:srgbClr val="3F3F3F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74547" y="6517729"/>
            <a:ext cx="1416050" cy="3835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15240" algn="r">
              <a:lnSpc>
                <a:spcPct val="100000"/>
              </a:lnSpc>
              <a:spcBef>
                <a:spcPts val="90"/>
              </a:spcBef>
              <a:tabLst>
                <a:tab pos="797560" algn="l"/>
              </a:tabLst>
            </a:pPr>
            <a:r>
              <a:rPr sz="1200" spc="-50" dirty="0">
                <a:solidFill>
                  <a:srgbClr val="565656"/>
                </a:solidFill>
                <a:latin typeface="Cambria"/>
                <a:cs typeface="Cambria"/>
              </a:rPr>
              <a:t>0</a:t>
            </a:r>
            <a:r>
              <a:rPr sz="1200" dirty="0">
                <a:solidFill>
                  <a:srgbClr val="565656"/>
                </a:solidFill>
                <a:latin typeface="Cambria"/>
                <a:cs typeface="Cambria"/>
              </a:rPr>
              <a:t>	</a:t>
            </a:r>
            <a:r>
              <a:rPr sz="1200" spc="-50" dirty="0">
                <a:solidFill>
                  <a:srgbClr val="4F4F4F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1100" spc="-25" dirty="0">
                <a:latin typeface="Cambria"/>
                <a:cs typeface="Cambria"/>
              </a:rPr>
              <a:t>Principal</a:t>
            </a:r>
            <a:r>
              <a:rPr sz="1100" spc="130" dirty="0">
                <a:latin typeface="Cambria"/>
                <a:cs typeface="Cambria"/>
              </a:rPr>
              <a:t> </a:t>
            </a:r>
            <a:r>
              <a:rPr sz="1100" dirty="0">
                <a:solidFill>
                  <a:srgbClr val="1F1F1F"/>
                </a:solidFill>
                <a:latin typeface="Cambria"/>
                <a:cs typeface="Cambria"/>
              </a:rPr>
              <a:t>Component</a:t>
            </a:r>
            <a:r>
              <a:rPr sz="1100" spc="170" dirty="0">
                <a:solidFill>
                  <a:srgbClr val="1F1F1F"/>
                </a:solidFill>
                <a:latin typeface="Cambria"/>
                <a:cs typeface="Cambria"/>
              </a:rPr>
              <a:t> </a:t>
            </a:r>
            <a:r>
              <a:rPr sz="1100" spc="-50" dirty="0">
                <a:solidFill>
                  <a:srgbClr val="757575"/>
                </a:solidFill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61625" y="6524600"/>
            <a:ext cx="104139" cy="1987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50" dirty="0">
                <a:solidFill>
                  <a:srgbClr val="1C1C1C"/>
                </a:solidFill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9440</Words>
  <Application>Microsoft Office PowerPoint</Application>
  <PresentationFormat>Custom</PresentationFormat>
  <Paragraphs>1502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Arial</vt:lpstr>
      <vt:lpstr>Arial MT</vt:lpstr>
      <vt:lpstr>Calibri</vt:lpstr>
      <vt:lpstr>Cambria</vt:lpstr>
      <vt:lpstr>Cambria Math</vt:lpstr>
      <vt:lpstr>Consolas</vt:lpstr>
      <vt:lpstr>Courier New</vt:lpstr>
      <vt:lpstr>Segoe UI Emoji</vt:lpstr>
      <vt:lpstr>Symbol</vt:lpstr>
      <vt:lpstr>Times New Roman</vt:lpstr>
      <vt:lpstr>Wingdings</vt:lpstr>
      <vt:lpstr>Office Theme</vt:lpstr>
      <vt:lpstr>MIT Art Design and Technology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Sumit yadav</cp:lastModifiedBy>
  <cp:revision>1</cp:revision>
  <dcterms:created xsi:type="dcterms:W3CDTF">2025-11-09T17:27:41Z</dcterms:created>
  <dcterms:modified xsi:type="dcterms:W3CDTF">2025-11-09T17:37:27Z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LastSaved">
    <vt:filetime>2025-11-09T00:00:00Z</vt:filetime>
  </property>
  <property fmtid="{D5CDD505-2E9C-101B-9397-08002B2CF9AE}" pid="4" name="Producer">
    <vt:lpwstr>iLovePDF</vt:lpwstr>
  </property>
</Properties>
</file>